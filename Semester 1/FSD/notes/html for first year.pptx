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5" r:id="rId96"/>
    <p:sldId id="352" r:id="rId97"/>
    <p:sldId id="353" r:id="rId98"/>
    <p:sldId id="356" r:id="rId99"/>
    <p:sldId id="357" r:id="rId100"/>
    <p:sldId id="358" r:id="rId101"/>
    <p:sldId id="354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2131-AC80-F6FD-DB93-4E998924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4D13E3-F9B3-FB3F-2F70-E181F2F45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48C8-0283-4AC2-A95F-986C4C37C6AF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A2868-F9C2-28B2-9AAE-6D57F6E9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98D18-C1DA-2FA4-FDEB-9C25D01A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39C1-1035-4002-8846-00F7FA1E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86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44A4B9-5EE4-0016-CF13-B380D2B7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418-9306-72DD-BE38-53BD4BCE0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C60C3-323F-849B-580E-89803DB9A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048C8-0283-4AC2-A95F-986C4C37C6AF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9DBB3-163A-A795-82D1-109C15DA8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5C3B4-6C93-68BD-0CA5-5E6BA70F8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639C1-1035-4002-8846-00F7FA1E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5B7A1CB-D0D5-BA6B-3A7A-E3289EB8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Introduction to HTML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54065D-F299-8055-6A85-F873648D58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496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273346C-2BBB-FA16-5E7C-6ECAE8FDD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What is HTML?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99A34-C387-653A-3EC3-0D44E29861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6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C3FCA88-6268-34F0-0553-2F8532182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What is HTML?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B91D8-2EC7-547F-D6C5-F32C3F2A0F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75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A2CA01A-4C89-14BE-9C17-08DB41241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Features of HTML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308F10-C0D9-C6A6-770C-D22F101B9C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92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B0C85B-FAB2-1618-B6CD-38C4B3720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Features of HTML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218357-66D4-4CC7-7D84-9A7BED9126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17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44C911E-3C4B-D44B-7ABD-8B1380F8B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Basic HTML Page Structure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A7E0FA-A1FE-B316-CE83-B857F89390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66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9F8821D-1D80-82D5-6E32-500380D7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Explanation of Structure: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FA250B-C130-942E-597B-5F13B7EE75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585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E14F001-2F08-3F85-1C5A-45D80034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HTML Versions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26EA97-EAF4-9198-A053-F37DF06161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721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246E2EB-20A4-6AC4-09A8-173A3046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HTML Elements (Semantic &amp; Non-Semantic)</a:t>
            </a:r>
            <a:r>
              <a:rPr lang="en-US"/>
              <a:t> 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BFE556-3865-DF89-665A-32AF89D15B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62951"/>
      </p:ext>
    </p:extLst>
  </p:cSld>
  <p:clrMapOvr>
    <a:masterClrMapping/>
  </p:clrMapOvr>
  <p:transition spd="slow" advTm="261339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322070C-CE5D-92FF-44E7-B5131CDC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6000"/>
              <a:t>Introduction to HTML Elements</a:t>
            </a:r>
            <a:endParaRPr lang="en-IN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73E54E-49D7-9DEE-8CC3-DEDDC35C58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11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60ED9F4-6908-0D08-FF99-6A3C0A1E3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Example: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2689CA-D861-FE74-B312-2192CF3529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13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F2F0810-F61A-1BFB-B80D-7FBEF0A5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Why Elements Matter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02855D-D50C-F1EE-EC71-28CC6D938C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20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EC84685-999E-5AD5-E4B1-DC91ABEB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What is an HTML Attribute?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D94E22-DDB1-CB66-E6CC-68C878EFCF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35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BB6C75F-D6E6-C1B4-8C4B-ACC5979BB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Common HTML Attributes with Examples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5A1D58-00B2-8D83-9511-C8052596D2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798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48D6A8D-9301-AD2F-3E1B-DFF83D1D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2. class Attribute</a:t>
            </a:r>
            <a:br>
              <a:rPr lang="en-US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050EB3-B1E8-669E-69A5-AE641E1041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97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410A9C6-4578-EFA8-A967-5FADE030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5400"/>
              <a:t>3. style Attribute</a:t>
            </a:r>
            <a:br>
              <a:rPr lang="en-IN" sz="5400"/>
            </a:br>
            <a:endParaRPr lang="en-IN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654876-7AA8-54EB-6771-B393955613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87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95A44F3-9A71-FCE9-C3F3-C96BEA084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4. </a:t>
            </a:r>
            <a:r>
              <a:rPr lang="en-US"/>
              <a:t>href Attribute (used in &lt;a&gt;)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C8D80A-5E8C-F71A-7666-70922A3798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38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122CEBA-E656-CAAA-FC7F-00C28A7F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/>
              <a:t>5. src Attribute (used in &lt;img&gt;)</a:t>
            </a:r>
            <a:endParaRPr lang="en-IN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7BC1A0-AC7A-1FB1-2DEF-FDA1582A34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70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5219E58-D41D-657A-2282-1CE8DFE29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6. alt Attribute (used in &lt;img&gt;)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CFB1A1-A315-3972-4BD3-05BB35E067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78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9BA1239-8BFE-5719-5B8D-D09ACEC2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7. width and height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9CC40A-FD89-FBFF-668D-356CB9748D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77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71ADDAA-FD59-3AD5-EE52-E2BCAEE0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Classification of HTML Elements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379090-E99E-7E20-F0EA-8B7E3F4D96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59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4A44009-2FEA-0F24-39E8-4280307C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Semantic HTML Elements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481BD-F47E-7ACC-40A5-8C2453B83F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87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8593AB9-90EC-39C4-121C-6F1E5D73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Common Semantic Elements &amp; Their Uses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92A14D-8BDE-A387-FC8D-CF3C675D6A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30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46662FD-91A0-419F-2362-7075DB64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Common Semantic Elements &amp; Their Uses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0C42C8-AB89-A333-CBC0-C92AA4B62D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54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7E2C159-A7F1-B298-AC70-762D9C9B2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Non-Semantic HTML Elements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8714BE-0CBA-3066-5887-FE0ED71E7F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608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0CB7816-124E-3FDC-A2B6-F6E3D091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Example – Non-Semantic HTML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46AB19-B1F3-CC7F-69B2-7E28C8D506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82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454A970-5FC5-27F0-5555-C43489F4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Semantic vs Non-Semantic – Comparison Table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AADD90-6C31-8DE6-C5E7-E73555E7F9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28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5770B37-20DF-1855-A7A9-C49D82C8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Why Semantic HTML Matters in Full Stack Development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F2CF99-3873-159D-EA88-FDDCEE85EF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18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AEAC009-768C-B756-1F9C-5318F83A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Best Practices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629E32-2E43-9466-BE02-3AFF0F1820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1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75C97BD-DF78-0BE6-9F0C-A00B49AC2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Rewrite this non-semantic code using semantic HTML: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977EC7-F295-1C18-354A-C2C34BAE7B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52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33920B8-CD3C-513D-2DFF-07B39E495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Solution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99843B-20DF-A77F-C351-BE9FC661F1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119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1F8830-1BBB-DFB2-55BA-29E54F4A9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Conclusion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F09B9C-D447-D173-7D1C-42F87A1717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08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A568406-CF09-C519-778F-E9CFD238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EDE58D-B84A-A2D2-118B-9613AAFCB0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91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39A012A-7859-1B7E-9F85-20A33DEE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HTML Elements &amp; Text Formatting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BFB9EE-0804-1ECE-1344-6F2FD6FB19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91513"/>
      </p:ext>
    </p:extLst>
  </p:cSld>
  <p:clrMapOvr>
    <a:masterClrMapping/>
  </p:clrMapOvr>
  <p:transition spd="slow" advTm="1774232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8490A58-65F0-F095-7305-ED332E18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HTML Elements &amp; Text Formatting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402E57-2AB2-1C1B-EDD0-54B6BA8AD1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59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D50D420-5BE8-34B6-EF91-237C472C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Block-Level Elements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38AF01-4337-E871-5479-579DE07847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77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5659829-A2E8-6B60-2BDD-D0C1AB64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Examples: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C33DBB-E014-3B62-AFDA-D75528711C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4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14E7434-F531-E505-1977-66FDBA171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Example Code: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45F6E4-0F1D-A0CB-8EF5-DF851949B7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980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E061AD1-2A0F-E6D9-7A48-43EA09AF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Inline Elements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D2504E-6E27-5425-7975-6112C46CAE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83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4A3FC8E-2A74-E0AC-47E8-961C21DD6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Examples: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DE5157-38E4-EEB2-C486-C3D69EE2D3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91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78649CA-0A1F-8627-211D-6A5BA4A03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Example Code: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237E0D-1F61-D97E-CAD3-E8820C1FAB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4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F82BB55-8C4B-2972-E52D-B2436E8E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Comparison Table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E3A6F3-341D-30CE-A2DF-4FB7DEE639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842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931D461-B07B-76B6-C277-F4DA49CE1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Text Formatting in HTML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86CF07-4A18-116F-3FA9-D4F2117763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97946"/>
      </p:ext>
    </p:extLst>
  </p:cSld>
  <p:clrMapOvr>
    <a:masterClrMapping/>
  </p:clrMapOvr>
  <p:transition spd="slow" advTm="2652565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04BC1D0-0176-CB9D-AD57-258A72A9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A. Headings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DB2D6-A9F4-8515-31E2-130B171DB6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476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7FB7435-1C48-1980-9700-CF470F0F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B. Paragraphs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440E0-EF52-CADE-07A1-DB691403BC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913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6310214-9E05-CD47-4DAA-B5EEC6C9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Other Text Formatting Tags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000ADB-450A-FD6A-1A26-DB09445318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986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CC9C8FC-A36D-51ED-DAA4-19E4088A9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HTML Lists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A489BD-464A-5AA7-BD9B-2C367D033D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98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197B8B-7EEA-F0F7-0A51-7EB37035C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B. Unordered List (Bulleted)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752996-A655-DCED-9CEA-5CFFC39BBA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103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E0C6BF5-C0AD-B0A9-6E0D-707B45C6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Description List in HTML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BFED32-AFB4-38F8-48FE-30990667C1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55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4706173-FAAD-CDF8-6268-F46AE995B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Tags Used in a Description List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9B625A-2564-473A-974E-A33E3041AE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926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DD3A685-593B-81EC-AA36-E46EB81E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6CBD00-ECB9-E422-602F-5AE3D05796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0240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6F6AD5A-1B01-A378-CA9A-4CB93FE16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Nesting Lists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72E61E-FFD6-C7A5-D30C-C0B3915A8D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769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FF9DEB5-25B7-AEC2-B19D-364BA79A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5B4E7-42AA-64C3-370E-163466C748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172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B2B47ED-267F-620C-DC0E-A1DC13FB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Mixed Lists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B25E89-C97B-DBC4-67A9-00E35F79DC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684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1E162FD-450A-7C75-5919-60A7CE1AF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— Step-by-Step Process with Subtasks: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AE9C4-1B5A-FE0F-7793-5813561817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968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56D5877-8EB9-E8D2-FDFA-AA0AABAA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Lists for Navigation Menus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53BD98-7D19-F1EB-4863-E34D18716D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538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23D6ADB-01C3-6195-928E-5D3033D0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Basic Navigation Menu Example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E252B0-6754-A344-A37D-48F6781824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074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F5F485F-8D8F-9CDD-1536-08CDE7D9A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Nested Navigation Menu Example (Dropdown)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74E1E-94A2-D36D-549D-98BB506976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075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7DA0837-F6E1-8302-460E-EB5CA5F4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Key Takeaways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83EF6D-1DC7-7FC8-AF5D-1EFBC0D0B8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395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80807EC-4DAE-9841-31DF-7FD62311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HTML — Links, Images &amp; Attributes, Comments, Formatting Elements &amp; Special Characters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158F2D-D663-F1E7-479B-C84788977E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851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25E7C84-C402-4C06-5291-85A7547E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HTML Links and Anchor Tag Attributes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DDEDA-FC8E-126F-AC6E-5E2A75557B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555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0E6AC8C-1CDF-9DE5-81D4-1F48AA6B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HTML Links (&lt;a&gt;)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DE3917-AF55-334E-8376-24F7D96415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703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9737DBC-91C2-DD03-C30A-FEDF9602B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Common attributes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D1D28B-37BB-90C8-A344-C1A213A6AB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154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49E3A8F-724E-D1A3-0F18-B36942A1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Images (&lt;img&gt;) and Image Attributes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1F85B3-8A58-BB5D-CFD6-4604824AC0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289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C1511D3-5400-FE4D-7048-09FEB3625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Important attributes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C1F1F-297B-1FEC-8366-17B4C215C6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84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D6AB0DD-BEC4-C0E6-4AD2-CE9E1A73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Comments in HTML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050FF-39EE-9EC9-17DF-BA26BCFD17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585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4913B99-FCF6-B2B2-ADF4-21D397D1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HTML Formatting Elements (text-level semantics)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832EF-8D6F-D83A-BABF-27EE94B7F6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126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2EE4C13-BE6F-8E49-994F-0010F70AD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Special Characters &amp; Symbols (HTML entities)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F9EAD5-E667-7A4C-AE86-19943CF8CC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158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55034B8-E6CD-2D5F-F325-3F353C90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Commonly Used HTML Entities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20545E-2C4F-A4B6-3F0A-999EF81723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678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0819C16-12BB-A017-9433-ACC66A957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Text-Related Elements: Quotation &amp; Citation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FE9A97-A886-A188-9729-0FD3BB71D0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109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26CF0E8-5C0F-381A-A457-44ACB402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HTML Multimedia &amp; Hyperlinks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A0D119-EFBE-DCB0-7607-5F1099A6F1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435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D242B57-D1C3-286C-2BBA-539EAF69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A) Images in HTML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314B8-4BB5-CD48-3938-59A6A40058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339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086BD02-EBF0-3019-E2A3-CA242EEA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B) Video in HTML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DCEF5-AEAB-75D0-5E55-4B2A78EDCF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006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594C3B3-C193-A112-5BB2-9FCBFBF54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Audio in HTML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C17857-6CD7-D1A0-E4FA-6C9B2DE47C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464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A850DC0-1BFD-CB10-E9B1-D809FB0A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D) Embedding YouTube Video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B20BF-0992-5A8E-0734-BCC06A827D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0112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2D317F7-EFFF-DB25-9494-FCE14AB8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HTML Forms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ABDD22-1106-B43E-4B91-EF15A32E62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291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6E2C8BF-76C0-C691-FCF2-AD2B0E638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What is a Form in HTML?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9C99FC-E0FF-2C34-D495-30B5C18FFB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479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38C54C0-A9FC-3FA1-5C26-ABC515E6B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Basic Structure of a Form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57D30-B2BA-740C-2E12-9ED3EE3AF4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217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B985D98-87F3-BE18-5199-81A5CA80F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Attributes of &lt;form&gt;: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8C9B4D-6F60-9504-C1F6-37B65E0DFF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728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CB8CD07-45B5-AAA4-87E8-2FC9AFB6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Form Elements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30055B-FF33-ADE6-DB60-60824F9D6E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4098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4D0BE11-6503-0B51-B6C6-B1AB0591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Form Elements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9781E-9331-CFAF-4256-D9B5A0099C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1908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45C74A-16FF-8080-F966-3C92BFA9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Form Elements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E7A0E-9679-9CD6-A9D4-56BA54D835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070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21D0F86-729A-D171-8EF7-FD4ACE91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Form Elements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F5EFA6-2FC0-8100-ADB3-361BA41E3F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777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FDF5BDB-4AD0-A26E-E4E2-90957096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Form Elements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3DD32-9B8D-7E6E-00A2-06CF2DDB62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069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72E958A-EB26-BC7A-E3B0-02D547D3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Form Elements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ED8B4-C30F-7C40-2B55-E4BA21CD1D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AFE9F1B-5C0B-D299-DFBC-685A69B41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Form Elements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37D179-15A9-0B74-7DCE-0903B1AC52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467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CC66477-A6B8-DF20-0D1C-99C794A3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Form Elements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D4491-0676-A900-E5BA-B5FA31021D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2631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E65BD1-F350-083F-9343-EAB401CA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Form Elements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A2EF1F-7441-5A5F-4BBD-8A99B706FC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368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61CDE9A-D518-9548-6746-6673840BD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/>
              <a:t>Form Elements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1ED7AA-7413-48BC-8CA3-73D93C5DBC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789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3F30E5B-0AFA-51D6-F67D-FBE5CDB3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N"/>
              <a:t>HTML Tables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DC08C-F146-26F0-B5BB-E43C426B46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310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361E7F6-1F41-2255-98E3-0349C7A4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What is a Table in HTML?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4860C1-1088-3BDB-9048-CF45E76912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5445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7FE6335-CA08-89E2-F48F-579E4E757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Basic Structure of a Table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13A72-B86A-51C5-0567-C8B4B4D0A0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234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D178B09-7E5E-3C47-35BD-BA00674F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N"/>
              <a:t>Adding Table Headings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8EB727-0CDE-0C45-6D3D-0852502A00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5845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2B84E4B-85E4-7011-FE97-EFEC10125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N"/>
              <a:t>Table Attributes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56E7CF-E68B-D8AA-A53B-ACC6D93710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835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BF9030-3048-8A6A-CE0C-E06740288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165441"/>
              </p:ext>
            </p:extLst>
          </p:nvPr>
        </p:nvGraphicFramePr>
        <p:xfrm>
          <a:off x="0" y="0"/>
          <a:ext cx="12279086" cy="6857998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558144">
                  <a:extLst>
                    <a:ext uri="{9D8B030D-6E8A-4147-A177-3AD203B41FA5}">
                      <a16:colId xmlns:a16="http://schemas.microsoft.com/office/drawing/2014/main" val="1470384272"/>
                    </a:ext>
                  </a:extLst>
                </a:gridCol>
                <a:gridCol w="4985404">
                  <a:extLst>
                    <a:ext uri="{9D8B030D-6E8A-4147-A177-3AD203B41FA5}">
                      <a16:colId xmlns:a16="http://schemas.microsoft.com/office/drawing/2014/main" val="825845795"/>
                    </a:ext>
                  </a:extLst>
                </a:gridCol>
                <a:gridCol w="4735538">
                  <a:extLst>
                    <a:ext uri="{9D8B030D-6E8A-4147-A177-3AD203B41FA5}">
                      <a16:colId xmlns:a16="http://schemas.microsoft.com/office/drawing/2014/main" val="2121111317"/>
                    </a:ext>
                  </a:extLst>
                </a:gridCol>
              </a:tblGrid>
              <a:tr h="686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763416"/>
                  </a:ext>
                </a:extLst>
              </a:tr>
              <a:tr h="89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border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Sets border thickness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&lt;table border="1"&gt;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32219"/>
                  </a:ext>
                </a:extLst>
              </a:tr>
              <a:tr h="129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cellpadding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Space </a:t>
                      </a:r>
                      <a:r>
                        <a:rPr lang="en-IN" sz="32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inside</a:t>
                      </a: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&lt;table cellpadding="10"&gt;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097631"/>
                  </a:ext>
                </a:extLst>
              </a:tr>
              <a:tr h="89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cellspacing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Space </a:t>
                      </a:r>
                      <a:r>
                        <a:rPr lang="en-IN" sz="3200" b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between</a:t>
                      </a:r>
                      <a:r>
                        <a:rPr lang="en-IN" sz="32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&lt;table cellspacing="5"&gt;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813002"/>
                  </a:ext>
                </a:extLst>
              </a:tr>
              <a:tr h="89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width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Defines width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&lt;table width="80%"&gt;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844482"/>
                  </a:ext>
                </a:extLst>
              </a:tr>
              <a:tr h="89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align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Aligns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&lt;table align="</a:t>
                      </a:r>
                      <a:r>
                        <a:rPr lang="en-IN" sz="3200" dirty="0" err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center</a:t>
                      </a: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"&gt;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7838870"/>
                  </a:ext>
                </a:extLst>
              </a:tr>
              <a:tr h="129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 err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bgcolor</a:t>
                      </a:r>
                      <a:endParaRPr lang="en-IN" sz="32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Background </a:t>
                      </a:r>
                      <a:r>
                        <a:rPr lang="en-IN" sz="3200" dirty="0" err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color</a:t>
                      </a:r>
                      <a:endParaRPr lang="en-IN" sz="32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&lt;table </a:t>
                      </a:r>
                      <a:r>
                        <a:rPr lang="en-IN" sz="3200" dirty="0" err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bgcolor</a:t>
                      </a: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="</a:t>
                      </a:r>
                      <a:r>
                        <a:rPr lang="en-IN" sz="3200" dirty="0" err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lightyellow</a:t>
                      </a:r>
                      <a:r>
                        <a:rPr lang="en-IN" sz="32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"&gt;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864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77930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B466EB-60FC-EB00-87E3-56B2017E6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N"/>
              <a:t>Rowspan &amp; Colspan (Merging Cells)</a:t>
            </a:r>
            <a:br>
              <a:rPr lang="en-IN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58719A-9952-C8CE-02FD-A693C235FF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865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CF5F83D-F713-6DF9-E13F-DA901AF4C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N"/>
              <a:t>Table with Caption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183FF-6952-94B5-047E-EA8ED0FD60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5224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DBDFB-7049-48E3-B91E-71EBA45FF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Responsive Table?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977FC-3B8A-0530-E41C-2AA814E07954}"/>
              </a:ext>
            </a:extLst>
          </p:cNvPr>
          <p:cNvSpPr txBox="1"/>
          <p:nvPr/>
        </p:nvSpPr>
        <p:spPr>
          <a:xfrm>
            <a:off x="838200" y="1912595"/>
            <a:ext cx="101999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600" dirty="0"/>
              <a:t>A </a:t>
            </a:r>
            <a:r>
              <a:rPr lang="en-US" sz="3600" b="1" dirty="0"/>
              <a:t>responsive table</a:t>
            </a:r>
            <a:r>
              <a:rPr lang="en-US" sz="3600" dirty="0"/>
              <a:t> means a table that automatically adjusts its layout to fit different screen sizes — for example, it looks good on both: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a </a:t>
            </a:r>
            <a:r>
              <a:rPr lang="en-US" sz="3600" b="1" dirty="0"/>
              <a:t>desktop (large screen)</a:t>
            </a:r>
            <a:r>
              <a:rPr lang="en-US" sz="3600" dirty="0"/>
              <a:t>, and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a </a:t>
            </a:r>
            <a:r>
              <a:rPr lang="en-US" sz="3600" b="1" dirty="0"/>
              <a:t>mobile (small screen)</a:t>
            </a:r>
            <a:r>
              <a:rPr lang="en-US" sz="3600" dirty="0"/>
              <a:t>.</a:t>
            </a:r>
          </a:p>
          <a:p>
            <a:pPr algn="just">
              <a:buNone/>
            </a:pPr>
            <a:r>
              <a:rPr lang="en-US" sz="3600" dirty="0"/>
              <a:t>Normally, </a:t>
            </a:r>
            <a:r>
              <a:rPr lang="en-US" sz="3600" b="1" dirty="0"/>
              <a:t>CSS media queries</a:t>
            </a:r>
            <a:r>
              <a:rPr lang="en-US" sz="3600" dirty="0"/>
              <a:t> are used to make it responsive.</a:t>
            </a:r>
          </a:p>
        </p:txBody>
      </p:sp>
    </p:spTree>
    <p:extLst>
      <p:ext uri="{BB962C8B-B14F-4D97-AF65-F5344CB8AC3E}">
        <p14:creationId xmlns:p14="http://schemas.microsoft.com/office/powerpoint/2010/main" val="20086437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E645-273A-3839-7272-48D809CA6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Responsive Table?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A256E-8B5A-9A90-6AA5-4580DA08E0A0}"/>
              </a:ext>
            </a:extLst>
          </p:cNvPr>
          <p:cNvSpPr txBox="1"/>
          <p:nvPr/>
        </p:nvSpPr>
        <p:spPr>
          <a:xfrm>
            <a:off x="576942" y="1576312"/>
            <a:ext cx="107006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dirty="0"/>
              <a:t>Normally, </a:t>
            </a:r>
            <a:r>
              <a:rPr lang="en-US" sz="3200" b="1" dirty="0"/>
              <a:t>CSS media queries</a:t>
            </a:r>
            <a:r>
              <a:rPr lang="en-US" sz="3200" dirty="0"/>
              <a:t> are used to make it.</a:t>
            </a:r>
          </a:p>
          <a:p>
            <a:pPr algn="just">
              <a:buNone/>
            </a:pPr>
            <a:r>
              <a:rPr lang="en-US" sz="3200" b="1" dirty="0"/>
              <a:t>“without CSS”</a:t>
            </a:r>
            <a:r>
              <a:rPr lang="en-US" sz="3200" dirty="0"/>
              <a:t>, we can still make it </a:t>
            </a:r>
            <a:r>
              <a:rPr lang="en-US" sz="3200" b="1" dirty="0"/>
              <a:t>partially responsive</a:t>
            </a:r>
            <a:r>
              <a:rPr lang="en-US" sz="3200" dirty="0"/>
              <a:t> using: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HTML attributes</a:t>
            </a:r>
            <a:r>
              <a:rPr lang="en-US" sz="3200" dirty="0"/>
              <a:t> like </a:t>
            </a:r>
            <a:r>
              <a:rPr lang="en-US" sz="3200" dirty="0">
                <a:latin typeface="Courier New" panose="02070309020205020404" pitchFamily="49" charset="0"/>
              </a:rPr>
              <a:t>width="100%"</a:t>
            </a:r>
            <a:r>
              <a:rPr lang="en-US" sz="3200" dirty="0"/>
              <a:t>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scrolling</a:t>
            </a:r>
            <a:r>
              <a:rPr lang="en-US" sz="3200" dirty="0"/>
              <a:t> inside a container (</a:t>
            </a:r>
            <a:r>
              <a:rPr lang="en-US" sz="3200" dirty="0">
                <a:latin typeface="Courier New" panose="02070309020205020404" pitchFamily="49" charset="0"/>
              </a:rPr>
              <a:t>&lt;div&gt;</a:t>
            </a:r>
            <a:r>
              <a:rPr lang="en-US" sz="3200" dirty="0"/>
              <a:t> with </a:t>
            </a:r>
            <a:r>
              <a:rPr lang="en-US" sz="3200" dirty="0">
                <a:latin typeface="Courier New" panose="02070309020205020404" pitchFamily="49" charset="0"/>
              </a:rPr>
              <a:t>overflow</a:t>
            </a:r>
            <a:r>
              <a:rPr lang="en-US" sz="3200" dirty="0"/>
              <a:t> property—though minimal CSS is needed for scroll),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/>
              <a:t>or by making the table </a:t>
            </a:r>
            <a:r>
              <a:rPr lang="en-US" sz="3200" b="1" dirty="0"/>
              <a:t>auto-adjustable</a:t>
            </a:r>
            <a:r>
              <a:rPr lang="en-US" sz="3200" dirty="0"/>
              <a:t> to screen width.</a:t>
            </a:r>
          </a:p>
          <a:p>
            <a:pPr algn="just">
              <a:buNone/>
            </a:pPr>
            <a:r>
              <a:rPr lang="en-US" sz="3200" dirty="0"/>
              <a:t>However, a </a:t>
            </a:r>
            <a:r>
              <a:rPr lang="en-US" sz="3200" i="1" dirty="0"/>
              <a:t>fully responsive</a:t>
            </a:r>
            <a:r>
              <a:rPr lang="en-US" sz="3200" dirty="0"/>
              <a:t> table without any CSS is not possible, but we can make a </a:t>
            </a:r>
            <a:r>
              <a:rPr lang="en-US" sz="3200" b="1" dirty="0"/>
              <a:t>basic responsive-like behavior</a:t>
            </a:r>
            <a:r>
              <a:rPr lang="en-US" sz="3200" dirty="0"/>
              <a:t> using pure HTML.</a:t>
            </a:r>
          </a:p>
        </p:txBody>
      </p:sp>
    </p:spTree>
    <p:extLst>
      <p:ext uri="{BB962C8B-B14F-4D97-AF65-F5344CB8AC3E}">
        <p14:creationId xmlns:p14="http://schemas.microsoft.com/office/powerpoint/2010/main" val="5086620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212A7-F906-85D1-4689-C27263E1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Explanation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8DD92-457E-6E7D-D1D6-63A581FC5A8B}"/>
              </a:ext>
            </a:extLst>
          </p:cNvPr>
          <p:cNvSpPr txBox="1"/>
          <p:nvPr/>
        </p:nvSpPr>
        <p:spPr>
          <a:xfrm>
            <a:off x="838198" y="1690688"/>
            <a:ext cx="1051559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b="1" dirty="0">
                <a:latin typeface="Courier New" panose="02070309020205020404" pitchFamily="49" charset="0"/>
              </a:rPr>
              <a:t>1. &lt;div style="</a:t>
            </a:r>
            <a:r>
              <a:rPr lang="en-US" sz="2800" b="1" dirty="0" err="1">
                <a:latin typeface="Courier New" panose="02070309020205020404" pitchFamily="49" charset="0"/>
              </a:rPr>
              <a:t>overflow-x:auto</a:t>
            </a:r>
            <a:r>
              <a:rPr lang="en-US" sz="2800" b="1" dirty="0">
                <a:latin typeface="Courier New" panose="02070309020205020404" pitchFamily="49" charset="0"/>
              </a:rPr>
              <a:t>;"&gt;</a:t>
            </a:r>
            <a:endParaRPr lang="en-US" sz="28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allows the table to </a:t>
            </a:r>
            <a:r>
              <a:rPr lang="en-US" sz="2800" b="1" dirty="0"/>
              <a:t>scroll horizontally</a:t>
            </a:r>
            <a:r>
              <a:rPr lang="en-US" sz="2800" dirty="0"/>
              <a:t> if the screen is small (like mobile).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This is the simplest way to make a table </a:t>
            </a:r>
            <a:r>
              <a:rPr lang="en-US" sz="2800" b="1" dirty="0"/>
              <a:t>scrollable</a:t>
            </a:r>
            <a:r>
              <a:rPr lang="en-US" sz="2800" dirty="0"/>
              <a:t> without advanced CSS.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So, instead of shrinking or hiding columns, the user can </a:t>
            </a:r>
            <a:r>
              <a:rPr lang="en-US" sz="2800" b="1" dirty="0"/>
              <a:t>scroll left-right</a:t>
            </a:r>
            <a:r>
              <a:rPr lang="en-US" sz="2800" dirty="0"/>
              <a:t> on small screens.</a:t>
            </a:r>
          </a:p>
          <a:p>
            <a:pPr algn="just">
              <a:buNone/>
            </a:pPr>
            <a:r>
              <a:rPr lang="en-US" sz="2800" b="1" dirty="0"/>
              <a:t>2.  </a:t>
            </a:r>
            <a:r>
              <a:rPr lang="en-US" sz="2800" b="1" dirty="0">
                <a:latin typeface="Courier New" panose="02070309020205020404" pitchFamily="49" charset="0"/>
              </a:rPr>
              <a:t>&lt;table border="1" width="100%"&gt;</a:t>
            </a:r>
            <a:endParaRPr lang="en-US" sz="28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latin typeface="Courier New" panose="02070309020205020404" pitchFamily="49" charset="0"/>
              </a:rPr>
              <a:t>width="100%"</a:t>
            </a:r>
            <a:r>
              <a:rPr lang="en-US" sz="2800" dirty="0"/>
              <a:t> makes the table </a:t>
            </a:r>
            <a:r>
              <a:rPr lang="en-US" sz="2800" b="1" dirty="0"/>
              <a:t>stretch to the available screen width</a:t>
            </a:r>
            <a:r>
              <a:rPr lang="en-US" sz="28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latin typeface="Courier New" panose="02070309020205020404" pitchFamily="49" charset="0"/>
              </a:rPr>
              <a:t>border="1"</a:t>
            </a:r>
            <a:r>
              <a:rPr lang="en-US" sz="2800" dirty="0"/>
              <a:t> adds visible cell borders (helps identify cells).</a:t>
            </a:r>
          </a:p>
        </p:txBody>
      </p:sp>
    </p:spTree>
    <p:extLst>
      <p:ext uri="{BB962C8B-B14F-4D97-AF65-F5344CB8AC3E}">
        <p14:creationId xmlns:p14="http://schemas.microsoft.com/office/powerpoint/2010/main" val="274656985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3E4E44C-1B17-26A1-D11B-A0E351B6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54310-50F7-C963-9E99-386DA3FFB7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5CC4DF-C9AC-7E9B-C676-0DB712A6C670}"/>
              </a:ext>
            </a:extLst>
          </p:cNvPr>
          <p:cNvSpPr txBox="1"/>
          <p:nvPr/>
        </p:nvSpPr>
        <p:spPr>
          <a:xfrm>
            <a:off x="381000" y="131020"/>
            <a:ext cx="11811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Nested Tables in HTML (Table inside a Table)</a:t>
            </a:r>
            <a:endParaRPr lang="en-IN" sz="5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0731A-9FAE-B7D9-942D-90E4EF53926D}"/>
              </a:ext>
            </a:extLst>
          </p:cNvPr>
          <p:cNvSpPr txBox="1"/>
          <p:nvPr/>
        </p:nvSpPr>
        <p:spPr>
          <a:xfrm>
            <a:off x="457200" y="2109515"/>
            <a:ext cx="110272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800" dirty="0">
                <a:solidFill>
                  <a:schemeClr val="bg1"/>
                </a:solidFill>
              </a:rPr>
              <a:t>A </a:t>
            </a:r>
            <a:r>
              <a:rPr lang="en-US" sz="4800" b="1" dirty="0">
                <a:solidFill>
                  <a:schemeClr val="bg1"/>
                </a:solidFill>
              </a:rPr>
              <a:t>nested table</a:t>
            </a:r>
            <a:r>
              <a:rPr lang="en-US" sz="4800" dirty="0">
                <a:solidFill>
                  <a:schemeClr val="bg1"/>
                </a:solidFill>
              </a:rPr>
              <a:t> means placing one table </a:t>
            </a:r>
            <a:r>
              <a:rPr lang="en-US" sz="4800" b="1" dirty="0">
                <a:solidFill>
                  <a:schemeClr val="bg1"/>
                </a:solidFill>
              </a:rPr>
              <a:t>inside another table’s </a:t>
            </a:r>
            <a:r>
              <a:rPr lang="en-US" sz="4800" b="1" dirty="0">
                <a:solidFill>
                  <a:schemeClr val="bg1"/>
                </a:solidFill>
                <a:latin typeface="Courier New" panose="02070309020205020404" pitchFamily="49" charset="0"/>
              </a:rPr>
              <a:t>&lt;td&gt;</a:t>
            </a:r>
            <a:r>
              <a:rPr lang="en-US" sz="4800" b="1" dirty="0">
                <a:solidFill>
                  <a:schemeClr val="bg1"/>
                </a:solidFill>
              </a:rPr>
              <a:t> cell</a:t>
            </a:r>
            <a:r>
              <a:rPr lang="en-US" sz="4800" dirty="0">
                <a:solidFill>
                  <a:schemeClr val="bg1"/>
                </a:solidFill>
              </a:rPr>
              <a:t>.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It helps to organize complex data — for example, a student record table where each student’s “marks” are another mini-table.</a:t>
            </a:r>
            <a:endParaRPr lang="en-IN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447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766</Words>
  <Application>Microsoft Office PowerPoint</Application>
  <PresentationFormat>Widescreen</PresentationFormat>
  <Paragraphs>138</Paragraphs>
  <Slides>101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6" baseType="lpstr">
      <vt:lpstr>Arial</vt:lpstr>
      <vt:lpstr>Calibri</vt:lpstr>
      <vt:lpstr>Calibri Light</vt:lpstr>
      <vt:lpstr>Courier New</vt:lpstr>
      <vt:lpstr>Office Theme</vt:lpstr>
      <vt:lpstr>Introduction to HTML</vt:lpstr>
      <vt:lpstr>What is HTML?</vt:lpstr>
      <vt:lpstr>What is HTML?</vt:lpstr>
      <vt:lpstr>Features of HTML</vt:lpstr>
      <vt:lpstr>Features of HTML</vt:lpstr>
      <vt:lpstr>Basic HTML Page Structure</vt:lpstr>
      <vt:lpstr>Explanation of Structure:</vt:lpstr>
      <vt:lpstr>HTML Versions</vt:lpstr>
      <vt:lpstr>HTML Elements (Semantic &amp; Non-Semantic)  </vt:lpstr>
      <vt:lpstr>Introduction to HTML Elements</vt:lpstr>
      <vt:lpstr>Example:</vt:lpstr>
      <vt:lpstr>Why Elements Matter</vt:lpstr>
      <vt:lpstr>What is an HTML Attribute?</vt:lpstr>
      <vt:lpstr>Common HTML Attributes with Examples</vt:lpstr>
      <vt:lpstr>2. class Attribute </vt:lpstr>
      <vt:lpstr>3. style Attribute </vt:lpstr>
      <vt:lpstr>4. href Attribute (used in &lt;a&gt;)</vt:lpstr>
      <vt:lpstr>5. src Attribute (used in &lt;img&gt;)</vt:lpstr>
      <vt:lpstr>6. alt Attribute (used in &lt;img&gt;)</vt:lpstr>
      <vt:lpstr>7. width and height</vt:lpstr>
      <vt:lpstr>Classification of HTML Elements</vt:lpstr>
      <vt:lpstr>Semantic HTML Elements</vt:lpstr>
      <vt:lpstr>Common Semantic Elements &amp; Their Uses</vt:lpstr>
      <vt:lpstr>Common Semantic Elements &amp; Their Uses</vt:lpstr>
      <vt:lpstr>Non-Semantic HTML Elements</vt:lpstr>
      <vt:lpstr>Example – Non-Semantic HTML</vt:lpstr>
      <vt:lpstr>Semantic vs Non-Semantic – Comparison Table</vt:lpstr>
      <vt:lpstr>Why Semantic HTML Matters in Full Stack Development</vt:lpstr>
      <vt:lpstr>Best Practices</vt:lpstr>
      <vt:lpstr>Rewrite this non-semantic code using semantic HTML:</vt:lpstr>
      <vt:lpstr>Solution</vt:lpstr>
      <vt:lpstr>Conclusion</vt:lpstr>
      <vt:lpstr>PowerPoint Presentation</vt:lpstr>
      <vt:lpstr>HTML Elements &amp; Text Formatting</vt:lpstr>
      <vt:lpstr>HTML Elements &amp; Text Formatting</vt:lpstr>
      <vt:lpstr>Block-Level Elements</vt:lpstr>
      <vt:lpstr>Examples:</vt:lpstr>
      <vt:lpstr>Example Code:</vt:lpstr>
      <vt:lpstr>Inline Elements</vt:lpstr>
      <vt:lpstr>Examples:</vt:lpstr>
      <vt:lpstr>Example Code:</vt:lpstr>
      <vt:lpstr>Comparison Table</vt:lpstr>
      <vt:lpstr>Text Formatting in HTML</vt:lpstr>
      <vt:lpstr>A. Headings</vt:lpstr>
      <vt:lpstr>B. Paragraphs</vt:lpstr>
      <vt:lpstr>Other Text Formatting Tags</vt:lpstr>
      <vt:lpstr>HTML Lists</vt:lpstr>
      <vt:lpstr>B. Unordered List (Bulleted)</vt:lpstr>
      <vt:lpstr>Description List in HTML</vt:lpstr>
      <vt:lpstr>Tags Used in a Description List</vt:lpstr>
      <vt:lpstr>Example</vt:lpstr>
      <vt:lpstr>Nesting Lists</vt:lpstr>
      <vt:lpstr>Example</vt:lpstr>
      <vt:lpstr>Mixed Lists</vt:lpstr>
      <vt:lpstr>Example — Step-by-Step Process with Subtasks:</vt:lpstr>
      <vt:lpstr>Lists for Navigation Menus</vt:lpstr>
      <vt:lpstr>Basic Navigation Menu Example</vt:lpstr>
      <vt:lpstr>Nested Navigation Menu Example (Dropdown)</vt:lpstr>
      <vt:lpstr>Key Takeaways</vt:lpstr>
      <vt:lpstr>HTML — Links, Images &amp; Attributes, Comments, Formatting Elements &amp; Special Characters</vt:lpstr>
      <vt:lpstr>HTML Links and Anchor Tag Attributes</vt:lpstr>
      <vt:lpstr>HTML Links (&lt;a&gt;)</vt:lpstr>
      <vt:lpstr>Common attributes</vt:lpstr>
      <vt:lpstr>Images (&lt;img&gt;) and Image Attributes</vt:lpstr>
      <vt:lpstr>Important attributes</vt:lpstr>
      <vt:lpstr>Comments in HTML</vt:lpstr>
      <vt:lpstr>HTML Formatting Elements (text-level semantics)</vt:lpstr>
      <vt:lpstr>Special Characters &amp; Symbols (HTML entities)</vt:lpstr>
      <vt:lpstr>Commonly Used HTML Entities</vt:lpstr>
      <vt:lpstr>Text-Related Elements: Quotation &amp; Citation</vt:lpstr>
      <vt:lpstr>HTML Multimedia &amp; Hyperlinks</vt:lpstr>
      <vt:lpstr>A) Images in HTML</vt:lpstr>
      <vt:lpstr>B) Video in HTML</vt:lpstr>
      <vt:lpstr>Audio in HTML</vt:lpstr>
      <vt:lpstr>D) Embedding YouTube Video</vt:lpstr>
      <vt:lpstr>HTML Forms</vt:lpstr>
      <vt:lpstr>What is a Form in HTML?</vt:lpstr>
      <vt:lpstr>Basic Structure of a Form</vt:lpstr>
      <vt:lpstr>Attributes of &lt;form&gt;:</vt:lpstr>
      <vt:lpstr>Form Elements </vt:lpstr>
      <vt:lpstr>Form Elements </vt:lpstr>
      <vt:lpstr>Form Elements </vt:lpstr>
      <vt:lpstr>Form Elements </vt:lpstr>
      <vt:lpstr>Form Elements </vt:lpstr>
      <vt:lpstr>Form Elements </vt:lpstr>
      <vt:lpstr>Form Elements </vt:lpstr>
      <vt:lpstr>Form Elements </vt:lpstr>
      <vt:lpstr>Form Elements </vt:lpstr>
      <vt:lpstr>Form Elements </vt:lpstr>
      <vt:lpstr>HTML Tables</vt:lpstr>
      <vt:lpstr>What is a Table in HTML?</vt:lpstr>
      <vt:lpstr>Basic Structure of a Table</vt:lpstr>
      <vt:lpstr>Adding Table Headings </vt:lpstr>
      <vt:lpstr>Table Attributes</vt:lpstr>
      <vt:lpstr>PowerPoint Presentation</vt:lpstr>
      <vt:lpstr>Rowspan &amp; Colspan (Merging Cells) </vt:lpstr>
      <vt:lpstr>Table with Caption</vt:lpstr>
      <vt:lpstr>What is a Responsive Table?</vt:lpstr>
      <vt:lpstr>What is a Responsive Table?</vt:lpstr>
      <vt:lpstr>Code Explanation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Pranshi Verma AIML</dc:creator>
  <cp:lastModifiedBy>Pranshi Verma</cp:lastModifiedBy>
  <cp:revision>7</cp:revision>
  <dcterms:created xsi:type="dcterms:W3CDTF">2025-10-08T08:24:33Z</dcterms:created>
  <dcterms:modified xsi:type="dcterms:W3CDTF">2025-10-15T06:39:57Z</dcterms:modified>
</cp:coreProperties>
</file>