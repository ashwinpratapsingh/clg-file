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350" r:id="rId2"/>
    <p:sldId id="399" r:id="rId3"/>
    <p:sldId id="400" r:id="rId4"/>
    <p:sldId id="402" r:id="rId5"/>
    <p:sldId id="401" r:id="rId6"/>
    <p:sldId id="403" r:id="rId7"/>
    <p:sldId id="404" r:id="rId8"/>
    <p:sldId id="376" r:id="rId9"/>
    <p:sldId id="383" r:id="rId10"/>
    <p:sldId id="387" r:id="rId11"/>
    <p:sldId id="388" r:id="rId12"/>
    <p:sldId id="389" r:id="rId13"/>
    <p:sldId id="390" r:id="rId14"/>
    <p:sldId id="384" r:id="rId15"/>
    <p:sldId id="391" r:id="rId16"/>
    <p:sldId id="393" r:id="rId17"/>
    <p:sldId id="392" r:id="rId18"/>
    <p:sldId id="394" r:id="rId19"/>
    <p:sldId id="396" r:id="rId20"/>
    <p:sldId id="397" r:id="rId21"/>
    <p:sldId id="381" r:id="rId22"/>
    <p:sldId id="373" r:id="rId23"/>
    <p:sldId id="38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5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4F303E-EDB2-445A-82C2-8CF01D277D11}" v="8" dt="2025-10-10T17:37:23.5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386" autoAdjust="0"/>
    <p:restoredTop sz="95256" autoAdjust="0"/>
  </p:normalViewPr>
  <p:slideViewPr>
    <p:cSldViewPr showGuides="1">
      <p:cViewPr varScale="1">
        <p:scale>
          <a:sx n="82" d="100"/>
          <a:sy n="82" d="100"/>
        </p:scale>
        <p:origin x="1142" y="77"/>
      </p:cViewPr>
      <p:guideLst>
        <p:guide orient="horz" pos="2167"/>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ddhant Saxena" userId="9fdf84fe4d56d8dc" providerId="LiveId" clId="{3090F1CB-FFFD-42D2-9A54-E4FE9B6D4AF0}"/>
    <pc:docChg chg="undo redo custSel modSld">
      <pc:chgData name="Siddhant Saxena" userId="9fdf84fe4d56d8dc" providerId="LiveId" clId="{3090F1CB-FFFD-42D2-9A54-E4FE9B6D4AF0}" dt="2025-10-10T17:39:13.681" v="70" actId="9405"/>
      <pc:docMkLst>
        <pc:docMk/>
      </pc:docMkLst>
      <pc:sldChg chg="addSp delSp modSp mod">
        <pc:chgData name="Siddhant Saxena" userId="9fdf84fe4d56d8dc" providerId="LiveId" clId="{3090F1CB-FFFD-42D2-9A54-E4FE9B6D4AF0}" dt="2025-10-10T17:36:24.017" v="27" actId="9405"/>
        <pc:sldMkLst>
          <pc:docMk/>
          <pc:sldMk cId="0" sldId="350"/>
        </pc:sldMkLst>
        <pc:spChg chg="mod">
          <ac:chgData name="Siddhant Saxena" userId="9fdf84fe4d56d8dc" providerId="LiveId" clId="{3090F1CB-FFFD-42D2-9A54-E4FE9B6D4AF0}" dt="2025-10-10T17:35:29.117" v="18" actId="20577"/>
          <ac:spMkLst>
            <pc:docMk/>
            <pc:sldMk cId="0" sldId="350"/>
            <ac:spMk id="4" creationId="{00000000-0000-0000-0000-000000000000}"/>
          </ac:spMkLst>
        </pc:spChg>
        <pc:inkChg chg="add del">
          <ac:chgData name="Siddhant Saxena" userId="9fdf84fe4d56d8dc" providerId="LiveId" clId="{3090F1CB-FFFD-42D2-9A54-E4FE9B6D4AF0}" dt="2025-10-10T17:36:24.017" v="27" actId="9405"/>
          <ac:inkMkLst>
            <pc:docMk/>
            <pc:sldMk cId="0" sldId="350"/>
            <ac:inkMk id="2" creationId="{5A438A4E-9D58-C683-85ED-F30540FF97EC}"/>
          </ac:inkMkLst>
        </pc:inkChg>
        <pc:inkChg chg="add">
          <ac:chgData name="Siddhant Saxena" userId="9fdf84fe4d56d8dc" providerId="LiveId" clId="{3090F1CB-FFFD-42D2-9A54-E4FE9B6D4AF0}" dt="2025-10-10T17:36:21.102" v="20"/>
          <ac:inkMkLst>
            <pc:docMk/>
            <pc:sldMk cId="0" sldId="350"/>
            <ac:inkMk id="3" creationId="{A56D04BB-8CEA-0E65-2E07-A13EDC50BCD4}"/>
          </ac:inkMkLst>
        </pc:inkChg>
      </pc:sldChg>
      <pc:sldChg chg="addSp delSp modSp mod">
        <pc:chgData name="Siddhant Saxena" userId="9fdf84fe4d56d8dc" providerId="LiveId" clId="{3090F1CB-FFFD-42D2-9A54-E4FE9B6D4AF0}" dt="2025-10-10T17:39:13.681" v="70" actId="9405"/>
        <pc:sldMkLst>
          <pc:docMk/>
          <pc:sldMk cId="0" sldId="399"/>
        </pc:sldMkLst>
        <pc:inkChg chg="add del">
          <ac:chgData name="Siddhant Saxena" userId="9fdf84fe4d56d8dc" providerId="LiveId" clId="{3090F1CB-FFFD-42D2-9A54-E4FE9B6D4AF0}" dt="2025-10-10T17:37:24.148" v="57" actId="9405"/>
          <ac:inkMkLst>
            <pc:docMk/>
            <pc:sldMk cId="0" sldId="399"/>
            <ac:inkMk id="4" creationId="{8A3B0D50-0365-76BD-F0D1-1101F01E6F08}"/>
          </ac:inkMkLst>
        </pc:inkChg>
        <pc:inkChg chg="add">
          <ac:chgData name="Siddhant Saxena" userId="9fdf84fe4d56d8dc" providerId="LiveId" clId="{3090F1CB-FFFD-42D2-9A54-E4FE9B6D4AF0}" dt="2025-10-10T17:36:39.012" v="31"/>
          <ac:inkMkLst>
            <pc:docMk/>
            <pc:sldMk cId="0" sldId="399"/>
            <ac:inkMk id="5" creationId="{6DE11833-DB95-AF24-63B1-7F39998E80BF}"/>
          </ac:inkMkLst>
        </pc:inkChg>
        <pc:inkChg chg="add del">
          <ac:chgData name="Siddhant Saxena" userId="9fdf84fe4d56d8dc" providerId="LiveId" clId="{3090F1CB-FFFD-42D2-9A54-E4FE9B6D4AF0}" dt="2025-10-10T17:36:43.654" v="33" actId="9405"/>
          <ac:inkMkLst>
            <pc:docMk/>
            <pc:sldMk cId="0" sldId="399"/>
            <ac:inkMk id="6" creationId="{48E8C03B-A0D7-3588-2A68-13F35C68CB73}"/>
          </ac:inkMkLst>
        </pc:inkChg>
        <pc:inkChg chg="add del">
          <ac:chgData name="Siddhant Saxena" userId="9fdf84fe4d56d8dc" providerId="LiveId" clId="{3090F1CB-FFFD-42D2-9A54-E4FE9B6D4AF0}" dt="2025-10-10T17:36:47.512" v="35" actId="9405"/>
          <ac:inkMkLst>
            <pc:docMk/>
            <pc:sldMk cId="0" sldId="399"/>
            <ac:inkMk id="8" creationId="{31BA90B7-3D7B-BBA2-B4DF-036B1E5F010D}"/>
          </ac:inkMkLst>
        </pc:inkChg>
        <pc:inkChg chg="add del">
          <ac:chgData name="Siddhant Saxena" userId="9fdf84fe4d56d8dc" providerId="LiveId" clId="{3090F1CB-FFFD-42D2-9A54-E4FE9B6D4AF0}" dt="2025-10-10T17:36:51.271" v="37" actId="9405"/>
          <ac:inkMkLst>
            <pc:docMk/>
            <pc:sldMk cId="0" sldId="399"/>
            <ac:inkMk id="9" creationId="{BF113945-FC70-9817-9081-723233F1F975}"/>
          </ac:inkMkLst>
        </pc:inkChg>
        <pc:inkChg chg="add del">
          <ac:chgData name="Siddhant Saxena" userId="9fdf84fe4d56d8dc" providerId="LiveId" clId="{3090F1CB-FFFD-42D2-9A54-E4FE9B6D4AF0}" dt="2025-10-10T17:36:53.951" v="39" actId="9405"/>
          <ac:inkMkLst>
            <pc:docMk/>
            <pc:sldMk cId="0" sldId="399"/>
            <ac:inkMk id="10" creationId="{8F7DC00F-EE18-9676-3C46-93B9C01DF7C0}"/>
          </ac:inkMkLst>
        </pc:inkChg>
        <pc:inkChg chg="add del">
          <ac:chgData name="Siddhant Saxena" userId="9fdf84fe4d56d8dc" providerId="LiveId" clId="{3090F1CB-FFFD-42D2-9A54-E4FE9B6D4AF0}" dt="2025-10-10T17:36:58.143" v="42" actId="9405"/>
          <ac:inkMkLst>
            <pc:docMk/>
            <pc:sldMk cId="0" sldId="399"/>
            <ac:inkMk id="11" creationId="{AFD62CA5-77D9-B134-F4C7-D132E8A6BA17}"/>
          </ac:inkMkLst>
        </pc:inkChg>
        <pc:inkChg chg="add del">
          <ac:chgData name="Siddhant Saxena" userId="9fdf84fe4d56d8dc" providerId="LiveId" clId="{3090F1CB-FFFD-42D2-9A54-E4FE9B6D4AF0}" dt="2025-10-10T17:37:23.972" v="56" actId="9405"/>
          <ac:inkMkLst>
            <pc:docMk/>
            <pc:sldMk cId="0" sldId="399"/>
            <ac:inkMk id="12" creationId="{4E15298C-DCAE-7743-C4D6-26DC91ABD8B2}"/>
          </ac:inkMkLst>
        </pc:inkChg>
        <pc:inkChg chg="add del">
          <ac:chgData name="Siddhant Saxena" userId="9fdf84fe4d56d8dc" providerId="LiveId" clId="{3090F1CB-FFFD-42D2-9A54-E4FE9B6D4AF0}" dt="2025-10-10T17:37:23.781" v="55" actId="9405"/>
          <ac:inkMkLst>
            <pc:docMk/>
            <pc:sldMk cId="0" sldId="399"/>
            <ac:inkMk id="13" creationId="{A8CFFD20-49B5-90B7-D357-08409516FAF2}"/>
          </ac:inkMkLst>
        </pc:inkChg>
        <pc:inkChg chg="add mod">
          <ac:chgData name="Siddhant Saxena" userId="9fdf84fe4d56d8dc" providerId="LiveId" clId="{3090F1CB-FFFD-42D2-9A54-E4FE9B6D4AF0}" dt="2025-10-10T17:37:23.170" v="53"/>
          <ac:inkMkLst>
            <pc:docMk/>
            <pc:sldMk cId="0" sldId="399"/>
            <ac:inkMk id="14" creationId="{AC926315-CDBA-9893-51AA-65751A89D1F4}"/>
          </ac:inkMkLst>
        </pc:inkChg>
        <pc:inkChg chg="add del">
          <ac:chgData name="Siddhant Saxena" userId="9fdf84fe4d56d8dc" providerId="LiveId" clId="{3090F1CB-FFFD-42D2-9A54-E4FE9B6D4AF0}" dt="2025-10-10T17:37:14.995" v="48" actId="9405"/>
          <ac:inkMkLst>
            <pc:docMk/>
            <pc:sldMk cId="0" sldId="399"/>
            <ac:inkMk id="15" creationId="{3471C588-7C50-310E-E127-1F7285EC65E5}"/>
          </ac:inkMkLst>
        </pc:inkChg>
        <pc:inkChg chg="add del">
          <ac:chgData name="Siddhant Saxena" userId="9fdf84fe4d56d8dc" providerId="LiveId" clId="{3090F1CB-FFFD-42D2-9A54-E4FE9B6D4AF0}" dt="2025-10-10T17:37:22.804" v="52" actId="9405"/>
          <ac:inkMkLst>
            <pc:docMk/>
            <pc:sldMk cId="0" sldId="399"/>
            <ac:inkMk id="16" creationId="{1AAE471C-F6CF-B9A5-1547-D6685AD5B466}"/>
          </ac:inkMkLst>
        </pc:inkChg>
        <pc:inkChg chg="add del">
          <ac:chgData name="Siddhant Saxena" userId="9fdf84fe4d56d8dc" providerId="LiveId" clId="{3090F1CB-FFFD-42D2-9A54-E4FE9B6D4AF0}" dt="2025-10-10T17:37:22.469" v="51" actId="9405"/>
          <ac:inkMkLst>
            <pc:docMk/>
            <pc:sldMk cId="0" sldId="399"/>
            <ac:inkMk id="17" creationId="{A5790A83-558C-D5ED-9B87-FD34A40D6DCC}"/>
          </ac:inkMkLst>
        </pc:inkChg>
        <pc:inkChg chg="add del">
          <ac:chgData name="Siddhant Saxena" userId="9fdf84fe4d56d8dc" providerId="LiveId" clId="{3090F1CB-FFFD-42D2-9A54-E4FE9B6D4AF0}" dt="2025-10-10T17:37:34.093" v="63" actId="9405"/>
          <ac:inkMkLst>
            <pc:docMk/>
            <pc:sldMk cId="0" sldId="399"/>
            <ac:inkMk id="18" creationId="{3D932A5D-639F-C52F-BCAF-D6BA59A9FA21}"/>
          </ac:inkMkLst>
        </pc:inkChg>
        <pc:inkChg chg="add del">
          <ac:chgData name="Siddhant Saxena" userId="9fdf84fe4d56d8dc" providerId="LiveId" clId="{3090F1CB-FFFD-42D2-9A54-E4FE9B6D4AF0}" dt="2025-10-10T17:37:33.875" v="62" actId="9405"/>
          <ac:inkMkLst>
            <pc:docMk/>
            <pc:sldMk cId="0" sldId="399"/>
            <ac:inkMk id="19" creationId="{6C438266-31A3-7B61-3F38-517D52BB1CB6}"/>
          </ac:inkMkLst>
        </pc:inkChg>
        <pc:inkChg chg="add del">
          <ac:chgData name="Siddhant Saxena" userId="9fdf84fe4d56d8dc" providerId="LiveId" clId="{3090F1CB-FFFD-42D2-9A54-E4FE9B6D4AF0}" dt="2025-10-10T17:37:42.728" v="69" actId="9405"/>
          <ac:inkMkLst>
            <pc:docMk/>
            <pc:sldMk cId="0" sldId="399"/>
            <ac:inkMk id="20" creationId="{D928A335-3635-F110-6438-1439890425D9}"/>
          </ac:inkMkLst>
        </pc:inkChg>
        <pc:inkChg chg="add del">
          <ac:chgData name="Siddhant Saxena" userId="9fdf84fe4d56d8dc" providerId="LiveId" clId="{3090F1CB-FFFD-42D2-9A54-E4FE9B6D4AF0}" dt="2025-10-10T17:37:42.550" v="68" actId="9405"/>
          <ac:inkMkLst>
            <pc:docMk/>
            <pc:sldMk cId="0" sldId="399"/>
            <ac:inkMk id="21" creationId="{9EF817B0-B1C6-D5C3-96F0-D20859EA39CB}"/>
          </ac:inkMkLst>
        </pc:inkChg>
        <pc:inkChg chg="add del">
          <ac:chgData name="Siddhant Saxena" userId="9fdf84fe4d56d8dc" providerId="LiveId" clId="{3090F1CB-FFFD-42D2-9A54-E4FE9B6D4AF0}" dt="2025-10-10T17:37:42.367" v="67" actId="9405"/>
          <ac:inkMkLst>
            <pc:docMk/>
            <pc:sldMk cId="0" sldId="399"/>
            <ac:inkMk id="22" creationId="{69412B50-2A56-3795-9754-F683ABA9BD6A}"/>
          </ac:inkMkLst>
        </pc:inkChg>
        <pc:inkChg chg="add">
          <ac:chgData name="Siddhant Saxena" userId="9fdf84fe4d56d8dc" providerId="LiveId" clId="{3090F1CB-FFFD-42D2-9A54-E4FE9B6D4AF0}" dt="2025-10-10T17:39:13.681" v="70" actId="9405"/>
          <ac:inkMkLst>
            <pc:docMk/>
            <pc:sldMk cId="0" sldId="399"/>
            <ac:inkMk id="23" creationId="{EE9D9BAE-56C0-049C-379C-FD58B60E134F}"/>
          </ac:inkMkLst>
        </pc:inkChg>
      </pc:sldChg>
      <pc:sldChg chg="modSp mod">
        <pc:chgData name="Siddhant Saxena" userId="9fdf84fe4d56d8dc" providerId="LiveId" clId="{3090F1CB-FFFD-42D2-9A54-E4FE9B6D4AF0}" dt="2025-10-10T17:37:26.171" v="59" actId="27636"/>
        <pc:sldMkLst>
          <pc:docMk/>
          <pc:sldMk cId="0" sldId="402"/>
        </pc:sldMkLst>
        <pc:spChg chg="mod">
          <ac:chgData name="Siddhant Saxena" userId="9fdf84fe4d56d8dc" providerId="LiveId" clId="{3090F1CB-FFFD-42D2-9A54-E4FE9B6D4AF0}" dt="2025-10-10T17:37:26.171" v="59" actId="27636"/>
          <ac:spMkLst>
            <pc:docMk/>
            <pc:sldMk cId="0" sldId="402"/>
            <ac:spMk id="3" creationId="{00000000-0000-0000-0000-000000000000}"/>
          </ac:spMkLst>
        </pc:spChg>
      </pc:sldChg>
      <pc:sldChg chg="modSp mod">
        <pc:chgData name="Siddhant Saxena" userId="9fdf84fe4d56d8dc" providerId="LiveId" clId="{3090F1CB-FFFD-42D2-9A54-E4FE9B6D4AF0}" dt="2025-10-10T17:37:26.171" v="59" actId="27636"/>
        <pc:sldMkLst>
          <pc:docMk/>
          <pc:sldMk cId="0" sldId="404"/>
        </pc:sldMkLst>
        <pc:spChg chg="mod">
          <ac:chgData name="Siddhant Saxena" userId="9fdf84fe4d56d8dc" providerId="LiveId" clId="{3090F1CB-FFFD-42D2-9A54-E4FE9B6D4AF0}" dt="2025-10-10T17:37:26.171" v="59" actId="27636"/>
          <ac:spMkLst>
            <pc:docMk/>
            <pc:sldMk cId="0" sldId="404"/>
            <ac:spMk id="3" creationId="{00000000-0000-0000-0000-000000000000}"/>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0-10T17:39:13.681"/>
    </inkml:context>
    <inkml:brush xml:id="br0">
      <inkml:brushProperty name="width" value="0.3" units="cm"/>
      <inkml:brushProperty name="height" value="0.6" units="cm"/>
      <inkml:brushProperty name="color" value="#A2D762"/>
      <inkml:brushProperty name="tip" value="rectangle"/>
      <inkml:brushProperty name="rasterOp" value="maskPen"/>
      <inkml:brushProperty name="ignorePressure" value="1"/>
    </inkml:brush>
  </inkml:definitions>
  <inkml:trace contextRef="#ctx0" brushRef="#br0">0 1,'0'0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378584-52B0-FC4D-AE45-7301D11129A4}" type="datetimeFigureOut">
              <a:rPr lang="en-US" smtClean="0"/>
              <a:t>10/10/2025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81077D-BC7D-1E45-ACAB-88A9C84F9F62}" type="slidenum">
              <a:rPr lang="en-US" smtClean="0"/>
              <a:t>‹#›</a:t>
            </a:fld>
            <a:endParaRPr lang="en-US"/>
          </a:p>
        </p:txBody>
      </p:sp>
    </p:spTree>
    <p:extLst>
      <p:ext uri="{BB962C8B-B14F-4D97-AF65-F5344CB8AC3E}">
        <p14:creationId xmlns:p14="http://schemas.microsoft.com/office/powerpoint/2010/main" val="2540654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2BA963F-0403-458F-8B8D-A5D5602BA06D}"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2E8B6D-A843-4976-BA70-A811246CC566}"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2BA963F-0403-458F-8B8D-A5D5602BA06D}"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2E8B6D-A843-4976-BA70-A811246CC566}"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BA963F-0403-458F-8B8D-A5D5602BA06D}"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2E8B6D-A843-4976-BA70-A811246CC566}"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2BA963F-0403-458F-8B8D-A5D5602BA06D}" type="datetimeFigureOut">
              <a:rPr lang="en-IN" smtClean="0"/>
              <a:t>10-10-2025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2E8B6D-A843-4976-BA70-A811246CC566}"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2BA963F-0403-458F-8B8D-A5D5602BA06D}" type="datetimeFigureOut">
              <a:rPr lang="en-IN" smtClean="0"/>
              <a:t>10-10-2025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C2E8B6D-A843-4976-BA70-A811246CC566}"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2BA963F-0403-458F-8B8D-A5D5602BA06D}" type="datetimeFigureOut">
              <a:rPr lang="en-IN" smtClean="0"/>
              <a:t>10-10-2025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C2E8B6D-A843-4976-BA70-A811246CC566}"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BA963F-0403-458F-8B8D-A5D5602BA06D}" type="datetimeFigureOut">
              <a:rPr lang="en-IN" smtClean="0"/>
              <a:t>10-10-2025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C2E8B6D-A843-4976-BA70-A811246CC566}"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BA963F-0403-458F-8B8D-A5D5602BA06D}" type="datetimeFigureOut">
              <a:rPr lang="en-IN" smtClean="0"/>
              <a:t>10-10-2025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2E8B6D-A843-4976-BA70-A811246CC566}"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BA963F-0403-458F-8B8D-A5D5602BA06D}" type="datetimeFigureOut">
              <a:rPr lang="en-IN" smtClean="0"/>
              <a:t>10-10-2025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2E8B6D-A843-4976-BA70-A811246CC566}"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2BA963F-0403-458F-8B8D-A5D5602BA06D}"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2E8B6D-A843-4976-BA70-A811246CC566}"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2BA963F-0403-458F-8B8D-A5D5602BA06D}" type="datetimeFigureOut">
              <a:rPr lang="en-IN" smtClean="0"/>
              <a:t>10-10-2025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2E8B6D-A843-4976-BA70-A811246CC566}"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BA963F-0403-458F-8B8D-A5D5602BA06D}" type="datetimeFigureOut">
              <a:rPr lang="en-IN" smtClean="0"/>
              <a:t>10-10-2025</a:t>
            </a:fld>
            <a:endParaRPr lang="en-IN"/>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2E8B6D-A843-4976-BA70-A811246CC566}"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p:cNvSpPr>
            <a:spLocks noGrp="1"/>
          </p:cNvSpPr>
          <p:nvPr>
            <p:ph type="subTitle" idx="1"/>
          </p:nvPr>
        </p:nvSpPr>
        <p:spPr>
          <a:xfrm>
            <a:off x="1703512" y="4941168"/>
            <a:ext cx="9001000" cy="1368152"/>
          </a:xfrm>
        </p:spPr>
        <p:txBody>
          <a:bodyPr>
            <a:normAutofit/>
          </a:bodyPr>
          <a:lstStyle/>
          <a:p>
            <a:pPr eaLnBrk="1" hangingPunct="1">
              <a:lnSpc>
                <a:spcPct val="100000"/>
              </a:lnSpc>
            </a:pPr>
            <a:endParaRPr lang="en-IN" altLang="en-US" dirty="0">
              <a:solidFill>
                <a:schemeClr val="tx1"/>
              </a:solidFill>
            </a:endParaRPr>
          </a:p>
          <a:p>
            <a:pPr eaLnBrk="1" hangingPunct="1">
              <a:lnSpc>
                <a:spcPct val="100000"/>
              </a:lnSpc>
            </a:pPr>
            <a:r>
              <a:rPr lang="en-IN" altLang="en-US" dirty="0">
                <a:solidFill>
                  <a:schemeClr val="tx1"/>
                </a:solidFill>
              </a:rPr>
              <a:t>SEEP DEPARTMENT </a:t>
            </a:r>
            <a:endParaRPr lang="en-US" altLang="en-US" sz="2400" dirty="0">
              <a:solidFill>
                <a:schemeClr val="tx1"/>
              </a:solidFill>
              <a:cs typeface="Arial" panose="020B0604020202020204" pitchFamily="34" charset="0"/>
            </a:endParaRPr>
          </a:p>
        </p:txBody>
      </p:sp>
      <p:sp>
        <p:nvSpPr>
          <p:cNvPr id="4" name="Subtitle 2"/>
          <p:cNvSpPr txBox="1"/>
          <p:nvPr/>
        </p:nvSpPr>
        <p:spPr>
          <a:xfrm>
            <a:off x="407368" y="2519517"/>
            <a:ext cx="11377264" cy="917575"/>
          </a:xfrm>
          <a:prstGeom prst="rect">
            <a:avLst/>
          </a:prstGeom>
        </p:spPr>
        <p:txBody>
          <a:bodyPr/>
          <a:lstStyle/>
          <a:p>
            <a:pPr algn="ctr" defTabSz="685800">
              <a:buClr>
                <a:srgbClr val="5B9BD5"/>
              </a:buClr>
              <a:buSzPct val="70000"/>
              <a:defRPr/>
            </a:pPr>
            <a:r>
              <a:rPr lang="en-US" sz="6000" dirty="0">
                <a:solidFill>
                  <a:srgbClr val="FF0000"/>
                </a:solidFill>
              </a:rPr>
              <a:t> </a:t>
            </a:r>
            <a:r>
              <a:rPr lang="en-US" sz="6000">
                <a:solidFill>
                  <a:srgbClr val="FF0000"/>
                </a:solidFill>
              </a:rPr>
              <a:t>SOFT SKILLS</a:t>
            </a:r>
            <a:endParaRPr lang="en-US" sz="6000" dirty="0">
              <a:solidFill>
                <a:srgbClr val="FF0000"/>
              </a:solidFill>
            </a:endParaRPr>
          </a:p>
          <a:p>
            <a:pPr algn="ctr" defTabSz="685800">
              <a:buClr>
                <a:srgbClr val="5B9BD5"/>
              </a:buClr>
              <a:buSzPct val="70000"/>
              <a:defRPr/>
            </a:pPr>
            <a:r>
              <a:rPr lang="en-US" sz="4400" dirty="0">
                <a:solidFill>
                  <a:srgbClr val="0070C0"/>
                </a:solidFill>
              </a:rPr>
              <a:t>Unit 1: Word Formation &amp; Subject- Verb Agreement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3772" y="191822"/>
            <a:ext cx="4104456" cy="202248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6900"/>
    </mc:Choice>
    <mc:Fallback xmlns="">
      <p:transition spd="slow" advTm="469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a:sym typeface="+mn-ea"/>
              </a:rPr>
              <a:t>Word Formation</a:t>
            </a:r>
            <a:endParaRPr lang="en-US"/>
          </a:p>
        </p:txBody>
      </p:sp>
      <p:sp>
        <p:nvSpPr>
          <p:cNvPr id="3" name="Content Placeholder 2"/>
          <p:cNvSpPr>
            <a:spLocks noGrp="1"/>
          </p:cNvSpPr>
          <p:nvPr>
            <p:ph idx="1"/>
          </p:nvPr>
        </p:nvSpPr>
        <p:spPr>
          <a:xfrm>
            <a:off x="1168400" y="1292860"/>
            <a:ext cx="8963660" cy="4984750"/>
          </a:xfrm>
        </p:spPr>
        <p:txBody>
          <a:bodyPr>
            <a:noAutofit/>
          </a:bodyPr>
          <a:lstStyle/>
          <a:p>
            <a:r>
              <a:rPr lang="en-US" altLang="en-US" sz="1800" b="1"/>
              <a:t>Root Word: </a:t>
            </a:r>
          </a:p>
          <a:p>
            <a:pPr marL="0" indent="0">
              <a:buNone/>
            </a:pPr>
            <a:r>
              <a:rPr lang="en-US" altLang="en-US" sz="1800" b="1"/>
              <a:t>Definition: The base part of a word carrying core meaning.</a:t>
            </a:r>
          </a:p>
          <a:p>
            <a:pPr marL="0" indent="0">
              <a:buNone/>
            </a:pPr>
            <a:r>
              <a:rPr lang="en-US" altLang="en-US" sz="1800" b="1"/>
              <a:t>Examples: act (action), write (rewrite)</a:t>
            </a:r>
          </a:p>
          <a:p>
            <a:pPr marL="0" indent="0">
              <a:buNone/>
            </a:pPr>
            <a:r>
              <a:rPr lang="en-US" altLang="en-US" sz="1800" b="1"/>
              <a:t>Link: https://www.thoughtco.com/root-words-1691904</a:t>
            </a:r>
          </a:p>
          <a:p>
            <a:r>
              <a:rPr lang="en-US" altLang="en-US" sz="1800" b="1"/>
              <a:t>Bound Words: </a:t>
            </a:r>
          </a:p>
          <a:p>
            <a:pPr marL="0" indent="0">
              <a:buNone/>
            </a:pPr>
            <a:r>
              <a:rPr lang="en-US" altLang="en-US" sz="1800" b="1"/>
              <a:t>Definition: Morphemes that cannot stand alone as words.</a:t>
            </a:r>
          </a:p>
          <a:p>
            <a:pPr marL="0" indent="0">
              <a:buNone/>
            </a:pPr>
            <a:r>
              <a:rPr lang="en-US" altLang="en-US" sz="1800" b="1"/>
              <a:t>Examples: -ness (happiness), un- (unhappy)</a:t>
            </a:r>
          </a:p>
          <a:p>
            <a:pPr marL="0" indent="0">
              <a:buNone/>
            </a:pPr>
            <a:r>
              <a:rPr lang="en-US" altLang="en-US" sz="1800" b="1"/>
              <a:t>Link: https://www.thoughtco.com/bound-morpheme-words-1691727</a:t>
            </a:r>
          </a:p>
          <a:p>
            <a:r>
              <a:rPr lang="en-US" altLang="en-US" sz="1800" b="1"/>
              <a:t>Affixes: </a:t>
            </a:r>
          </a:p>
          <a:p>
            <a:pPr marL="0" indent="0">
              <a:buNone/>
            </a:pPr>
            <a:r>
              <a:rPr lang="en-US" altLang="en-US" sz="1800" b="1"/>
              <a:t>Definition: Prefixes/suffixes added to a root to change meaning.</a:t>
            </a:r>
          </a:p>
          <a:p>
            <a:pPr marL="0" indent="0">
              <a:buNone/>
            </a:pPr>
            <a:r>
              <a:rPr lang="en-US" altLang="en-US" sz="1800" b="1"/>
              <a:t>Examples: dis- (dislike), -ful (joyful)</a:t>
            </a:r>
          </a:p>
          <a:p>
            <a:pPr marL="0" indent="0">
              <a:buNone/>
            </a:pPr>
            <a:r>
              <a:rPr lang="en-US" altLang="en-US" sz="1800" b="1"/>
              <a:t>Link: https://www.thoughtco.com/affix-words-1691861</a:t>
            </a:r>
          </a:p>
          <a:p>
            <a:r>
              <a:rPr lang="en-US" altLang="en-US" sz="1800" b="1"/>
              <a:t>Compound Words: </a:t>
            </a:r>
          </a:p>
          <a:p>
            <a:pPr marL="0" indent="0">
              <a:buNone/>
            </a:pPr>
            <a:r>
              <a:rPr lang="en-US" altLang="en-US" sz="1800" b="1"/>
              <a:t>Definition: Words formed by joining two or more words.</a:t>
            </a:r>
          </a:p>
          <a:p>
            <a:pPr marL="0" indent="0">
              <a:buNone/>
            </a:pPr>
            <a:r>
              <a:rPr lang="en-US" altLang="en-US" sz="1800" b="1"/>
              <a:t>Examples: toothbrush, raincoat</a:t>
            </a:r>
          </a:p>
          <a:p>
            <a:pPr marL="0" indent="0">
              <a:buNone/>
            </a:pPr>
            <a:r>
              <a:rPr lang="en-US" altLang="en-US" sz="1800" b="1"/>
              <a:t>Link: https://www.thoughtco.com/compound-words-1690491</a:t>
            </a:r>
          </a:p>
          <a:p>
            <a:pPr marL="0" indent="0">
              <a:buNone/>
            </a:pPr>
            <a:endParaRPr lang="en-US" altLang="en-US" sz="1800" b="1"/>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mc:AlternateContent xmlns:mc="http://schemas.openxmlformats.org/markup-compatibility/2006">
        <mc:Choice xmlns:p14="http://schemas.microsoft.com/office/powerpoint/2010/main" Requires="p14">
          <p:contentPart p14:bwMode="auto" r:id="rId3">
            <p14:nvContentPartPr>
              <p14:cNvPr id="23" name="Ink 22">
                <a:extLst>
                  <a:ext uri="{FF2B5EF4-FFF2-40B4-BE49-F238E27FC236}">
                    <a16:creationId xmlns:a16="http://schemas.microsoft.com/office/drawing/2014/main" id="{EE9D9BAE-56C0-049C-379C-FD58B60E134F}"/>
                  </a:ext>
                </a:extLst>
              </p14:cNvPr>
              <p14:cNvContentPartPr/>
              <p14:nvPr/>
            </p14:nvContentPartPr>
            <p14:xfrm>
              <a:off x="-1306286" y="2378990"/>
              <a:ext cx="360" cy="360"/>
            </p14:xfrm>
          </p:contentPart>
        </mc:Choice>
        <mc:Fallback>
          <p:pic>
            <p:nvPicPr>
              <p:cNvPr id="23" name="Ink 22">
                <a:extLst>
                  <a:ext uri="{FF2B5EF4-FFF2-40B4-BE49-F238E27FC236}">
                    <a16:creationId xmlns:a16="http://schemas.microsoft.com/office/drawing/2014/main" id="{EE9D9BAE-56C0-049C-379C-FD58B60E134F}"/>
                  </a:ext>
                </a:extLst>
              </p:cNvPr>
              <p:cNvPicPr/>
              <p:nvPr/>
            </p:nvPicPr>
            <p:blipFill>
              <a:blip r:embed="rId4"/>
              <a:stretch>
                <a:fillRect/>
              </a:stretch>
            </p:blipFill>
            <p:spPr>
              <a:xfrm>
                <a:off x="-1360286" y="2271350"/>
                <a:ext cx="108000" cy="21600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01215" y="548640"/>
            <a:ext cx="9665970" cy="5782310"/>
          </a:xfrm>
        </p:spPr>
        <p:txBody>
          <a:bodyPr>
            <a:noAutofit/>
          </a:bodyPr>
          <a:lstStyle/>
          <a:p>
            <a:r>
              <a:rPr lang="en-US" altLang="en-US" sz="1800" b="1">
                <a:sym typeface="+mn-ea"/>
              </a:rPr>
              <a:t>Acronyms: </a:t>
            </a:r>
            <a:endParaRPr lang="en-US" altLang="en-US" sz="1800" b="1"/>
          </a:p>
          <a:p>
            <a:pPr marL="0" indent="0">
              <a:buNone/>
            </a:pPr>
            <a:r>
              <a:rPr lang="en-US" altLang="en-US" sz="1800" b="1">
                <a:sym typeface="+mn-ea"/>
              </a:rPr>
              <a:t>Definition: Words formed from initials of other words.</a:t>
            </a:r>
            <a:endParaRPr lang="en-US" altLang="en-US" sz="1800" b="1"/>
          </a:p>
          <a:p>
            <a:pPr marL="0" indent="0">
              <a:buNone/>
            </a:pPr>
            <a:r>
              <a:rPr lang="en-US" altLang="en-US" sz="1800" b="1">
                <a:sym typeface="+mn-ea"/>
              </a:rPr>
              <a:t>Examples: NASA, UNESCO</a:t>
            </a:r>
            <a:endParaRPr lang="en-US" altLang="en-US" sz="1800" b="1"/>
          </a:p>
          <a:p>
            <a:pPr marL="0" indent="0">
              <a:buNone/>
            </a:pPr>
            <a:r>
              <a:rPr lang="en-US" altLang="en-US" sz="1800" b="1">
                <a:sym typeface="+mn-ea"/>
              </a:rPr>
              <a:t>Link: https://en.wikipedia.org/wiki/Acronym</a:t>
            </a:r>
            <a:endParaRPr lang="en-US" altLang="en-US" sz="1800" b="1"/>
          </a:p>
          <a:p>
            <a:r>
              <a:rPr lang="en-US" altLang="en-US" sz="1800" b="1">
                <a:sym typeface="+mn-ea"/>
              </a:rPr>
              <a:t>Abbreviations: </a:t>
            </a:r>
            <a:endParaRPr lang="en-US" altLang="en-US" sz="1800" b="1"/>
          </a:p>
          <a:p>
            <a:pPr marL="0" indent="0">
              <a:buNone/>
            </a:pPr>
            <a:r>
              <a:rPr lang="en-US" altLang="en-US" sz="1800" b="1">
                <a:sym typeface="+mn-ea"/>
              </a:rPr>
              <a:t>Definition: Shortened forms of words/phrases.</a:t>
            </a:r>
            <a:endParaRPr lang="en-US" altLang="en-US" sz="1800" b="1"/>
          </a:p>
          <a:p>
            <a:pPr marL="0" indent="0">
              <a:buNone/>
            </a:pPr>
            <a:r>
              <a:rPr lang="en-US" altLang="en-US" sz="1800" b="1">
                <a:sym typeface="+mn-ea"/>
              </a:rPr>
              <a:t>Examples: Dr. (Doctor), ASAP (as soon as possible)</a:t>
            </a:r>
            <a:endParaRPr lang="en-US" altLang="en-US" sz="1800" b="1"/>
          </a:p>
          <a:p>
            <a:pPr marL="0" indent="0">
              <a:buNone/>
            </a:pPr>
            <a:r>
              <a:rPr lang="en-US" altLang="en-US" sz="1800" b="1">
                <a:sym typeface="+mn-ea"/>
              </a:rPr>
              <a:t>Link: https://en.wikipedia.org/wiki/Abbreviation</a:t>
            </a:r>
            <a:endParaRPr lang="en-US" altLang="en-US" sz="1800" b="1"/>
          </a:p>
          <a:p>
            <a:r>
              <a:rPr lang="en-US" altLang="en-US" sz="1800" b="1">
                <a:sym typeface="+mn-ea"/>
              </a:rPr>
              <a:t>Conversion: </a:t>
            </a:r>
            <a:endParaRPr lang="en-US" altLang="en-US" sz="1800" b="1"/>
          </a:p>
          <a:p>
            <a:pPr marL="0" indent="0">
              <a:buNone/>
            </a:pPr>
            <a:r>
              <a:rPr lang="en-US" altLang="en-US" sz="1800" b="1">
                <a:sym typeface="+mn-ea"/>
              </a:rPr>
              <a:t>Definition: Changing a word's function without altering its form.</a:t>
            </a:r>
            <a:endParaRPr lang="en-US" altLang="en-US" sz="1800" b="1"/>
          </a:p>
          <a:p>
            <a:pPr marL="0" indent="0">
              <a:buNone/>
            </a:pPr>
            <a:r>
              <a:rPr lang="en-US" altLang="en-US" sz="1800" b="1">
                <a:sym typeface="+mn-ea"/>
              </a:rPr>
              <a:t>Examples: Google (verb), butter (verb)</a:t>
            </a:r>
            <a:endParaRPr lang="en-US" altLang="en-US" sz="1800" b="1"/>
          </a:p>
          <a:p>
            <a:pPr marL="0" indent="0">
              <a:buNone/>
            </a:pPr>
            <a:r>
              <a:rPr lang="en-US" altLang="en-US" sz="1800" b="1">
                <a:sym typeface="+mn-ea"/>
              </a:rPr>
              <a:t>Link: https://en.wikipedia.org/wiki/Conversion_(linguistics)</a:t>
            </a:r>
            <a:endParaRPr lang="en-US" altLang="en-US" sz="1800" b="1"/>
          </a:p>
          <a:p>
            <a:r>
              <a:rPr lang="en-US" altLang="en-US" sz="1800" b="1">
                <a:sym typeface="+mn-ea"/>
              </a:rPr>
              <a:t>Back Formation: </a:t>
            </a:r>
            <a:endParaRPr lang="en-US" altLang="en-US" sz="1800" b="1"/>
          </a:p>
          <a:p>
            <a:pPr marL="0" indent="0">
              <a:buNone/>
            </a:pPr>
            <a:r>
              <a:rPr lang="en-US" altLang="en-US" sz="1800" b="1">
                <a:sym typeface="+mn-ea"/>
              </a:rPr>
              <a:t>Definition: Forming a new word by removing affixes.</a:t>
            </a:r>
            <a:endParaRPr lang="en-US" altLang="en-US" sz="1800" b="1"/>
          </a:p>
          <a:p>
            <a:pPr marL="0" indent="0">
              <a:buNone/>
            </a:pPr>
            <a:r>
              <a:rPr lang="en-US" altLang="en-US" sz="1800" b="1">
                <a:sym typeface="+mn-ea"/>
              </a:rPr>
              <a:t>Examples: edit from editor, burgle from burglar</a:t>
            </a:r>
            <a:endParaRPr lang="en-US" altLang="en-US" sz="1800" b="1"/>
          </a:p>
          <a:p>
            <a:pPr marL="0" indent="0">
              <a:buNone/>
            </a:pPr>
            <a:r>
              <a:rPr lang="en-US" altLang="en-US" sz="1800" b="1">
                <a:sym typeface="+mn-ea"/>
              </a:rPr>
              <a:t>Link: https://en.wikipedia.org/wiki/Back-formation</a:t>
            </a:r>
            <a:endParaRPr lang="en-US" altLang="en-US" sz="1800" b="1"/>
          </a:p>
          <a:p>
            <a:pPr marL="0" indent="0">
              <a:buNone/>
            </a:pPr>
            <a:endParaRPr lang="en-US" altLang="en-US" sz="1800" b="1"/>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57935" y="1066800"/>
            <a:ext cx="10324465" cy="5059680"/>
          </a:xfrm>
        </p:spPr>
        <p:txBody>
          <a:bodyPr>
            <a:normAutofit fontScale="85000" lnSpcReduction="20000"/>
          </a:bodyPr>
          <a:lstStyle/>
          <a:p>
            <a:r>
              <a:rPr lang="en-US" altLang="en-US" b="1">
                <a:sym typeface="+mn-ea"/>
              </a:rPr>
              <a:t>Blending: </a:t>
            </a:r>
            <a:endParaRPr lang="en-US" altLang="en-US" b="1"/>
          </a:p>
          <a:p>
            <a:pPr marL="0" indent="0">
              <a:buNone/>
            </a:pPr>
            <a:r>
              <a:rPr lang="en-US" altLang="en-US" b="1">
                <a:sym typeface="+mn-ea"/>
              </a:rPr>
              <a:t>Definition: Merging parts of two words into one.</a:t>
            </a:r>
            <a:endParaRPr lang="en-US" altLang="en-US" b="1"/>
          </a:p>
          <a:p>
            <a:pPr marL="0" indent="0">
              <a:buNone/>
            </a:pPr>
            <a:r>
              <a:rPr lang="en-US" altLang="en-US" b="1">
                <a:sym typeface="+mn-ea"/>
              </a:rPr>
              <a:t>Examples: brunch (breakfast+lunch), smog (smoke+fog)</a:t>
            </a:r>
            <a:endParaRPr lang="en-US" altLang="en-US" b="1"/>
          </a:p>
          <a:p>
            <a:pPr marL="0" indent="0">
              <a:buNone/>
            </a:pPr>
            <a:r>
              <a:rPr lang="en-US" altLang="en-US" b="1">
                <a:sym typeface="+mn-ea"/>
              </a:rPr>
              <a:t>Link: https://en.wikipedia.org/wiki/Blend_word</a:t>
            </a:r>
            <a:endParaRPr lang="en-US" altLang="en-US" b="1"/>
          </a:p>
          <a:p>
            <a:r>
              <a:rPr lang="en-US" altLang="en-US" b="1">
                <a:sym typeface="+mn-ea"/>
              </a:rPr>
              <a:t>Clipping: </a:t>
            </a:r>
            <a:endParaRPr lang="en-US" altLang="en-US" b="1"/>
          </a:p>
          <a:p>
            <a:pPr marL="0" indent="0">
              <a:buNone/>
            </a:pPr>
            <a:r>
              <a:rPr lang="en-US" altLang="en-US" b="1">
                <a:sym typeface="+mn-ea"/>
              </a:rPr>
              <a:t>Definition: Shortening a longer word.</a:t>
            </a:r>
            <a:endParaRPr lang="en-US" altLang="en-US" b="1"/>
          </a:p>
          <a:p>
            <a:pPr marL="0" indent="0">
              <a:buNone/>
            </a:pPr>
            <a:r>
              <a:rPr lang="en-US" altLang="en-US" b="1">
                <a:sym typeface="+mn-ea"/>
              </a:rPr>
              <a:t>Examples: exam (examination), phone (telephone)</a:t>
            </a:r>
            <a:endParaRPr lang="en-US" altLang="en-US" b="1"/>
          </a:p>
          <a:p>
            <a:pPr marL="0" indent="0">
              <a:buNone/>
            </a:pPr>
            <a:r>
              <a:rPr lang="en-US" altLang="en-US" b="1">
                <a:sym typeface="+mn-ea"/>
              </a:rPr>
              <a:t>Link: https://en.wikipedia.org/wiki/Clipping_(morphology)</a:t>
            </a:r>
            <a:endParaRPr lang="en-US" altLang="en-US" b="1"/>
          </a:p>
          <a:p>
            <a:r>
              <a:rPr lang="en-US" altLang="en-US" b="1">
                <a:sym typeface="+mn-ea"/>
              </a:rPr>
              <a:t>Derivation: </a:t>
            </a:r>
            <a:endParaRPr lang="en-US" altLang="en-US" b="1"/>
          </a:p>
          <a:p>
            <a:pPr marL="0" indent="0">
              <a:buNone/>
            </a:pPr>
            <a:r>
              <a:rPr lang="en-US" altLang="en-US" b="1">
                <a:sym typeface="+mn-ea"/>
              </a:rPr>
              <a:t>Definition: Forming a new word by adding derivational affixes.</a:t>
            </a:r>
            <a:endParaRPr lang="en-US" altLang="en-US" b="1"/>
          </a:p>
          <a:p>
            <a:pPr marL="0" indent="0">
              <a:buNone/>
            </a:pPr>
            <a:r>
              <a:rPr lang="en-US" altLang="en-US" b="1">
                <a:sym typeface="+mn-ea"/>
              </a:rPr>
              <a:t>Examples: happiness, unfriendly</a:t>
            </a:r>
            <a:endParaRPr lang="en-US" altLang="en-US" b="1"/>
          </a:p>
          <a:p>
            <a:pPr marL="0" indent="0">
              <a:buNone/>
            </a:pPr>
            <a:r>
              <a:rPr lang="en-US" altLang="en-US" b="1">
                <a:sym typeface="+mn-ea"/>
              </a:rPr>
              <a:t>Link: https://en.wikipedia.org/wiki/Derivation_(linguistics)</a:t>
            </a:r>
            <a:endParaRPr lang="en-US" altLang="en-US" b="1"/>
          </a:p>
          <a:p>
            <a:pPr marL="0" indent="0">
              <a:buNone/>
            </a:pPr>
            <a:endParaRPr lang="en-US" altLang="en-US" b="1"/>
          </a:p>
          <a:p>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55065" y="743585"/>
            <a:ext cx="10427335" cy="5382895"/>
          </a:xfrm>
        </p:spPr>
        <p:txBody>
          <a:bodyPr/>
          <a:lstStyle/>
          <a:p>
            <a:pPr marL="0" indent="0" algn="ctr">
              <a:buNone/>
            </a:pPr>
            <a:r>
              <a:rPr lang="en-US" altLang="en-US" b="1">
                <a:sym typeface="+mn-ea"/>
              </a:rPr>
              <a:t>Vocabulary Building</a:t>
            </a:r>
            <a:endParaRPr lang="en-US" altLang="en-US" b="1"/>
          </a:p>
          <a:p>
            <a:r>
              <a:rPr lang="en-US" altLang="en-US" sz="2000" b="1">
                <a:sym typeface="+mn-ea"/>
              </a:rPr>
              <a:t>Antonyms: </a:t>
            </a:r>
            <a:endParaRPr lang="en-US" altLang="en-US" sz="2000" b="1"/>
          </a:p>
          <a:p>
            <a:pPr marL="0" indent="0">
              <a:buNone/>
            </a:pPr>
            <a:r>
              <a:rPr lang="en-US" altLang="en-US" sz="2000" b="1">
                <a:sym typeface="+mn-ea"/>
              </a:rPr>
              <a:t>Definition: Words with opposite meanings.</a:t>
            </a:r>
            <a:endParaRPr lang="en-US" altLang="en-US" sz="2000" b="1"/>
          </a:p>
          <a:p>
            <a:pPr marL="0" indent="0">
              <a:buNone/>
            </a:pPr>
            <a:r>
              <a:rPr lang="en-US" altLang="en-US" sz="2000" b="1">
                <a:sym typeface="+mn-ea"/>
              </a:rPr>
              <a:t>Examples: hot &lt;-&gt; cold, success &lt;-&gt; failure</a:t>
            </a:r>
            <a:endParaRPr lang="en-US" altLang="en-US" sz="2000" b="1"/>
          </a:p>
          <a:p>
            <a:pPr marL="0" indent="0">
              <a:buNone/>
            </a:pPr>
            <a:r>
              <a:rPr lang="en-US" altLang="en-US" sz="2000" b="1">
                <a:sym typeface="+mn-ea"/>
              </a:rPr>
              <a:t>Link: https://www.thoughtco.com/antonym-words-1691879</a:t>
            </a:r>
            <a:endParaRPr lang="en-US" altLang="en-US" sz="2000" b="1"/>
          </a:p>
          <a:p>
            <a:r>
              <a:rPr lang="en-US" altLang="en-US" sz="2000" b="1">
                <a:sym typeface="+mn-ea"/>
              </a:rPr>
              <a:t>Synonyms: </a:t>
            </a:r>
            <a:endParaRPr lang="en-US" altLang="en-US" sz="2000" b="1"/>
          </a:p>
          <a:p>
            <a:pPr marL="0" indent="0">
              <a:buNone/>
            </a:pPr>
            <a:r>
              <a:rPr lang="en-US" altLang="en-US" sz="2000" b="1">
                <a:sym typeface="+mn-ea"/>
              </a:rPr>
              <a:t>Definition: Words with similar meanings.</a:t>
            </a:r>
            <a:endParaRPr lang="en-US" altLang="en-US" sz="2000" b="1"/>
          </a:p>
          <a:p>
            <a:pPr marL="0" indent="0">
              <a:buNone/>
            </a:pPr>
            <a:r>
              <a:rPr lang="en-US" altLang="en-US" sz="2000" b="1">
                <a:sym typeface="+mn-ea"/>
              </a:rPr>
              <a:t>Examples: big &lt;-&gt; large, smart &lt;-&gt; intelligent</a:t>
            </a:r>
            <a:endParaRPr lang="en-US" altLang="en-US" sz="2000" b="1"/>
          </a:p>
          <a:p>
            <a:pPr marL="0" indent="0">
              <a:buNone/>
            </a:pPr>
            <a:r>
              <a:rPr lang="en-US" altLang="en-US" sz="2000" b="1">
                <a:sym typeface="+mn-ea"/>
              </a:rPr>
              <a:t>Link: https://www.thesaurus.com/</a:t>
            </a:r>
            <a:endParaRPr lang="en-US" altLang="en-US" sz="2000" b="1"/>
          </a:p>
          <a:p>
            <a:r>
              <a:rPr lang="en-US" altLang="en-US" sz="2000" b="1">
                <a:sym typeface="+mn-ea"/>
              </a:rPr>
              <a:t>Homophones: </a:t>
            </a:r>
            <a:endParaRPr lang="en-US" altLang="en-US" sz="2000" b="1"/>
          </a:p>
          <a:p>
            <a:pPr marL="0" indent="0">
              <a:buNone/>
            </a:pPr>
            <a:r>
              <a:rPr lang="en-US" altLang="en-US" sz="2000" b="1">
                <a:sym typeface="+mn-ea"/>
              </a:rPr>
              <a:t>Cheat Sheet: Word Formation, Vocabulary &amp; Subject-Verb Agreement</a:t>
            </a:r>
            <a:endParaRPr lang="en-US" altLang="en-US" sz="2000" b="1"/>
          </a:p>
          <a:p>
            <a:pPr marL="0" indent="0">
              <a:buNone/>
            </a:pPr>
            <a:r>
              <a:rPr lang="en-US" altLang="en-US" sz="2000" b="1">
                <a:sym typeface="+mn-ea"/>
              </a:rPr>
              <a:t>Definition: Words that sound the same but differ in meaning/spelling.</a:t>
            </a:r>
            <a:endParaRPr lang="en-US" altLang="en-US" sz="2000" b="1"/>
          </a:p>
          <a:p>
            <a:pPr marL="0" indent="0">
              <a:buNone/>
            </a:pPr>
            <a:r>
              <a:rPr lang="en-US" altLang="en-US" sz="2000" b="1">
                <a:sym typeface="+mn-ea"/>
              </a:rPr>
              <a:t>Examples: pair/pear, right/write</a:t>
            </a:r>
            <a:endParaRPr lang="en-US" altLang="en-US" sz="2000" b="1"/>
          </a:p>
          <a:p>
            <a:pPr marL="0" indent="0">
              <a:buNone/>
            </a:pPr>
            <a:r>
              <a:rPr lang="en-US" altLang="en-US" sz="2000" b="1">
                <a:sym typeface="+mn-ea"/>
              </a:rPr>
              <a:t>Link: https://www.grammarly.com/blog/homophones/</a:t>
            </a:r>
            <a:endParaRPr lang="en-US" altLang="en-US" sz="2000" b="1"/>
          </a:p>
          <a:p>
            <a:pPr marL="0" indent="0">
              <a:buNone/>
            </a:pPr>
            <a:endParaRPr lang="en-US" sz="2000" b="1"/>
          </a:p>
          <a:p>
            <a:pPr marL="0" indent="0">
              <a:buNone/>
            </a:pPr>
            <a:endParaRPr lang="en-US" sz="2000" b="1"/>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55370" y="908685"/>
            <a:ext cx="9250045" cy="4526280"/>
          </a:xfrm>
        </p:spPr>
        <p:txBody>
          <a:bodyPr>
            <a:noAutofit/>
          </a:bodyPr>
          <a:lstStyle/>
          <a:p>
            <a:pPr marL="0" indent="0" algn="ctr">
              <a:buNone/>
            </a:pPr>
            <a:r>
              <a:rPr lang="en-US" altLang="en-US" b="1">
                <a:sym typeface="+mn-ea"/>
              </a:rPr>
              <a:t> Subject-Verb Agreement &amp; Verb Types</a:t>
            </a:r>
            <a:endParaRPr lang="en-US" altLang="en-US" b="1"/>
          </a:p>
          <a:p>
            <a:r>
              <a:rPr lang="en-US" altLang="en-US" sz="2000" b="1">
                <a:sym typeface="+mn-ea"/>
              </a:rPr>
              <a:t>Finite Verb: </a:t>
            </a:r>
            <a:endParaRPr lang="en-US" altLang="en-US" sz="2000" b="1"/>
          </a:p>
          <a:p>
            <a:pPr marL="0" indent="0">
              <a:buNone/>
            </a:pPr>
            <a:r>
              <a:rPr lang="en-US" altLang="en-US" sz="2000" b="1">
                <a:sym typeface="+mn-ea"/>
              </a:rPr>
              <a:t>Definition: Verb form that changes with tense/person/number.</a:t>
            </a:r>
            <a:endParaRPr lang="en-US" altLang="en-US" sz="2000" b="1"/>
          </a:p>
          <a:p>
            <a:pPr marL="0" indent="0">
              <a:buNone/>
            </a:pPr>
            <a:r>
              <a:rPr lang="en-US" altLang="en-US" sz="2000" b="1">
                <a:sym typeface="+mn-ea"/>
              </a:rPr>
              <a:t>Examples: She runs, They played</a:t>
            </a:r>
            <a:endParaRPr lang="en-US" altLang="en-US" sz="2000" b="1"/>
          </a:p>
          <a:p>
            <a:pPr marL="0" indent="0">
              <a:buNone/>
            </a:pPr>
            <a:r>
              <a:rPr lang="en-US" altLang="en-US" sz="2000" b="1">
                <a:sym typeface="+mn-ea"/>
              </a:rPr>
              <a:t>Link: https://www.grammarly.com/blog/finite-and-nonfinite-verbs/</a:t>
            </a:r>
            <a:endParaRPr lang="en-US" altLang="en-US" sz="2000" b="1"/>
          </a:p>
          <a:p>
            <a:r>
              <a:rPr lang="en-US" altLang="en-US" sz="2000" b="1">
                <a:sym typeface="+mn-ea"/>
              </a:rPr>
              <a:t>Non-finite Verb: </a:t>
            </a:r>
            <a:endParaRPr lang="en-US" altLang="en-US" sz="2000" b="1"/>
          </a:p>
          <a:p>
            <a:pPr marL="0" indent="0">
              <a:buNone/>
            </a:pPr>
            <a:r>
              <a:rPr lang="en-US" altLang="en-US" sz="2000" b="1">
                <a:sym typeface="+mn-ea"/>
              </a:rPr>
              <a:t>Definition: Verb form not limited by tense/person/number.</a:t>
            </a:r>
            <a:endParaRPr lang="en-US" altLang="en-US" sz="2000" b="1"/>
          </a:p>
          <a:p>
            <a:pPr marL="0" indent="0">
              <a:buNone/>
            </a:pPr>
            <a:r>
              <a:rPr lang="en-US" altLang="en-US" sz="2000" b="1">
                <a:sym typeface="+mn-ea"/>
              </a:rPr>
              <a:t>Examples: to read, reading books</a:t>
            </a:r>
            <a:endParaRPr lang="en-US" altLang="en-US" sz="2000" b="1"/>
          </a:p>
          <a:p>
            <a:pPr marL="0" indent="0">
              <a:buNone/>
            </a:pPr>
            <a:r>
              <a:rPr lang="en-US" altLang="en-US" sz="2000" b="1">
                <a:sym typeface="+mn-ea"/>
              </a:rPr>
              <a:t>Link: https://www.grammarly.com/blog/finite-and-nonfinite-verbs/</a:t>
            </a:r>
            <a:endParaRPr lang="en-US" altLang="en-US" sz="2000" b="1"/>
          </a:p>
          <a:p>
            <a:endParaRPr lang="en-US" altLang="en-US" sz="2000" b="1"/>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60475" y="806450"/>
            <a:ext cx="10321925" cy="5320030"/>
          </a:xfrm>
        </p:spPr>
        <p:txBody>
          <a:bodyPr>
            <a:normAutofit fontScale="85000" lnSpcReduction="20000"/>
          </a:bodyPr>
          <a:lstStyle/>
          <a:p>
            <a:r>
              <a:rPr lang="en-US" altLang="en-US" b="1">
                <a:sym typeface="+mn-ea"/>
              </a:rPr>
              <a:t>Gerund: </a:t>
            </a:r>
            <a:endParaRPr lang="en-US" altLang="en-US" b="1"/>
          </a:p>
          <a:p>
            <a:pPr marL="0" indent="0">
              <a:buNone/>
            </a:pPr>
            <a:r>
              <a:rPr lang="en-US" altLang="en-US" b="1">
                <a:sym typeface="+mn-ea"/>
              </a:rPr>
              <a:t>Definition: Verb ending in -ing used as a noun.</a:t>
            </a:r>
            <a:endParaRPr lang="en-US" altLang="en-US" b="1"/>
          </a:p>
          <a:p>
            <a:pPr marL="0" indent="0">
              <a:buNone/>
            </a:pPr>
            <a:r>
              <a:rPr lang="en-US" altLang="en-US" b="1">
                <a:sym typeface="+mn-ea"/>
              </a:rPr>
              <a:t>Examples: Swimming is fun, I love reading</a:t>
            </a:r>
            <a:endParaRPr lang="en-US" altLang="en-US" b="1"/>
          </a:p>
          <a:p>
            <a:pPr marL="0" indent="0">
              <a:buNone/>
            </a:pPr>
            <a:r>
              <a:rPr lang="en-US" altLang="en-US" b="1">
                <a:sym typeface="+mn-ea"/>
              </a:rPr>
              <a:t>Link: https://www.grammarly.com/blog/gerund/</a:t>
            </a:r>
            <a:endParaRPr lang="en-US" altLang="en-US" b="1"/>
          </a:p>
          <a:p>
            <a:r>
              <a:rPr lang="en-US" altLang="en-US" b="1">
                <a:sym typeface="+mn-ea"/>
              </a:rPr>
              <a:t>Infinitive: </a:t>
            </a:r>
            <a:endParaRPr lang="en-US" altLang="en-US" b="1"/>
          </a:p>
          <a:p>
            <a:pPr marL="0" indent="0">
              <a:buNone/>
            </a:pPr>
            <a:r>
              <a:rPr lang="en-US" altLang="en-US" b="1">
                <a:sym typeface="+mn-ea"/>
              </a:rPr>
              <a:t>Definition: Base form of verb often with 'to'.</a:t>
            </a:r>
            <a:endParaRPr lang="en-US" altLang="en-US" b="1"/>
          </a:p>
          <a:p>
            <a:pPr marL="0" indent="0">
              <a:buNone/>
            </a:pPr>
            <a:r>
              <a:rPr lang="en-US" altLang="en-US" b="1">
                <a:sym typeface="+mn-ea"/>
              </a:rPr>
              <a:t>Examples: to dance, to learn</a:t>
            </a:r>
            <a:endParaRPr lang="en-US" altLang="en-US" b="1"/>
          </a:p>
          <a:p>
            <a:pPr marL="0" indent="0">
              <a:buNone/>
            </a:pPr>
            <a:r>
              <a:rPr lang="en-US" altLang="en-US" b="1">
                <a:sym typeface="+mn-ea"/>
              </a:rPr>
              <a:t>Link: https://www.grammarly.com/blog/infinitive/</a:t>
            </a:r>
            <a:endParaRPr lang="en-US" altLang="en-US" b="1"/>
          </a:p>
          <a:p>
            <a:r>
              <a:rPr lang="en-US" altLang="en-US" b="1">
                <a:sym typeface="+mn-ea"/>
              </a:rPr>
              <a:t>Participle Verb: </a:t>
            </a:r>
            <a:endParaRPr lang="en-US" altLang="en-US" b="1"/>
          </a:p>
          <a:p>
            <a:pPr marL="0" indent="0">
              <a:buNone/>
            </a:pPr>
            <a:r>
              <a:rPr lang="en-US" altLang="en-US" b="1">
                <a:sym typeface="+mn-ea"/>
              </a:rPr>
              <a:t>Definition: Verb form used as adjective or in verb tense formation.</a:t>
            </a:r>
            <a:endParaRPr lang="en-US" altLang="en-US" b="1"/>
          </a:p>
          <a:p>
            <a:pPr marL="0" indent="0">
              <a:buNone/>
            </a:pPr>
            <a:r>
              <a:rPr lang="en-US" altLang="en-US" b="1">
                <a:sym typeface="+mn-ea"/>
              </a:rPr>
              <a:t>Examples: The running water, Baked bread</a:t>
            </a:r>
            <a:endParaRPr lang="en-US" altLang="en-US" b="1"/>
          </a:p>
          <a:p>
            <a:pPr marL="0" indent="0">
              <a:buNone/>
            </a:pPr>
            <a:r>
              <a:rPr lang="en-US" altLang="en-US" b="1">
                <a:sym typeface="+mn-ea"/>
              </a:rPr>
              <a:t>Link: https://www.grammarly.com/blog/partici</a:t>
            </a:r>
            <a:endParaRPr lang="en-US" altLang="en-US" b="1"/>
          </a:p>
          <a:p>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733410" y="139638"/>
            <a:ext cx="8467046" cy="487362"/>
          </a:xfrm>
          <a:prstGeom prst="rect">
            <a:avLst/>
          </a:prstGeom>
          <a:ln>
            <a:noFill/>
          </a:ln>
        </p:spPr>
        <p:txBody>
          <a:bodyPr>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endParaRPr lang="en-US" sz="3800" b="1" dirty="0">
              <a:latin typeface="+mn-lt"/>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4" name="Content Placeholder 2"/>
          <p:cNvSpPr>
            <a:spLocks noGrp="1"/>
          </p:cNvSpPr>
          <p:nvPr/>
        </p:nvSpPr>
        <p:spPr>
          <a:xfrm>
            <a:off x="1844040" y="1143000"/>
            <a:ext cx="8503920" cy="4572000"/>
          </a:xfrm>
          <a:prstGeom prst="rect">
            <a:avLst/>
          </a:prstGeom>
        </p:spPr>
        <p:txBody>
          <a:bodyPr vert="horz">
            <a:normAutofit/>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marL="0" indent="0" algn="ctr">
              <a:buNone/>
            </a:pPr>
            <a:r>
              <a:rPr lang="en-IN" altLang="en-US" sz="3600" b="1" u="sng" dirty="0"/>
              <a:t>RULES</a:t>
            </a:r>
            <a:endParaRPr lang="en-US" sz="3600" b="1" i="1" u="sng" dirty="0"/>
          </a:p>
          <a:p>
            <a:pPr marL="0" indent="0" algn="ctr">
              <a:buNone/>
            </a:pPr>
            <a:r>
              <a:rPr lang="en-US" sz="4400" b="1" u="sng" dirty="0">
                <a:latin typeface="Calibri" panose="020F0502020204030204" pitchFamily="34" charset="0"/>
                <a:cs typeface="Calibri" panose="020F0502020204030204" pitchFamily="34" charset="0"/>
              </a:rPr>
              <a:t>Subject – Verb Agreement</a:t>
            </a:r>
            <a:r>
              <a:rPr lang="en-US" sz="3200" b="1" i="1" u="sng" dirty="0"/>
              <a:t> </a:t>
            </a:r>
            <a:endParaRPr lang="en-US" sz="3200" dirty="0"/>
          </a:p>
          <a:p>
            <a:pPr marL="0" indent="0" algn="ctr">
              <a:buNone/>
            </a:pPr>
            <a:r>
              <a:rPr lang="en-US" sz="2400" i="1" dirty="0">
                <a:latin typeface="Arial" panose="020B0604020202020204" pitchFamily="34" charset="0"/>
                <a:cs typeface="Arial" panose="020B0604020202020204" pitchFamily="34" charset="0"/>
              </a:rPr>
              <a:t> </a:t>
            </a:r>
          </a:p>
          <a:p>
            <a:pPr marL="0" indent="0" algn="ctr">
              <a:buNone/>
            </a:pPr>
            <a:r>
              <a:rPr lang="en-US" sz="2800" dirty="0">
                <a:latin typeface="Calibri" panose="020F0502020204030204" pitchFamily="34" charset="0"/>
                <a:cs typeface="Calibri" panose="020F0502020204030204" pitchFamily="34" charset="0"/>
              </a:rPr>
              <a:t>Agreement of a verb with its subject. </a:t>
            </a:r>
          </a:p>
        </p:txBody>
      </p:sp>
    </p:spTree>
  </p:cSld>
  <p:clrMapOvr>
    <a:masterClrMapping/>
  </p:clrMapOvr>
  <mc:AlternateContent xmlns:mc="http://schemas.openxmlformats.org/markup-compatibility/2006" xmlns:p14="http://schemas.microsoft.com/office/powerpoint/2010/main">
    <mc:Choice Requires="p14">
      <p:transition spd="slow" p14:dur="2000" advTm="3423"/>
    </mc:Choice>
    <mc:Fallback xmlns="">
      <p:transition spd="slow" advTm="342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4" name="TextBox 3"/>
          <p:cNvSpPr txBox="1"/>
          <p:nvPr/>
        </p:nvSpPr>
        <p:spPr>
          <a:xfrm>
            <a:off x="3359696" y="181892"/>
            <a:ext cx="4608512" cy="769441"/>
          </a:xfrm>
          <a:prstGeom prst="rect">
            <a:avLst/>
          </a:prstGeom>
          <a:noFill/>
        </p:spPr>
        <p:txBody>
          <a:bodyPr wrap="square" rtlCol="0">
            <a:spAutoFit/>
          </a:bodyPr>
          <a:lstStyle/>
          <a:p>
            <a:pPr algn="ctr"/>
            <a:r>
              <a:rPr lang="en-US" sz="4400" b="1" dirty="0">
                <a:solidFill>
                  <a:srgbClr val="FF0000"/>
                </a:solidFill>
                <a:latin typeface="Calibri" panose="020F0502020204030204" pitchFamily="34" charset="0"/>
                <a:cs typeface="Calibri" panose="020F0502020204030204" pitchFamily="34" charset="0"/>
              </a:rPr>
              <a:t>Thumb Rule</a:t>
            </a:r>
            <a:endParaRPr lang="en-US" sz="4400" dirty="0">
              <a:solidFill>
                <a:srgbClr val="FF0000"/>
              </a:solidFill>
              <a:latin typeface="Calibri" panose="020F0502020204030204" pitchFamily="34" charset="0"/>
              <a:cs typeface="Calibri" panose="020F0502020204030204" pitchFamily="34" charset="0"/>
            </a:endParaRPr>
          </a:p>
        </p:txBody>
      </p:sp>
      <p:sp>
        <p:nvSpPr>
          <p:cNvPr id="6" name="Content Placeholder 2"/>
          <p:cNvSpPr>
            <a:spLocks noGrp="1"/>
          </p:cNvSpPr>
          <p:nvPr/>
        </p:nvSpPr>
        <p:spPr>
          <a:xfrm>
            <a:off x="947428" y="1143000"/>
            <a:ext cx="10333148" cy="5094312"/>
          </a:xfrm>
          <a:prstGeom prst="rect">
            <a:avLst/>
          </a:prstGeom>
        </p:spPr>
        <p:txBody>
          <a:bodyPr vert="horz">
            <a:normAutofit/>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nSpc>
                <a:spcPct val="150000"/>
              </a:lnSpc>
            </a:pPr>
            <a:r>
              <a:rPr lang="en-US" sz="2400" b="1" dirty="0">
                <a:latin typeface="Calibri" panose="020F0502020204030204" pitchFamily="34" charset="0"/>
                <a:cs typeface="Calibri" panose="020F0502020204030204" pitchFamily="34" charset="0"/>
              </a:rPr>
              <a:t>A singular subject demands a singular verb; a plural subject demands a plural verb. That is the simple principle behind </a:t>
            </a:r>
            <a:r>
              <a:rPr lang="en-US" sz="2400" b="1" u="sng" dirty="0">
                <a:latin typeface="Calibri" panose="020F0502020204030204" pitchFamily="34" charset="0"/>
                <a:cs typeface="Calibri" panose="020F0502020204030204" pitchFamily="34" charset="0"/>
              </a:rPr>
              <a:t>subject-verb agreement</a:t>
            </a:r>
            <a:r>
              <a:rPr lang="en-US" sz="2400" b="1" i="1" dirty="0"/>
              <a:t>.</a:t>
            </a:r>
          </a:p>
          <a:p>
            <a:pPr lvl="1"/>
            <a:r>
              <a:rPr lang="en-US" sz="2000" dirty="0">
                <a:latin typeface="Calibri" panose="020F0502020204030204" pitchFamily="34" charset="0"/>
                <a:cs typeface="Calibri" panose="020F0502020204030204" pitchFamily="34" charset="0"/>
              </a:rPr>
              <a:t>The </a:t>
            </a:r>
            <a:r>
              <a:rPr lang="en-US" sz="2000" b="1" i="1" dirty="0">
                <a:latin typeface="Calibri" panose="020F0502020204030204" pitchFamily="34" charset="0"/>
                <a:cs typeface="Calibri" panose="020F0502020204030204" pitchFamily="34" charset="0"/>
              </a:rPr>
              <a:t>list</a:t>
            </a:r>
            <a:r>
              <a:rPr lang="en-US" sz="2000" b="1"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of items </a:t>
            </a:r>
            <a:r>
              <a:rPr lang="en-US" sz="2000" b="1" i="1" dirty="0">
                <a:latin typeface="Calibri" panose="020F0502020204030204" pitchFamily="34" charset="0"/>
                <a:cs typeface="Calibri" panose="020F0502020204030204" pitchFamily="34" charset="0"/>
              </a:rPr>
              <a:t>is</a:t>
            </a:r>
            <a:r>
              <a:rPr lang="en-US" sz="2000" dirty="0">
                <a:latin typeface="Calibri" panose="020F0502020204030204" pitchFamily="34" charset="0"/>
                <a:cs typeface="Calibri" panose="020F0502020204030204" pitchFamily="34" charset="0"/>
              </a:rPr>
              <a:t> on the desk.</a:t>
            </a:r>
          </a:p>
          <a:p>
            <a:pPr lvl="1"/>
            <a:r>
              <a:rPr lang="en-US" sz="2000" dirty="0">
                <a:latin typeface="Calibri" panose="020F0502020204030204" pitchFamily="34" charset="0"/>
                <a:cs typeface="Calibri" panose="020F0502020204030204" pitchFamily="34" charset="0"/>
              </a:rPr>
              <a:t>The </a:t>
            </a:r>
            <a:r>
              <a:rPr lang="en-US" sz="2000" b="1" i="1" dirty="0">
                <a:latin typeface="Calibri" panose="020F0502020204030204" pitchFamily="34" charset="0"/>
                <a:cs typeface="Calibri" panose="020F0502020204030204" pitchFamily="34" charset="0"/>
              </a:rPr>
              <a:t>dog growls</a:t>
            </a:r>
            <a:r>
              <a:rPr lang="en-US" sz="2000" b="1"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when he is angry. </a:t>
            </a:r>
          </a:p>
          <a:p>
            <a:pPr lvl="1"/>
            <a:r>
              <a:rPr lang="en-US" sz="2000" dirty="0">
                <a:latin typeface="Calibri" panose="020F0502020204030204" pitchFamily="34" charset="0"/>
                <a:cs typeface="Calibri" panose="020F0502020204030204" pitchFamily="34" charset="0"/>
              </a:rPr>
              <a:t>The </a:t>
            </a:r>
            <a:r>
              <a:rPr lang="en-US" sz="2000" b="1" i="1" dirty="0">
                <a:latin typeface="Calibri" panose="020F0502020204030204" pitchFamily="34" charset="0"/>
                <a:cs typeface="Calibri" panose="020F0502020204030204" pitchFamily="34" charset="0"/>
              </a:rPr>
              <a:t>dogs growl</a:t>
            </a:r>
            <a:r>
              <a:rPr lang="en-US" sz="2000" dirty="0">
                <a:latin typeface="Calibri" panose="020F0502020204030204" pitchFamily="34" charset="0"/>
                <a:cs typeface="Calibri" panose="020F0502020204030204" pitchFamily="34" charset="0"/>
              </a:rPr>
              <a:t> when they are angry</a:t>
            </a:r>
            <a:r>
              <a:rPr lang="en-US" sz="2400" dirty="0"/>
              <a:t>.</a:t>
            </a:r>
          </a:p>
        </p:txBody>
      </p:sp>
    </p:spTree>
  </p:cSld>
  <p:clrMapOvr>
    <a:masterClrMapping/>
  </p:clrMapOvr>
  <mc:AlternateContent xmlns:mc="http://schemas.openxmlformats.org/markup-compatibility/2006" xmlns:p14="http://schemas.microsoft.com/office/powerpoint/2010/main">
    <mc:Choice Requires="p14">
      <p:transition spd="slow" p14:dur="2000" advTm="3423"/>
    </mc:Choice>
    <mc:Fallback xmlns="">
      <p:transition spd="slow" advTm="342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3" name="Title 1"/>
          <p:cNvSpPr>
            <a:spLocks noGrp="1"/>
          </p:cNvSpPr>
          <p:nvPr/>
        </p:nvSpPr>
        <p:spPr>
          <a:xfrm>
            <a:off x="2351584" y="31419"/>
            <a:ext cx="8534400" cy="758952"/>
          </a:xfrm>
          <a:prstGeom prst="rect">
            <a:avLst/>
          </a:prstGeom>
        </p:spPr>
        <p:txBody>
          <a:bodyPr vert="horz" anchor="b">
            <a:no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US" sz="4400" b="1" dirty="0">
                <a:latin typeface="Calibri" panose="020F0502020204030204" pitchFamily="34" charset="0"/>
                <a:cs typeface="Calibri" panose="020F0502020204030204" pitchFamily="34" charset="0"/>
              </a:rPr>
              <a:t>Use of Indefinite Pronouns</a:t>
            </a:r>
          </a:p>
        </p:txBody>
      </p:sp>
      <p:sp>
        <p:nvSpPr>
          <p:cNvPr id="4" name="Content Placeholder 2"/>
          <p:cNvSpPr>
            <a:spLocks noGrp="1"/>
          </p:cNvSpPr>
          <p:nvPr/>
        </p:nvSpPr>
        <p:spPr>
          <a:xfrm>
            <a:off x="1989049" y="1143000"/>
            <a:ext cx="8229600" cy="5715000"/>
          </a:xfrm>
          <a:prstGeom prst="rect">
            <a:avLst/>
          </a:prstGeom>
        </p:spPr>
        <p:txBody>
          <a:bodyPr vert="horz">
            <a:normAutofit fontScale="40000" lnSpcReduction="20000"/>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gn="just">
              <a:lnSpc>
                <a:spcPct val="170000"/>
              </a:lnSpc>
            </a:pPr>
            <a:r>
              <a:rPr lang="en-US" sz="5000" b="1" dirty="0">
                <a:latin typeface="Calibri" panose="020F0502020204030204" pitchFamily="34" charset="0"/>
                <a:cs typeface="Calibri" panose="020F0502020204030204" pitchFamily="34" charset="0"/>
              </a:rPr>
              <a:t>Indefinite pronouns such as </a:t>
            </a:r>
            <a:r>
              <a:rPr lang="en-US" sz="5000" b="1" u="sng" dirty="0">
                <a:latin typeface="Calibri" panose="020F0502020204030204" pitchFamily="34" charset="0"/>
                <a:cs typeface="Calibri" panose="020F0502020204030204" pitchFamily="34" charset="0"/>
              </a:rPr>
              <a:t>everyone</a:t>
            </a:r>
            <a:r>
              <a:rPr lang="en-US" sz="5000" b="1" dirty="0">
                <a:latin typeface="Calibri" panose="020F0502020204030204" pitchFamily="34" charset="0"/>
                <a:cs typeface="Calibri" panose="020F0502020204030204" pitchFamily="34" charset="0"/>
              </a:rPr>
              <a:t> and </a:t>
            </a:r>
            <a:r>
              <a:rPr lang="en-US" sz="5000" b="1" u="sng" dirty="0">
                <a:latin typeface="Calibri" panose="020F0502020204030204" pitchFamily="34" charset="0"/>
                <a:cs typeface="Calibri" panose="020F0502020204030204" pitchFamily="34" charset="0"/>
              </a:rPr>
              <a:t>everybody</a:t>
            </a:r>
            <a:r>
              <a:rPr lang="en-US" sz="5000" b="1" dirty="0">
                <a:latin typeface="Calibri" panose="020F0502020204030204" pitchFamily="34" charset="0"/>
                <a:cs typeface="Calibri" panose="020F0502020204030204" pitchFamily="34" charset="0"/>
              </a:rPr>
              <a:t> feel plural to some writers, but they are always singular — and take a singular verb. </a:t>
            </a:r>
          </a:p>
          <a:p>
            <a:pPr lvl="1" algn="just">
              <a:lnSpc>
                <a:spcPct val="170000"/>
              </a:lnSpc>
            </a:pPr>
            <a:r>
              <a:rPr lang="en-US" sz="5000" b="1" i="1" dirty="0">
                <a:latin typeface="Calibri" panose="020F0502020204030204" pitchFamily="34" charset="0"/>
                <a:cs typeface="Calibri" panose="020F0502020204030204" pitchFamily="34" charset="0"/>
              </a:rPr>
              <a:t>Everyone</a:t>
            </a:r>
            <a:r>
              <a:rPr lang="en-US" sz="5000" i="1" dirty="0">
                <a:latin typeface="Calibri" panose="020F0502020204030204" pitchFamily="34" charset="0"/>
                <a:cs typeface="Calibri" panose="020F0502020204030204" pitchFamily="34" charset="0"/>
              </a:rPr>
              <a:t> </a:t>
            </a:r>
            <a:r>
              <a:rPr lang="en-US" sz="5000" dirty="0">
                <a:latin typeface="Calibri" panose="020F0502020204030204" pitchFamily="34" charset="0"/>
                <a:cs typeface="Calibri" panose="020F0502020204030204" pitchFamily="34" charset="0"/>
              </a:rPr>
              <a:t>associated with the project</a:t>
            </a:r>
            <a:r>
              <a:rPr lang="en-US" sz="5000" b="1" i="1" dirty="0">
                <a:latin typeface="Calibri" panose="020F0502020204030204" pitchFamily="34" charset="0"/>
                <a:cs typeface="Calibri" panose="020F0502020204030204" pitchFamily="34" charset="0"/>
              </a:rPr>
              <a:t> is </a:t>
            </a:r>
            <a:r>
              <a:rPr lang="en-US" sz="5000" dirty="0">
                <a:latin typeface="Calibri" panose="020F0502020204030204" pitchFamily="34" charset="0"/>
                <a:cs typeface="Calibri" panose="020F0502020204030204" pitchFamily="34" charset="0"/>
              </a:rPr>
              <a:t>proud to be part of the effort.</a:t>
            </a:r>
          </a:p>
          <a:p>
            <a:pPr lvl="1" algn="just">
              <a:lnSpc>
                <a:spcPct val="170000"/>
              </a:lnSpc>
            </a:pPr>
            <a:r>
              <a:rPr lang="en-US" sz="5000" dirty="0">
                <a:latin typeface="Calibri" panose="020F0502020204030204" pitchFamily="34" charset="0"/>
                <a:cs typeface="Calibri" panose="020F0502020204030204" pitchFamily="34" charset="0"/>
              </a:rPr>
              <a:t>Someone  has to be responsible</a:t>
            </a:r>
          </a:p>
          <a:p>
            <a:pPr marL="274320" lvl="1" indent="0" algn="just">
              <a:lnSpc>
                <a:spcPct val="170000"/>
              </a:lnSpc>
              <a:buNone/>
            </a:pPr>
            <a:endParaRPr lang="en-US" sz="4500" b="1" dirty="0"/>
          </a:p>
          <a:p>
            <a:pPr algn="just">
              <a:lnSpc>
                <a:spcPct val="170000"/>
              </a:lnSpc>
            </a:pPr>
            <a:r>
              <a:rPr lang="en-US" sz="5100" b="1" dirty="0">
                <a:latin typeface="Calibri" panose="020F0502020204030204" pitchFamily="34" charset="0"/>
                <a:cs typeface="Calibri" panose="020F0502020204030204" pitchFamily="34" charset="0"/>
              </a:rPr>
              <a:t>Don’t be confused by phrases that come between the subject pronoun and its verb — phrases that may contain plural words</a:t>
            </a:r>
            <a:r>
              <a:rPr lang="en-US" sz="4600" b="1" i="1" dirty="0"/>
              <a:t>.</a:t>
            </a:r>
          </a:p>
          <a:p>
            <a:pPr lvl="1" algn="just">
              <a:lnSpc>
                <a:spcPct val="170000"/>
              </a:lnSpc>
            </a:pPr>
            <a:r>
              <a:rPr lang="en-US" sz="5000" b="1" i="1" dirty="0">
                <a:latin typeface="Calibri" panose="020F0502020204030204" pitchFamily="34" charset="0"/>
                <a:cs typeface="Calibri" panose="020F0502020204030204" pitchFamily="34" charset="0"/>
              </a:rPr>
              <a:t>Each</a:t>
            </a:r>
            <a:r>
              <a:rPr lang="en-US" sz="5000" b="1" dirty="0">
                <a:latin typeface="Calibri" panose="020F0502020204030204" pitchFamily="34" charset="0"/>
                <a:cs typeface="Calibri" panose="020F0502020204030204" pitchFamily="34" charset="0"/>
              </a:rPr>
              <a:t> </a:t>
            </a:r>
            <a:r>
              <a:rPr lang="en-US" sz="5000" dirty="0">
                <a:latin typeface="Calibri" panose="020F0502020204030204" pitchFamily="34" charset="0"/>
                <a:cs typeface="Calibri" panose="020F0502020204030204" pitchFamily="34" charset="0"/>
              </a:rPr>
              <a:t>of the project partners </a:t>
            </a:r>
            <a:r>
              <a:rPr lang="en-US" sz="5000" b="1" i="1" dirty="0">
                <a:latin typeface="Calibri" panose="020F0502020204030204" pitchFamily="34" charset="0"/>
                <a:cs typeface="Calibri" panose="020F0502020204030204" pitchFamily="34" charset="0"/>
              </a:rPr>
              <a:t>is</a:t>
            </a:r>
            <a:r>
              <a:rPr lang="en-US" sz="5000" b="1" dirty="0">
                <a:latin typeface="Calibri" panose="020F0502020204030204" pitchFamily="34" charset="0"/>
                <a:cs typeface="Calibri" panose="020F0502020204030204" pitchFamily="34" charset="0"/>
              </a:rPr>
              <a:t> </a:t>
            </a:r>
            <a:r>
              <a:rPr lang="en-US" sz="5000" dirty="0">
                <a:latin typeface="Calibri" panose="020F0502020204030204" pitchFamily="34" charset="0"/>
                <a:cs typeface="Calibri" panose="020F0502020204030204" pitchFamily="34" charset="0"/>
              </a:rPr>
              <a:t>responsible for writing a chapter summary.</a:t>
            </a:r>
            <a:endParaRPr lang="en-US" sz="5000" b="1" dirty="0">
              <a:latin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advTm="3423"/>
    </mc:Choice>
    <mc:Fallback xmlns="">
      <p:transition spd="slow" advTm="3423"/>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4" name="Title 1"/>
          <p:cNvSpPr>
            <a:spLocks noGrp="1"/>
          </p:cNvSpPr>
          <p:nvPr/>
        </p:nvSpPr>
        <p:spPr>
          <a:xfrm>
            <a:off x="2495600" y="538998"/>
            <a:ext cx="8534400" cy="758952"/>
          </a:xfrm>
          <a:prstGeom prst="rect">
            <a:avLst/>
          </a:prstGeom>
        </p:spPr>
        <p:txBody>
          <a:bodyPr vert="horz" anchor="b">
            <a:no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US" sz="4400" b="1" dirty="0">
                <a:latin typeface="Calibri" panose="020F0502020204030204" pitchFamily="34" charset="0"/>
                <a:cs typeface="Calibri" panose="020F0502020204030204" pitchFamily="34" charset="0"/>
              </a:rPr>
              <a:t>Use of few, many, several, etc.</a:t>
            </a:r>
          </a:p>
        </p:txBody>
      </p:sp>
      <p:sp>
        <p:nvSpPr>
          <p:cNvPr id="5" name="Content Placeholder 2"/>
          <p:cNvSpPr>
            <a:spLocks noGrp="1"/>
          </p:cNvSpPr>
          <p:nvPr/>
        </p:nvSpPr>
        <p:spPr>
          <a:xfrm>
            <a:off x="2493934" y="1916832"/>
            <a:ext cx="8503920" cy="4572000"/>
          </a:xfrm>
          <a:prstGeom prst="rect">
            <a:avLst/>
          </a:prstGeom>
        </p:spPr>
        <p:txBody>
          <a:bodyPr vert="horz">
            <a:normAutofit/>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nSpc>
                <a:spcPct val="150000"/>
              </a:lnSpc>
            </a:pPr>
            <a:r>
              <a:rPr lang="en-US" sz="2400" b="1" dirty="0">
                <a:latin typeface="Calibri" panose="020F0502020204030204" pitchFamily="34" charset="0"/>
                <a:cs typeface="Calibri" panose="020F0502020204030204" pitchFamily="34" charset="0"/>
              </a:rPr>
              <a:t>Determiners like </a:t>
            </a:r>
            <a:r>
              <a:rPr lang="en-US" sz="2400" b="1" u="sng" dirty="0">
                <a:latin typeface="Calibri" panose="020F0502020204030204" pitchFamily="34" charset="0"/>
                <a:cs typeface="Calibri" panose="020F0502020204030204" pitchFamily="34" charset="0"/>
              </a:rPr>
              <a:t>few</a:t>
            </a:r>
            <a:r>
              <a:rPr lang="en-US" sz="2400" b="1" dirty="0">
                <a:latin typeface="Calibri" panose="020F0502020204030204" pitchFamily="34" charset="0"/>
                <a:cs typeface="Calibri" panose="020F0502020204030204" pitchFamily="34" charset="0"/>
              </a:rPr>
              <a:t>, </a:t>
            </a:r>
            <a:r>
              <a:rPr lang="en-US" sz="2400" b="1" u="sng" dirty="0">
                <a:latin typeface="Calibri" panose="020F0502020204030204" pitchFamily="34" charset="0"/>
                <a:cs typeface="Calibri" panose="020F0502020204030204" pitchFamily="34" charset="0"/>
              </a:rPr>
              <a:t>many</a:t>
            </a:r>
            <a:r>
              <a:rPr lang="en-US" sz="2400" b="1" dirty="0">
                <a:latin typeface="Calibri" panose="020F0502020204030204" pitchFamily="34" charset="0"/>
                <a:cs typeface="Calibri" panose="020F0502020204030204" pitchFamily="34" charset="0"/>
              </a:rPr>
              <a:t>, </a:t>
            </a:r>
            <a:r>
              <a:rPr lang="en-US" sz="2400" b="1" u="sng" dirty="0">
                <a:latin typeface="Calibri" panose="020F0502020204030204" pitchFamily="34" charset="0"/>
                <a:cs typeface="Calibri" panose="020F0502020204030204" pitchFamily="34" charset="0"/>
              </a:rPr>
              <a:t>several</a:t>
            </a:r>
            <a:r>
              <a:rPr lang="en-US" sz="2400" b="1" dirty="0">
                <a:latin typeface="Calibri" panose="020F0502020204030204" pitchFamily="34" charset="0"/>
                <a:cs typeface="Calibri" panose="020F0502020204030204" pitchFamily="34" charset="0"/>
              </a:rPr>
              <a:t>, </a:t>
            </a:r>
            <a:r>
              <a:rPr lang="en-US" sz="2400" b="1" u="sng" dirty="0">
                <a:latin typeface="Calibri" panose="020F0502020204030204" pitchFamily="34" charset="0"/>
                <a:cs typeface="Calibri" panose="020F0502020204030204" pitchFamily="34" charset="0"/>
              </a:rPr>
              <a:t>both</a:t>
            </a:r>
            <a:r>
              <a:rPr lang="en-US" sz="2400" b="1" dirty="0">
                <a:latin typeface="Calibri" panose="020F0502020204030204" pitchFamily="34" charset="0"/>
                <a:cs typeface="Calibri" panose="020F0502020204030204" pitchFamily="34" charset="0"/>
              </a:rPr>
              <a:t>, </a:t>
            </a:r>
            <a:r>
              <a:rPr lang="en-US" sz="2400" b="1" u="sng" dirty="0">
                <a:latin typeface="Calibri" panose="020F0502020204030204" pitchFamily="34" charset="0"/>
                <a:cs typeface="Calibri" panose="020F0502020204030204" pitchFamily="34" charset="0"/>
              </a:rPr>
              <a:t>some</a:t>
            </a:r>
            <a:r>
              <a:rPr lang="en-US" sz="2400" b="1" dirty="0">
                <a:latin typeface="Calibri" panose="020F0502020204030204" pitchFamily="34" charset="0"/>
                <a:cs typeface="Calibri" panose="020F0502020204030204" pitchFamily="34" charset="0"/>
              </a:rPr>
              <a:t>, etc. always take plural form</a:t>
            </a:r>
            <a:r>
              <a:rPr lang="en-US" sz="2400" b="1" i="1" dirty="0">
                <a:latin typeface="Calibri" panose="020F0502020204030204" pitchFamily="34" charset="0"/>
                <a:cs typeface="Calibri" panose="020F0502020204030204" pitchFamily="34" charset="0"/>
              </a:rPr>
              <a:t>.</a:t>
            </a:r>
          </a:p>
          <a:p>
            <a:pPr marL="0" indent="0">
              <a:lnSpc>
                <a:spcPct val="150000"/>
              </a:lnSpc>
              <a:buNone/>
            </a:pPr>
            <a:endParaRPr lang="en-US" sz="2400" b="1" i="1" dirty="0">
              <a:latin typeface="Calibri" panose="020F0502020204030204" pitchFamily="34" charset="0"/>
              <a:cs typeface="Calibri" panose="020F0502020204030204" pitchFamily="34" charset="0"/>
            </a:endParaRPr>
          </a:p>
          <a:p>
            <a:pPr lvl="1">
              <a:lnSpc>
                <a:spcPct val="150000"/>
              </a:lnSpc>
            </a:pPr>
            <a:r>
              <a:rPr lang="en-US" sz="2000" b="1" i="1" dirty="0">
                <a:latin typeface="Calibri" panose="020F0502020204030204" pitchFamily="34" charset="0"/>
                <a:cs typeface="Calibri" panose="020F0502020204030204" pitchFamily="34" charset="0"/>
              </a:rPr>
              <a:t>Few were left alive after the flood.</a:t>
            </a:r>
          </a:p>
          <a:p>
            <a:pPr lvl="1">
              <a:lnSpc>
                <a:spcPct val="150000"/>
              </a:lnSpc>
            </a:pPr>
            <a:r>
              <a:rPr lang="en-US" sz="2000" b="1" i="1" dirty="0">
                <a:latin typeface="Calibri" panose="020F0502020204030204" pitchFamily="34" charset="0"/>
                <a:cs typeface="Calibri" panose="020F0502020204030204" pitchFamily="34" charset="0"/>
              </a:rPr>
              <a:t>Many were against the system.</a:t>
            </a:r>
          </a:p>
        </p:txBody>
      </p:sp>
    </p:spTree>
  </p:cSld>
  <p:clrMapOvr>
    <a:masterClrMapping/>
  </p:clrMapOvr>
  <mc:AlternateContent xmlns:mc="http://schemas.openxmlformats.org/markup-compatibility/2006" xmlns:p14="http://schemas.microsoft.com/office/powerpoint/2010/main">
    <mc:Choice Requires="p14">
      <p:transition spd="slow" p14:dur="2000" advTm="3423"/>
    </mc:Choice>
    <mc:Fallback xmlns="">
      <p:transition spd="slow" advTm="342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3" name="Title 1"/>
          <p:cNvSpPr>
            <a:spLocks noGrp="1"/>
          </p:cNvSpPr>
          <p:nvPr/>
        </p:nvSpPr>
        <p:spPr>
          <a:xfrm>
            <a:off x="2567608" y="767598"/>
            <a:ext cx="8534400" cy="758952"/>
          </a:xfrm>
          <a:prstGeom prst="rect">
            <a:avLst/>
          </a:prstGeom>
        </p:spPr>
        <p:txBody>
          <a:bodyPr vert="horz" anchor="b">
            <a:no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US" sz="4400" b="1" dirty="0">
                <a:latin typeface="Calibri" panose="020F0502020204030204" pitchFamily="34" charset="0"/>
                <a:cs typeface="Calibri" panose="020F0502020204030204" pitchFamily="34" charset="0"/>
              </a:rPr>
              <a:t>Off to use “of”</a:t>
            </a:r>
          </a:p>
        </p:txBody>
      </p:sp>
      <p:sp>
        <p:nvSpPr>
          <p:cNvPr id="4" name="Content Placeholder 2"/>
          <p:cNvSpPr>
            <a:spLocks noGrp="1"/>
          </p:cNvSpPr>
          <p:nvPr/>
        </p:nvSpPr>
        <p:spPr>
          <a:xfrm>
            <a:off x="2207568" y="1598373"/>
            <a:ext cx="8503920" cy="4572000"/>
          </a:xfrm>
          <a:prstGeom prst="rect">
            <a:avLst/>
          </a:prstGeom>
        </p:spPr>
        <p:txBody>
          <a:bodyPr vert="horz">
            <a:normAutofit/>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nSpc>
                <a:spcPct val="150000"/>
              </a:lnSpc>
            </a:pPr>
            <a:r>
              <a:rPr lang="en-US" sz="2400" b="1" i="1" dirty="0"/>
              <a:t> </a:t>
            </a:r>
            <a:r>
              <a:rPr lang="en-US" sz="2400" b="1" dirty="0">
                <a:latin typeface="Calibri" panose="020F0502020204030204" pitchFamily="34" charset="0"/>
                <a:cs typeface="Calibri" panose="020F0502020204030204" pitchFamily="34" charset="0"/>
              </a:rPr>
              <a:t>A subject will come before a phrase beginning with “of”. This is a key rule for understanding subjects. The word “of” is the culprit in many, perhaps most, subject-verb mistakes</a:t>
            </a:r>
            <a:r>
              <a:rPr lang="en-US" sz="2400" b="1" i="1" dirty="0"/>
              <a:t>.</a:t>
            </a:r>
          </a:p>
          <a:p>
            <a:pPr lvl="1">
              <a:lnSpc>
                <a:spcPct val="150000"/>
              </a:lnSpc>
            </a:pPr>
            <a:r>
              <a:rPr lang="en-US" sz="2000" b="1" i="1" dirty="0"/>
              <a:t>Incorrect:</a:t>
            </a:r>
            <a:r>
              <a:rPr lang="en-US" sz="2000" dirty="0"/>
              <a:t> </a:t>
            </a:r>
            <a:r>
              <a:rPr lang="en-US" sz="2000" i="1" dirty="0"/>
              <a:t>A bouquet of yellow roses lend color and fragrance to the room.</a:t>
            </a:r>
            <a:endParaRPr lang="en-US" sz="2000" dirty="0"/>
          </a:p>
          <a:p>
            <a:pPr lvl="1">
              <a:lnSpc>
                <a:spcPct val="150000"/>
              </a:lnSpc>
            </a:pPr>
            <a:r>
              <a:rPr lang="en-US" sz="2000" b="1" i="1" dirty="0"/>
              <a:t>Correct:</a:t>
            </a:r>
            <a:r>
              <a:rPr lang="en-US" sz="2000" dirty="0"/>
              <a:t> </a:t>
            </a:r>
            <a:r>
              <a:rPr lang="en-US" sz="2000" i="1" dirty="0"/>
              <a:t>A bouquet of yellow roses </a:t>
            </a:r>
            <a:r>
              <a:rPr lang="en-US" sz="2000" i="1" u="sng" dirty="0"/>
              <a:t>lends</a:t>
            </a:r>
            <a:r>
              <a:rPr lang="en-US" sz="2000" dirty="0"/>
              <a:t> . . . (</a:t>
            </a:r>
            <a:r>
              <a:rPr lang="en-US" sz="2000" i="1" dirty="0"/>
              <a:t>bouquet lends</a:t>
            </a:r>
            <a:r>
              <a:rPr lang="en-US" sz="2000" dirty="0"/>
              <a:t>, not </a:t>
            </a:r>
            <a:r>
              <a:rPr lang="en-US" sz="2000" i="1" dirty="0"/>
              <a:t>roses lend</a:t>
            </a:r>
            <a:r>
              <a:rPr lang="en-US" sz="2000" dirty="0"/>
              <a:t>)</a:t>
            </a:r>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Tm="3423"/>
    </mc:Choice>
    <mc:Fallback xmlns="">
      <p:transition spd="slow" advTm="3423"/>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3" name="Title 1"/>
          <p:cNvSpPr>
            <a:spLocks noGrp="1"/>
          </p:cNvSpPr>
          <p:nvPr/>
        </p:nvSpPr>
        <p:spPr>
          <a:xfrm>
            <a:off x="2279576" y="538998"/>
            <a:ext cx="8534400" cy="758952"/>
          </a:xfrm>
          <a:prstGeom prst="rect">
            <a:avLst/>
          </a:prstGeom>
        </p:spPr>
        <p:txBody>
          <a:bodyPr vert="horz" anchor="b">
            <a:norm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US" sz="3200" b="1" dirty="0"/>
              <a:t>Use of</a:t>
            </a:r>
            <a:r>
              <a:rPr lang="en-US" sz="3200" b="1" i="1" dirty="0"/>
              <a:t> or, either/ or,  or neither/ nor</a:t>
            </a:r>
            <a:endParaRPr lang="en-US" sz="3200" b="1" dirty="0"/>
          </a:p>
        </p:txBody>
      </p:sp>
      <p:sp>
        <p:nvSpPr>
          <p:cNvPr id="4" name="Content Placeholder 2"/>
          <p:cNvSpPr>
            <a:spLocks noGrp="1"/>
          </p:cNvSpPr>
          <p:nvPr/>
        </p:nvSpPr>
        <p:spPr>
          <a:xfrm>
            <a:off x="2215177" y="1628800"/>
            <a:ext cx="8503920" cy="4572000"/>
          </a:xfrm>
          <a:prstGeom prst="rect">
            <a:avLst/>
          </a:prstGeom>
        </p:spPr>
        <p:txBody>
          <a:bodyPr vert="horz">
            <a:normAutofit/>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gn="just">
              <a:lnSpc>
                <a:spcPct val="150000"/>
              </a:lnSpc>
            </a:pPr>
            <a:r>
              <a:rPr lang="en-US" sz="2400" b="1" i="1" dirty="0"/>
              <a:t>Two singular subjects connected by or, either/ or,  or neither/ nor require a singular verb.</a:t>
            </a:r>
          </a:p>
          <a:p>
            <a:pPr>
              <a:lnSpc>
                <a:spcPct val="150000"/>
              </a:lnSpc>
            </a:pPr>
            <a:r>
              <a:rPr lang="en-US" sz="2400" b="1" i="1" dirty="0"/>
              <a:t>Examples:</a:t>
            </a:r>
            <a:endParaRPr lang="en-US" sz="2400" dirty="0"/>
          </a:p>
          <a:p>
            <a:pPr lvl="1">
              <a:lnSpc>
                <a:spcPct val="150000"/>
              </a:lnSpc>
            </a:pPr>
            <a:r>
              <a:rPr lang="en-US" sz="2400" i="1" dirty="0"/>
              <a:t>My aunt or my uncle </a:t>
            </a:r>
            <a:r>
              <a:rPr lang="en-US" sz="2400" b="1" i="1" u="sng" dirty="0"/>
              <a:t>is</a:t>
            </a:r>
            <a:r>
              <a:rPr lang="en-US" sz="2400" i="1" u="sng" dirty="0"/>
              <a:t> arriving</a:t>
            </a:r>
            <a:r>
              <a:rPr lang="en-US" sz="2400" i="1" dirty="0"/>
              <a:t> by train today.</a:t>
            </a:r>
            <a:endParaRPr lang="en-US" sz="2400" dirty="0"/>
          </a:p>
          <a:p>
            <a:pPr lvl="1">
              <a:lnSpc>
                <a:spcPct val="150000"/>
              </a:lnSpc>
            </a:pPr>
            <a:r>
              <a:rPr lang="en-US" sz="2400" i="1" dirty="0"/>
              <a:t>Neither Juan nor Carmen </a:t>
            </a:r>
            <a:r>
              <a:rPr lang="en-US" sz="2400" b="1" i="1" u="sng" dirty="0"/>
              <a:t>is</a:t>
            </a:r>
            <a:r>
              <a:rPr lang="en-US" sz="2400" i="1" dirty="0"/>
              <a:t> available.</a:t>
            </a:r>
            <a:endParaRPr lang="en-US" sz="2400" dirty="0"/>
          </a:p>
          <a:p>
            <a:pPr lvl="1">
              <a:lnSpc>
                <a:spcPct val="150000"/>
              </a:lnSpc>
            </a:pPr>
            <a:r>
              <a:rPr lang="en-US" sz="2400" i="1" dirty="0"/>
              <a:t>Either </a:t>
            </a:r>
            <a:r>
              <a:rPr lang="en-US" sz="2400" i="1" dirty="0" err="1"/>
              <a:t>Kiana</a:t>
            </a:r>
            <a:r>
              <a:rPr lang="en-US" sz="2400" i="1" dirty="0"/>
              <a:t> or Casey </a:t>
            </a:r>
            <a:r>
              <a:rPr lang="en-US" sz="2400" b="1" i="1" u="sng" dirty="0"/>
              <a:t>is</a:t>
            </a:r>
            <a:r>
              <a:rPr lang="en-US" sz="2400" i="1" u="sng" dirty="0"/>
              <a:t> helping </a:t>
            </a:r>
            <a:r>
              <a:rPr lang="en-US" sz="2400" i="1" dirty="0"/>
              <a:t>today with stage decorations.</a:t>
            </a:r>
            <a:endParaRPr lang="en-US" sz="2400" dirty="0"/>
          </a:p>
          <a:p>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Tm="3423"/>
    </mc:Choice>
    <mc:Fallback xmlns="">
      <p:transition spd="slow" advTm="3423"/>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6" name="Title 1"/>
          <p:cNvSpPr>
            <a:spLocks noGrp="1"/>
          </p:cNvSpPr>
          <p:nvPr/>
        </p:nvSpPr>
        <p:spPr>
          <a:xfrm>
            <a:off x="2711624" y="538998"/>
            <a:ext cx="8534400" cy="758952"/>
          </a:xfrm>
          <a:prstGeom prst="rect">
            <a:avLst/>
          </a:prstGeom>
        </p:spPr>
        <p:txBody>
          <a:bodyPr vert="horz" anchor="b">
            <a:no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US" sz="2800" b="1" dirty="0"/>
              <a:t>Use of</a:t>
            </a:r>
            <a:r>
              <a:rPr lang="en-US" sz="2800" b="1" i="1" dirty="0"/>
              <a:t> or, either/ or,  or neither/ nor...Contd.</a:t>
            </a:r>
            <a:endParaRPr lang="en-US" sz="2800" b="1" dirty="0"/>
          </a:p>
        </p:txBody>
      </p:sp>
      <p:sp>
        <p:nvSpPr>
          <p:cNvPr id="8" name="Content Placeholder 2"/>
          <p:cNvSpPr>
            <a:spLocks noGrp="1"/>
          </p:cNvSpPr>
          <p:nvPr/>
        </p:nvSpPr>
        <p:spPr>
          <a:xfrm>
            <a:off x="2602767" y="1333157"/>
            <a:ext cx="8229600" cy="4953000"/>
          </a:xfrm>
          <a:prstGeom prst="rect">
            <a:avLst/>
          </a:prstGeom>
        </p:spPr>
        <p:txBody>
          <a:bodyPr vert="horz">
            <a:normAutofit fontScale="47500" lnSpcReduction="20000"/>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gn="just">
              <a:lnSpc>
                <a:spcPct val="170000"/>
              </a:lnSpc>
            </a:pPr>
            <a:r>
              <a:rPr lang="en-US" sz="6000" b="1" i="1" dirty="0"/>
              <a:t>The verb in an or, either /or, or neither /nor sentence agrees with the noun or pronoun closest to it.</a:t>
            </a:r>
          </a:p>
          <a:p>
            <a:pPr>
              <a:lnSpc>
                <a:spcPct val="170000"/>
              </a:lnSpc>
            </a:pPr>
            <a:r>
              <a:rPr lang="en-US" sz="4500" b="1" i="1" u="sng" dirty="0"/>
              <a:t>Examples:</a:t>
            </a:r>
            <a:endParaRPr lang="en-US" sz="4500" u="sng" dirty="0"/>
          </a:p>
          <a:p>
            <a:pPr lvl="1">
              <a:lnSpc>
                <a:spcPct val="170000"/>
              </a:lnSpc>
            </a:pPr>
            <a:r>
              <a:rPr lang="en-US" sz="5500" i="1" dirty="0"/>
              <a:t>Neither the plates nor the serving bowl </a:t>
            </a:r>
            <a:r>
              <a:rPr lang="en-US" sz="5500" i="1" u="sng" dirty="0"/>
              <a:t>goes</a:t>
            </a:r>
            <a:r>
              <a:rPr lang="en-US" sz="5500" i="1" dirty="0"/>
              <a:t> on that shelf.</a:t>
            </a:r>
          </a:p>
          <a:p>
            <a:pPr lvl="1">
              <a:lnSpc>
                <a:spcPct val="170000"/>
              </a:lnSpc>
            </a:pPr>
            <a:r>
              <a:rPr lang="en-US" sz="5500" i="1" dirty="0"/>
              <a:t>Neither the serving bowl nor the plates </a:t>
            </a:r>
            <a:r>
              <a:rPr lang="en-US" sz="5500" i="1" u="sng" dirty="0"/>
              <a:t>go</a:t>
            </a:r>
            <a:r>
              <a:rPr lang="en-US" sz="5500" i="1" dirty="0"/>
              <a:t> on that shelf.</a:t>
            </a:r>
            <a:endParaRPr lang="en-US" sz="5500" dirty="0"/>
          </a:p>
        </p:txBody>
      </p:sp>
    </p:spTree>
  </p:cSld>
  <p:clrMapOvr>
    <a:masterClrMapping/>
  </p:clrMapOvr>
  <mc:AlternateContent xmlns:mc="http://schemas.openxmlformats.org/markup-compatibility/2006" xmlns:p14="http://schemas.microsoft.com/office/powerpoint/2010/main">
    <mc:Choice Requires="p14">
      <p:transition spd="slow" p14:dur="2000" advTm="3423"/>
    </mc:Choice>
    <mc:Fallback xmlns="">
      <p:transition spd="slow" advTm="3423"/>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3" name="Title 1"/>
          <p:cNvSpPr>
            <a:spLocks noGrp="1"/>
          </p:cNvSpPr>
          <p:nvPr/>
        </p:nvSpPr>
        <p:spPr>
          <a:xfrm>
            <a:off x="2423592" y="918474"/>
            <a:ext cx="8534400" cy="758952"/>
          </a:xfrm>
          <a:prstGeom prst="rect">
            <a:avLst/>
          </a:prstGeom>
        </p:spPr>
        <p:txBody>
          <a:bodyPr vert="horz" anchor="b">
            <a:norm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US" b="1" dirty="0"/>
              <a:t>Use of conjunction “and”</a:t>
            </a:r>
          </a:p>
        </p:txBody>
      </p:sp>
      <p:sp>
        <p:nvSpPr>
          <p:cNvPr id="4" name="Content Placeholder 2"/>
          <p:cNvSpPr>
            <a:spLocks noGrp="1"/>
          </p:cNvSpPr>
          <p:nvPr/>
        </p:nvSpPr>
        <p:spPr>
          <a:xfrm>
            <a:off x="2398777" y="1677426"/>
            <a:ext cx="8503920" cy="4572000"/>
          </a:xfrm>
          <a:prstGeom prst="rect">
            <a:avLst/>
          </a:prstGeom>
        </p:spPr>
        <p:txBody>
          <a:bodyPr vert="horz">
            <a:normAutofit fontScale="55000" lnSpcReduction="20000"/>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nSpc>
                <a:spcPct val="170000"/>
              </a:lnSpc>
            </a:pPr>
            <a:r>
              <a:rPr lang="en-US" sz="3400" b="1" i="1" dirty="0"/>
              <a:t> </a:t>
            </a:r>
            <a:r>
              <a:rPr lang="en-US" sz="4400" b="1" i="1" dirty="0"/>
              <a:t>As a general rule, use a plural verb with two or more subjects when they are connected by “and”.</a:t>
            </a:r>
          </a:p>
          <a:p>
            <a:pPr marL="0" indent="0">
              <a:lnSpc>
                <a:spcPct val="170000"/>
              </a:lnSpc>
              <a:buNone/>
            </a:pPr>
            <a:r>
              <a:rPr lang="en-US" sz="3600" b="1" i="1" u="sng" dirty="0"/>
              <a:t>Example</a:t>
            </a:r>
            <a:r>
              <a:rPr lang="en-US" sz="3600" b="1" i="1" dirty="0"/>
              <a:t>:</a:t>
            </a:r>
            <a:r>
              <a:rPr lang="en-US" sz="3600" dirty="0"/>
              <a:t> </a:t>
            </a:r>
            <a:r>
              <a:rPr lang="en-US" sz="3600" i="1" dirty="0"/>
              <a:t>A car and a bike </a:t>
            </a:r>
            <a:r>
              <a:rPr lang="en-US" sz="3600" i="1" u="sng" dirty="0"/>
              <a:t>are</a:t>
            </a:r>
            <a:r>
              <a:rPr lang="en-US" sz="3600" i="1" dirty="0"/>
              <a:t> my means of transportation.</a:t>
            </a:r>
            <a:endParaRPr lang="en-US" sz="3600" dirty="0"/>
          </a:p>
          <a:p>
            <a:pPr marL="0" indent="0">
              <a:lnSpc>
                <a:spcPct val="170000"/>
              </a:lnSpc>
              <a:buNone/>
            </a:pPr>
            <a:endParaRPr lang="en-US" sz="2800" b="1" i="1" u="sng" dirty="0"/>
          </a:p>
          <a:p>
            <a:pPr marL="0" indent="0">
              <a:lnSpc>
                <a:spcPct val="170000"/>
              </a:lnSpc>
              <a:buNone/>
            </a:pPr>
            <a:r>
              <a:rPr lang="en-US" sz="3600" b="1" i="1" u="sng" dirty="0"/>
              <a:t>Exceptions</a:t>
            </a:r>
            <a:r>
              <a:rPr lang="en-US" sz="3600" b="1" i="1" dirty="0"/>
              <a:t>:</a:t>
            </a:r>
            <a:r>
              <a:rPr lang="en-US" sz="3600" dirty="0"/>
              <a:t> -</a:t>
            </a:r>
            <a:r>
              <a:rPr lang="en-US" sz="3600" i="1" dirty="0"/>
              <a:t>Breaking and entering </a:t>
            </a:r>
            <a:r>
              <a:rPr lang="en-US" sz="3600" i="1" u="sng" dirty="0"/>
              <a:t>is</a:t>
            </a:r>
            <a:r>
              <a:rPr lang="en-US" sz="3600" i="1" dirty="0"/>
              <a:t> against the law.</a:t>
            </a:r>
            <a:br>
              <a:rPr lang="en-US" sz="3600" i="1" dirty="0"/>
            </a:br>
            <a:r>
              <a:rPr lang="en-US" sz="3600" i="1" dirty="0"/>
              <a:t>	      -The bed and breakfast </a:t>
            </a:r>
            <a:r>
              <a:rPr lang="en-US" sz="3600" i="1" u="sng" dirty="0"/>
              <a:t>was</a:t>
            </a:r>
            <a:r>
              <a:rPr lang="en-US" sz="3600" i="1" dirty="0"/>
              <a:t> charming.</a:t>
            </a:r>
            <a:endParaRPr lang="en-US" sz="3600" dirty="0"/>
          </a:p>
          <a:p>
            <a:pPr>
              <a:lnSpc>
                <a:spcPct val="170000"/>
              </a:lnSpc>
            </a:pPr>
            <a:endParaRPr lang="en-US" i="1" u="sng" dirty="0"/>
          </a:p>
          <a:p>
            <a:pPr marL="0" indent="0">
              <a:lnSpc>
                <a:spcPct val="170000"/>
              </a:lnSpc>
              <a:buNone/>
            </a:pPr>
            <a:r>
              <a:rPr lang="en-US" sz="3600" i="1" u="sng" dirty="0"/>
              <a:t>In those sentences, “breaking and entering” and ”bed and breakfast” are compound nouns.</a:t>
            </a:r>
          </a:p>
        </p:txBody>
      </p:sp>
    </p:spTree>
  </p:cSld>
  <p:clrMapOvr>
    <a:masterClrMapping/>
  </p:clrMapOvr>
  <mc:AlternateContent xmlns:mc="http://schemas.openxmlformats.org/markup-compatibility/2006" xmlns:p14="http://schemas.microsoft.com/office/powerpoint/2010/main">
    <mc:Choice Requires="p14">
      <p:transition spd="slow" p14:dur="2000" advTm="3423"/>
    </mc:Choice>
    <mc:Fallback xmlns="">
      <p:transition spd="slow" advTm="3423"/>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3" name="Title 1"/>
          <p:cNvSpPr>
            <a:spLocks noGrp="1"/>
          </p:cNvSpPr>
          <p:nvPr/>
        </p:nvSpPr>
        <p:spPr>
          <a:xfrm>
            <a:off x="2495600" y="538998"/>
            <a:ext cx="8534400" cy="758952"/>
          </a:xfrm>
          <a:prstGeom prst="rect">
            <a:avLst/>
          </a:prstGeom>
        </p:spPr>
        <p:txBody>
          <a:bodyPr vert="horz" anchor="b">
            <a:norm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US" b="1" i="1" dirty="0"/>
              <a:t>“Along With”, “As Well As”, “Besides”</a:t>
            </a:r>
            <a:endParaRPr lang="en-US" dirty="0"/>
          </a:p>
        </p:txBody>
      </p:sp>
      <p:sp>
        <p:nvSpPr>
          <p:cNvPr id="4" name="Content Placeholder 2"/>
          <p:cNvSpPr>
            <a:spLocks noGrp="1"/>
          </p:cNvSpPr>
          <p:nvPr/>
        </p:nvSpPr>
        <p:spPr>
          <a:xfrm>
            <a:off x="1949854" y="1772816"/>
            <a:ext cx="8503920" cy="4572000"/>
          </a:xfrm>
          <a:prstGeom prst="rect">
            <a:avLst/>
          </a:prstGeom>
        </p:spPr>
        <p:txBody>
          <a:bodyPr vert="horz">
            <a:normAutofit fontScale="92500"/>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gn="just">
              <a:lnSpc>
                <a:spcPct val="160000"/>
              </a:lnSpc>
            </a:pPr>
            <a:r>
              <a:rPr lang="en-US" dirty="0"/>
              <a:t> </a:t>
            </a:r>
            <a:r>
              <a:rPr lang="en-US" b="1" i="1" dirty="0"/>
              <a:t>Sometimes the subject is separated from the verb by such words as “along with”, “as well as”, “besides”, not, etc. These words and phrases are not part of the subject. Ignore them and use a singular verb when the subject is singular.</a:t>
            </a:r>
          </a:p>
          <a:p>
            <a:pPr>
              <a:lnSpc>
                <a:spcPct val="160000"/>
              </a:lnSpc>
            </a:pPr>
            <a:r>
              <a:rPr lang="en-US" b="1" i="1" u="sng" dirty="0"/>
              <a:t>Examples:</a:t>
            </a:r>
            <a:endParaRPr lang="en-US" u="sng" dirty="0"/>
          </a:p>
          <a:p>
            <a:pPr lvl="1">
              <a:lnSpc>
                <a:spcPct val="160000"/>
              </a:lnSpc>
            </a:pPr>
            <a:r>
              <a:rPr lang="en-US" i="1" dirty="0"/>
              <a:t>The politician, along with the newsmen, </a:t>
            </a:r>
            <a:r>
              <a:rPr lang="en-US" i="1" u="sng" dirty="0"/>
              <a:t>is expected</a:t>
            </a:r>
            <a:r>
              <a:rPr lang="en-US" i="1" dirty="0"/>
              <a:t> shortly.</a:t>
            </a:r>
          </a:p>
          <a:p>
            <a:pPr lvl="1">
              <a:lnSpc>
                <a:spcPct val="160000"/>
              </a:lnSpc>
            </a:pPr>
            <a:r>
              <a:rPr lang="en-US" i="1" dirty="0"/>
              <a:t>Excitement, as well as nervousness, </a:t>
            </a:r>
            <a:r>
              <a:rPr lang="en-US" i="1" u="sng" dirty="0"/>
              <a:t>is</a:t>
            </a:r>
            <a:r>
              <a:rPr lang="en-US" i="1" dirty="0"/>
              <a:t> the cause of her shaking.</a:t>
            </a:r>
            <a:endParaRPr lang="en-US" dirty="0"/>
          </a:p>
          <a:p>
            <a:pPr>
              <a:lnSpc>
                <a:spcPct val="160000"/>
              </a:lnSpc>
            </a:pP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Tm="3423"/>
    </mc:Choice>
    <mc:Fallback xmlns="">
      <p:transition spd="slow" advTm="3423"/>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3" name="Title 1"/>
          <p:cNvSpPr>
            <a:spLocks noGrp="1"/>
          </p:cNvSpPr>
          <p:nvPr/>
        </p:nvSpPr>
        <p:spPr>
          <a:xfrm>
            <a:off x="2279576" y="918474"/>
            <a:ext cx="8534400" cy="758952"/>
          </a:xfrm>
          <a:prstGeom prst="rect">
            <a:avLst/>
          </a:prstGeom>
        </p:spPr>
        <p:txBody>
          <a:bodyPr vert="horz" anchor="b">
            <a:norm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US" b="1" dirty="0"/>
              <a:t>Nouns in plural form</a:t>
            </a:r>
          </a:p>
        </p:txBody>
      </p:sp>
      <p:sp>
        <p:nvSpPr>
          <p:cNvPr id="4" name="Content Placeholder 2"/>
          <p:cNvSpPr>
            <a:spLocks noGrp="1"/>
          </p:cNvSpPr>
          <p:nvPr/>
        </p:nvSpPr>
        <p:spPr>
          <a:xfrm>
            <a:off x="2254761" y="2190579"/>
            <a:ext cx="8503920" cy="4572000"/>
          </a:xfrm>
          <a:prstGeom prst="rect">
            <a:avLst/>
          </a:prstGeom>
        </p:spPr>
        <p:txBody>
          <a:bodyPr vert="horz">
            <a:normAutofit/>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nSpc>
                <a:spcPct val="150000"/>
              </a:lnSpc>
            </a:pPr>
            <a:r>
              <a:rPr lang="en-US" sz="2400" b="1" i="1" dirty="0"/>
              <a:t>Some nouns which are plural in form but singular in meaning, take a singular verb.</a:t>
            </a:r>
          </a:p>
          <a:p>
            <a:pPr lvl="1">
              <a:lnSpc>
                <a:spcPct val="150000"/>
              </a:lnSpc>
            </a:pPr>
            <a:r>
              <a:rPr lang="en-US" dirty="0"/>
              <a:t>The news is false.</a:t>
            </a:r>
          </a:p>
          <a:p>
            <a:pPr lvl="1">
              <a:lnSpc>
                <a:spcPct val="150000"/>
              </a:lnSpc>
            </a:pPr>
            <a:r>
              <a:rPr lang="en-US" dirty="0"/>
              <a:t>Mathematics is my </a:t>
            </a:r>
            <a:r>
              <a:rPr lang="en-US" dirty="0" err="1"/>
              <a:t>favourite</a:t>
            </a:r>
            <a:r>
              <a:rPr lang="en-US" dirty="0"/>
              <a:t> subject.</a:t>
            </a:r>
          </a:p>
        </p:txBody>
      </p:sp>
    </p:spTree>
  </p:cSld>
  <p:clrMapOvr>
    <a:masterClrMapping/>
  </p:clrMapOvr>
  <mc:AlternateContent xmlns:mc="http://schemas.openxmlformats.org/markup-compatibility/2006" xmlns:p14="http://schemas.microsoft.com/office/powerpoint/2010/main">
    <mc:Choice Requires="p14">
      <p:transition spd="slow" p14:dur="2000" advTm="3423"/>
    </mc:Choice>
    <mc:Fallback xmlns="">
      <p:transition spd="slow" advTm="3423"/>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3" name="Title 1"/>
          <p:cNvSpPr>
            <a:spLocks noGrp="1"/>
          </p:cNvSpPr>
          <p:nvPr/>
        </p:nvSpPr>
        <p:spPr>
          <a:xfrm>
            <a:off x="2279576" y="474946"/>
            <a:ext cx="8534400" cy="1066800"/>
          </a:xfrm>
          <a:prstGeom prst="rect">
            <a:avLst/>
          </a:prstGeom>
        </p:spPr>
        <p:txBody>
          <a:bodyPr vert="horz" anchor="b">
            <a:norm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pPr algn="l"/>
            <a:r>
              <a:rPr lang="en-US" sz="3200" b="1" i="1" dirty="0"/>
              <a:t>Agreement with distances, periods of time, sums of money…</a:t>
            </a:r>
            <a:endParaRPr lang="en-US" b="1" dirty="0"/>
          </a:p>
        </p:txBody>
      </p:sp>
      <p:sp>
        <p:nvSpPr>
          <p:cNvPr id="4" name="Content Placeholder 2"/>
          <p:cNvSpPr>
            <a:spLocks noGrp="1"/>
          </p:cNvSpPr>
          <p:nvPr/>
        </p:nvSpPr>
        <p:spPr>
          <a:xfrm>
            <a:off x="1906311" y="1541746"/>
            <a:ext cx="8503920" cy="4572000"/>
          </a:xfrm>
          <a:prstGeom prst="rect">
            <a:avLst/>
          </a:prstGeom>
        </p:spPr>
        <p:txBody>
          <a:bodyPr vert="horz">
            <a:normAutofit fontScale="85000" lnSpcReduction="10000"/>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nSpc>
                <a:spcPct val="170000"/>
              </a:lnSpc>
            </a:pPr>
            <a:r>
              <a:rPr lang="en-US" sz="3400" b="1" i="1" dirty="0"/>
              <a:t> Use a singular verb with distances, periods of time, sums of money, etc., when considered as a unit.</a:t>
            </a:r>
          </a:p>
          <a:p>
            <a:pPr>
              <a:lnSpc>
                <a:spcPct val="170000"/>
              </a:lnSpc>
            </a:pPr>
            <a:r>
              <a:rPr lang="en-US" b="1" i="1" dirty="0"/>
              <a:t>Examples:</a:t>
            </a:r>
            <a:br>
              <a:rPr lang="en-US" dirty="0"/>
            </a:br>
            <a:r>
              <a:rPr lang="en-US" dirty="0"/>
              <a:t>- </a:t>
            </a:r>
            <a:r>
              <a:rPr lang="en-US" i="1" dirty="0"/>
              <a:t>Three miles </a:t>
            </a:r>
            <a:r>
              <a:rPr lang="en-US" b="1" i="1" dirty="0"/>
              <a:t>is</a:t>
            </a:r>
            <a:r>
              <a:rPr lang="en-US" i="1" dirty="0"/>
              <a:t> too far to walk.</a:t>
            </a:r>
            <a:br>
              <a:rPr lang="en-US" i="1" dirty="0"/>
            </a:br>
            <a:r>
              <a:rPr lang="en-US" i="1" dirty="0"/>
              <a:t>- Five years </a:t>
            </a:r>
            <a:r>
              <a:rPr lang="en-US" b="1" i="1" dirty="0"/>
              <a:t>is</a:t>
            </a:r>
            <a:r>
              <a:rPr lang="en-US" i="1" dirty="0"/>
              <a:t> the maximum sentence for that offense.</a:t>
            </a:r>
            <a:br>
              <a:rPr lang="en-US" i="1" dirty="0"/>
            </a:br>
            <a:r>
              <a:rPr lang="en-US" i="1" dirty="0"/>
              <a:t>- Ten dollars </a:t>
            </a:r>
            <a:r>
              <a:rPr lang="en-US" b="1" i="1" dirty="0"/>
              <a:t>is</a:t>
            </a:r>
            <a:r>
              <a:rPr lang="en-US" i="1" dirty="0"/>
              <a:t> a high price to pay.</a:t>
            </a:r>
            <a:br>
              <a:rPr lang="en-US" i="1" dirty="0"/>
            </a:b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Tm="3423"/>
    </mc:Choice>
    <mc:Fallback xmlns="">
      <p:transition spd="slow" advTm="3423"/>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733410" y="139638"/>
            <a:ext cx="8467046" cy="487362"/>
          </a:xfrm>
          <a:prstGeom prst="rect">
            <a:avLst/>
          </a:prstGeom>
          <a:ln>
            <a:noFill/>
          </a:ln>
        </p:spPr>
        <p:txBody>
          <a:bodyPr>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endParaRPr lang="en-US" sz="3800" b="1" dirty="0">
              <a:latin typeface="+mn-lt"/>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5" name="Title 1"/>
          <p:cNvSpPr>
            <a:spLocks noGrp="1"/>
          </p:cNvSpPr>
          <p:nvPr/>
        </p:nvSpPr>
        <p:spPr>
          <a:xfrm>
            <a:off x="2639616" y="538998"/>
            <a:ext cx="8534400" cy="758952"/>
          </a:xfrm>
          <a:prstGeom prst="rect">
            <a:avLst/>
          </a:prstGeom>
        </p:spPr>
        <p:txBody>
          <a:bodyPr vert="horz" anchor="b">
            <a:norm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US" b="1" dirty="0"/>
              <a:t>Agreement with Collective Nouns</a:t>
            </a:r>
          </a:p>
        </p:txBody>
      </p:sp>
      <p:sp>
        <p:nvSpPr>
          <p:cNvPr id="6" name="Content Placeholder 2"/>
          <p:cNvSpPr>
            <a:spLocks noGrp="1"/>
          </p:cNvSpPr>
          <p:nvPr/>
        </p:nvSpPr>
        <p:spPr>
          <a:xfrm>
            <a:off x="2207568" y="1772816"/>
            <a:ext cx="8503920" cy="4572000"/>
          </a:xfrm>
          <a:prstGeom prst="rect">
            <a:avLst/>
          </a:prstGeom>
        </p:spPr>
        <p:txBody>
          <a:bodyPr vert="horz">
            <a:normAutofit/>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gn="just">
              <a:lnSpc>
                <a:spcPct val="160000"/>
              </a:lnSpc>
            </a:pPr>
            <a:r>
              <a:rPr lang="en-US" sz="2600" b="1" i="1" dirty="0"/>
              <a:t>Some collective nouns, such as family, couple, staff, audience, etc., may take either a singular or a plural verb, depending on their use in the sentence.</a:t>
            </a:r>
          </a:p>
          <a:p>
            <a:pPr>
              <a:lnSpc>
                <a:spcPct val="160000"/>
              </a:lnSpc>
            </a:pPr>
            <a:r>
              <a:rPr lang="en-US" sz="2200" b="1" i="1" u="sng" dirty="0"/>
              <a:t>Examples:</a:t>
            </a:r>
            <a:endParaRPr lang="en-US" sz="2200" dirty="0"/>
          </a:p>
          <a:p>
            <a:pPr lvl="1">
              <a:lnSpc>
                <a:spcPct val="160000"/>
              </a:lnSpc>
            </a:pPr>
            <a:r>
              <a:rPr lang="en-US" i="1" dirty="0"/>
              <a:t>Mr. Rajesh is our administrative staff.</a:t>
            </a:r>
          </a:p>
          <a:p>
            <a:pPr lvl="1">
              <a:lnSpc>
                <a:spcPct val="160000"/>
              </a:lnSpc>
            </a:pPr>
            <a:r>
              <a:rPr lang="en-US" i="1" dirty="0"/>
              <a:t>The staff of hospital need to learn the skills of communication.</a:t>
            </a:r>
          </a:p>
          <a:p>
            <a:pPr marL="274320" lvl="1" indent="0">
              <a:lnSpc>
                <a:spcPct val="160000"/>
              </a:lnSpc>
              <a:buNone/>
            </a:pPr>
            <a:endParaRPr lang="en-US" i="1" dirty="0"/>
          </a:p>
        </p:txBody>
      </p:sp>
    </p:spTree>
  </p:cSld>
  <p:clrMapOvr>
    <a:masterClrMapping/>
  </p:clrMapOvr>
  <mc:AlternateContent xmlns:mc="http://schemas.openxmlformats.org/markup-compatibility/2006" xmlns:p14="http://schemas.microsoft.com/office/powerpoint/2010/main">
    <mc:Choice Requires="p14">
      <p:transition spd="slow" p14:dur="2000" advTm="3423"/>
    </mc:Choice>
    <mc:Fallback xmlns="">
      <p:transition spd="slow" advTm="3423"/>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733410" y="139638"/>
            <a:ext cx="8467046" cy="487362"/>
          </a:xfrm>
          <a:prstGeom prst="rect">
            <a:avLst/>
          </a:prstGeom>
          <a:ln>
            <a:noFill/>
          </a:ln>
        </p:spPr>
        <p:txBody>
          <a:bodyPr>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endParaRPr lang="en-US" sz="3800" b="1" dirty="0">
              <a:latin typeface="+mn-lt"/>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5" name="Title 1"/>
          <p:cNvSpPr>
            <a:spLocks noGrp="1"/>
          </p:cNvSpPr>
          <p:nvPr/>
        </p:nvSpPr>
        <p:spPr>
          <a:xfrm>
            <a:off x="2423592" y="627000"/>
            <a:ext cx="8534400" cy="758952"/>
          </a:xfrm>
          <a:prstGeom prst="rect">
            <a:avLst/>
          </a:prstGeom>
        </p:spPr>
        <p:txBody>
          <a:bodyPr vert="horz" anchor="b">
            <a:normAutofit/>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r>
              <a:rPr lang="en-US" sz="2800" b="1" dirty="0"/>
              <a:t>Agreement with words that indicate portions</a:t>
            </a:r>
          </a:p>
        </p:txBody>
      </p:sp>
      <p:sp>
        <p:nvSpPr>
          <p:cNvPr id="6" name="Content Placeholder 2"/>
          <p:cNvSpPr>
            <a:spLocks noGrp="1"/>
          </p:cNvSpPr>
          <p:nvPr/>
        </p:nvSpPr>
        <p:spPr>
          <a:xfrm>
            <a:off x="2423592" y="1509161"/>
            <a:ext cx="8229600" cy="5029200"/>
          </a:xfrm>
          <a:prstGeom prst="rect">
            <a:avLst/>
          </a:prstGeom>
        </p:spPr>
        <p:txBody>
          <a:bodyPr vert="horz">
            <a:normAutofit fontScale="47500" lnSpcReduction="20000"/>
          </a:bodyPr>
          <a:lstStyle>
            <a:lvl1pPr marL="274320" indent="-274320" algn="l" rtl="0" eaLnBrk="1" latinLnBrk="0" hangingPunct="1">
              <a:spcBef>
                <a:spcPct val="20000"/>
              </a:spcBef>
              <a:buClr>
                <a:schemeClr val="accent1"/>
              </a:buClr>
              <a:buSzPct val="85000"/>
              <a:buFont typeface="Wingdings 2" panose="05020102010507070707"/>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panose="0500000000000000000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panose="05020102010507070707"/>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panose="0500000000000000000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algn="just">
              <a:lnSpc>
                <a:spcPct val="170000"/>
              </a:lnSpc>
            </a:pPr>
            <a:r>
              <a:rPr lang="en-US" sz="4200" b="1" i="1" dirty="0"/>
              <a:t>With words that indicate portions—a lot, a majority, some, all, etc. we are guided by the noun after of. If the noun after of is singular, use a singular verb. If it is plural, use a plural verb.</a:t>
            </a:r>
          </a:p>
          <a:p>
            <a:pPr>
              <a:lnSpc>
                <a:spcPct val="170000"/>
              </a:lnSpc>
            </a:pPr>
            <a:r>
              <a:rPr lang="en-US" sz="3800" b="1" i="1" u="sng" dirty="0"/>
              <a:t>Examples:</a:t>
            </a:r>
            <a:br>
              <a:rPr lang="en-US" i="1" dirty="0"/>
            </a:br>
            <a:r>
              <a:rPr lang="en-US" sz="3800" i="1" dirty="0"/>
              <a:t>A lot of the </a:t>
            </a:r>
            <a:r>
              <a:rPr lang="en-US" sz="3800" b="1" i="1" dirty="0"/>
              <a:t>pie </a:t>
            </a:r>
            <a:r>
              <a:rPr lang="en-US" sz="3800" i="1" u="sng" dirty="0"/>
              <a:t>has disappeared</a:t>
            </a:r>
            <a:r>
              <a:rPr lang="en-US" sz="3800" i="1" dirty="0"/>
              <a:t>.</a:t>
            </a:r>
            <a:br>
              <a:rPr lang="en-US" sz="3800" i="1" dirty="0"/>
            </a:br>
            <a:r>
              <a:rPr lang="en-US" sz="3800" i="1" dirty="0"/>
              <a:t>A lot of the </a:t>
            </a:r>
            <a:r>
              <a:rPr lang="en-US" sz="3800" b="1" i="1" dirty="0"/>
              <a:t>pies</a:t>
            </a:r>
            <a:r>
              <a:rPr lang="en-US" sz="3800" i="1" dirty="0"/>
              <a:t> </a:t>
            </a:r>
            <a:r>
              <a:rPr lang="en-US" sz="3800" i="1" u="sng" dirty="0"/>
              <a:t>have disappeared</a:t>
            </a:r>
            <a:r>
              <a:rPr lang="en-US" sz="3800" i="1" dirty="0"/>
              <a:t>.</a:t>
            </a:r>
            <a:br>
              <a:rPr lang="en-US" sz="3800" i="1" dirty="0"/>
            </a:br>
            <a:r>
              <a:rPr lang="en-US" sz="3800" i="1" dirty="0"/>
              <a:t>A third of the </a:t>
            </a:r>
            <a:r>
              <a:rPr lang="en-US" sz="3800" b="1" i="1" dirty="0"/>
              <a:t>city</a:t>
            </a:r>
            <a:r>
              <a:rPr lang="en-US" sz="3800" i="1" dirty="0"/>
              <a:t> </a:t>
            </a:r>
            <a:r>
              <a:rPr lang="en-US" sz="3800" i="1" u="sng" dirty="0"/>
              <a:t>is</a:t>
            </a:r>
            <a:r>
              <a:rPr lang="en-US" sz="3800" i="1" dirty="0"/>
              <a:t> unemployed.</a:t>
            </a:r>
            <a:br>
              <a:rPr lang="en-US" sz="3800" i="1" dirty="0"/>
            </a:br>
            <a:r>
              <a:rPr lang="en-US" sz="3800" i="1" dirty="0"/>
              <a:t>A third of the </a:t>
            </a:r>
            <a:r>
              <a:rPr lang="en-US" sz="3800" b="1" i="1" dirty="0"/>
              <a:t>people</a:t>
            </a:r>
            <a:r>
              <a:rPr lang="en-US" sz="3800" i="1" dirty="0"/>
              <a:t> </a:t>
            </a:r>
            <a:r>
              <a:rPr lang="en-US" sz="3800" i="1" u="sng" dirty="0"/>
              <a:t>are</a:t>
            </a:r>
            <a:r>
              <a:rPr lang="en-US" sz="3800" i="1" dirty="0"/>
              <a:t> unemployed.</a:t>
            </a:r>
            <a:br>
              <a:rPr lang="en-US" sz="3800" i="1" dirty="0"/>
            </a:br>
            <a:r>
              <a:rPr lang="en-US" sz="3800" i="1" dirty="0"/>
              <a:t>All of the </a:t>
            </a:r>
            <a:r>
              <a:rPr lang="en-US" sz="3800" b="1" i="1" dirty="0"/>
              <a:t>pie</a:t>
            </a:r>
            <a:r>
              <a:rPr lang="en-US" sz="3800" i="1" dirty="0"/>
              <a:t> </a:t>
            </a:r>
            <a:r>
              <a:rPr lang="en-US" sz="3800" i="1" u="sng" dirty="0"/>
              <a:t>is</a:t>
            </a:r>
            <a:r>
              <a:rPr lang="en-US" sz="3800" i="1" dirty="0"/>
              <a:t> gone.</a:t>
            </a:r>
            <a:br>
              <a:rPr lang="en-US" sz="3800" i="1" dirty="0"/>
            </a:br>
            <a:r>
              <a:rPr lang="en-US" sz="3800" i="1" dirty="0"/>
              <a:t>All of the </a:t>
            </a:r>
            <a:r>
              <a:rPr lang="en-US" sz="3800" b="1" i="1" dirty="0"/>
              <a:t>pies</a:t>
            </a:r>
            <a:r>
              <a:rPr lang="en-US" sz="3800" i="1" dirty="0"/>
              <a:t> </a:t>
            </a:r>
            <a:r>
              <a:rPr lang="en-US" sz="3800" i="1" u="sng" dirty="0"/>
              <a:t>are</a:t>
            </a:r>
            <a:r>
              <a:rPr lang="en-US" sz="3800" i="1" dirty="0"/>
              <a:t> gone.</a:t>
            </a:r>
            <a:endParaRPr lang="en-US" sz="3800" dirty="0"/>
          </a:p>
        </p:txBody>
      </p:sp>
    </p:spTree>
  </p:cSld>
  <p:clrMapOvr>
    <a:masterClrMapping/>
  </p:clrMapOvr>
  <mc:AlternateContent xmlns:mc="http://schemas.openxmlformats.org/markup-compatibility/2006" xmlns:p14="http://schemas.microsoft.com/office/powerpoint/2010/main">
    <mc:Choice Requires="p14">
      <p:transition spd="slow" p14:dur="2000" advTm="3423"/>
    </mc:Choice>
    <mc:Fallback xmlns="">
      <p:transition spd="slow" advTm="3423"/>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733410" y="570695"/>
            <a:ext cx="8467046" cy="487362"/>
          </a:xfrm>
          <a:prstGeom prst="rect">
            <a:avLst/>
          </a:prstGeom>
          <a:ln>
            <a:noFill/>
          </a:ln>
        </p:spPr>
        <p:txBody>
          <a:bodyPr>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4400" dirty="0">
                <a:solidFill>
                  <a:srgbClr val="FF0000"/>
                </a:solidFill>
                <a:latin typeface="+mn-lt"/>
              </a:rPr>
              <a:t>References</a:t>
            </a:r>
            <a:endParaRPr lang="en-US" sz="3800" b="1" dirty="0">
              <a:latin typeface="+mn-lt"/>
            </a:endParaRPr>
          </a:p>
          <a:p>
            <a:pPr algn="ctr"/>
            <a:endParaRPr lang="en-US" sz="2000" dirty="0">
              <a:solidFill>
                <a:schemeClr val="tx1"/>
              </a:solidFill>
              <a:latin typeface="+mn-lt"/>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
        <p:nvSpPr>
          <p:cNvPr id="3" name="TextBox 2"/>
          <p:cNvSpPr txBox="1"/>
          <p:nvPr/>
        </p:nvSpPr>
        <p:spPr>
          <a:xfrm>
            <a:off x="1843578" y="2132856"/>
            <a:ext cx="9691182" cy="2585323"/>
          </a:xfrm>
          <a:prstGeom prst="rect">
            <a:avLst/>
          </a:prstGeom>
          <a:noFill/>
        </p:spPr>
        <p:txBody>
          <a:bodyPr wrap="square" rtlCol="0">
            <a:spAutoFit/>
          </a:bodyPr>
          <a:lstStyle/>
          <a:p>
            <a:pPr marL="342900" indent="-342900">
              <a:buAutoNum type="arabicPeriod"/>
            </a:pPr>
            <a:r>
              <a:rPr lang="en-US" dirty="0"/>
              <a:t>Technical Communication(Second Ed.); </a:t>
            </a:r>
            <a:r>
              <a:rPr lang="en-US" dirty="0" err="1"/>
              <a:t>Meenakshi</a:t>
            </a:r>
            <a:r>
              <a:rPr lang="en-US" dirty="0"/>
              <a:t> Raman  &amp; S. Sharma ;OUP New Delhi,2011</a:t>
            </a:r>
          </a:p>
          <a:p>
            <a:endParaRPr lang="en-US" dirty="0"/>
          </a:p>
          <a:p>
            <a:r>
              <a:rPr lang="en-US" dirty="0"/>
              <a:t>2.Business Communication ; KK </a:t>
            </a:r>
            <a:r>
              <a:rPr lang="en-US" dirty="0" err="1"/>
              <a:t>Sinha</a:t>
            </a:r>
            <a:r>
              <a:rPr lang="en-US" dirty="0"/>
              <a:t> , </a:t>
            </a:r>
            <a:r>
              <a:rPr lang="en-US" dirty="0" err="1"/>
              <a:t>Ruchi</a:t>
            </a:r>
            <a:r>
              <a:rPr lang="en-US" dirty="0"/>
              <a:t> </a:t>
            </a:r>
            <a:r>
              <a:rPr lang="en-US" dirty="0" err="1"/>
              <a:t>Sehgal</a:t>
            </a:r>
            <a:r>
              <a:rPr lang="en-US" dirty="0"/>
              <a:t> </a:t>
            </a:r>
            <a:r>
              <a:rPr lang="en-US" dirty="0" err="1"/>
              <a:t>Mohindra</a:t>
            </a:r>
            <a:r>
              <a:rPr lang="en-US" dirty="0"/>
              <a:t> ; </a:t>
            </a:r>
            <a:r>
              <a:rPr lang="en-US" dirty="0" err="1"/>
              <a:t>Taxmann</a:t>
            </a:r>
            <a:r>
              <a:rPr lang="en-US" dirty="0"/>
              <a:t> Publication New Delhi 2023</a:t>
            </a:r>
          </a:p>
          <a:p>
            <a:endParaRPr lang="en-US" dirty="0"/>
          </a:p>
          <a:p>
            <a:r>
              <a:rPr lang="en-US" dirty="0"/>
              <a:t>3.Business Communication for Managers ;</a:t>
            </a:r>
            <a:r>
              <a:rPr lang="en-US" dirty="0" err="1"/>
              <a:t>Payal</a:t>
            </a:r>
            <a:r>
              <a:rPr lang="en-US" dirty="0"/>
              <a:t> </a:t>
            </a:r>
            <a:r>
              <a:rPr lang="en-US" dirty="0" err="1"/>
              <a:t>Mehra</a:t>
            </a:r>
            <a:r>
              <a:rPr lang="en-US" dirty="0"/>
              <a:t>, Pearson, Delhi 2012 </a:t>
            </a:r>
          </a:p>
          <a:p>
            <a:endParaRPr lang="en-US" dirty="0"/>
          </a:p>
          <a:p>
            <a:r>
              <a:rPr lang="en-US" dirty="0"/>
              <a:t>4. Personality Development  &amp; Soft Skills; </a:t>
            </a:r>
            <a:r>
              <a:rPr lang="en-US" dirty="0" err="1"/>
              <a:t>Barun</a:t>
            </a:r>
            <a:r>
              <a:rPr lang="en-US" dirty="0"/>
              <a:t> K. </a:t>
            </a:r>
            <a:r>
              <a:rPr lang="en-US" dirty="0" err="1"/>
              <a:t>Mitra</a:t>
            </a:r>
            <a:r>
              <a:rPr lang="en-US" dirty="0"/>
              <a:t>, OUP, New Delhi, 2012</a:t>
            </a:r>
          </a:p>
          <a:p>
            <a:endParaRPr lang="en-US" dirty="0"/>
          </a:p>
          <a:p>
            <a:r>
              <a:rPr lang="en-US" dirty="0"/>
              <a:t>5.Soft Skills for Everyone, Jeff Butterfield , </a:t>
            </a:r>
            <a:r>
              <a:rPr lang="en-US" dirty="0" err="1"/>
              <a:t>Cengage</a:t>
            </a:r>
            <a:r>
              <a:rPr lang="en-US" dirty="0"/>
              <a:t> Learning India Pvt. Ltd. ;New Delhi,2017. </a:t>
            </a:r>
          </a:p>
        </p:txBody>
      </p:sp>
    </p:spTree>
  </p:cSld>
  <p:clrMapOvr>
    <a:masterClrMapping/>
  </p:clrMapOvr>
  <mc:AlternateContent xmlns:mc="http://schemas.openxmlformats.org/markup-compatibility/2006" xmlns:p14="http://schemas.microsoft.com/office/powerpoint/2010/main">
    <mc:Choice Requires="p14">
      <p:transition spd="slow" p14:dur="2000" advTm="3423"/>
    </mc:Choice>
    <mc:Fallback xmlns="">
      <p:transition spd="slow" advTm="3423"/>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47909"/>
            <a:ext cx="9144000" cy="787400"/>
          </a:xfrm>
        </p:spPr>
        <p:txBody>
          <a:bodyPr>
            <a:normAutofit/>
          </a:bodyPr>
          <a:lstStyle/>
          <a:p>
            <a:pPr>
              <a:defRPr/>
            </a:pPr>
            <a:r>
              <a:rPr lang="en-US" dirty="0">
                <a:solidFill>
                  <a:srgbClr val="FF0000"/>
                </a:solidFill>
                <a:cs typeface="Times New Roman" panose="02020603050405020304" pitchFamily="18" charset="0"/>
              </a:rPr>
              <a:t>Disclaimer</a:t>
            </a:r>
            <a:endParaRPr lang="en-IN" dirty="0">
              <a:solidFill>
                <a:srgbClr val="FF0000"/>
              </a:solidFill>
              <a:cs typeface="Times New Roman" panose="02020603050405020304" pitchFamily="18" charset="0"/>
            </a:endParaRPr>
          </a:p>
        </p:txBody>
      </p:sp>
      <p:pic>
        <p:nvPicPr>
          <p:cNvPr id="6148" name="Picture 3"/>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50365" y="2132965"/>
            <a:ext cx="8334375" cy="32404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423"/>
    </mc:Choice>
    <mc:Fallback xmlns="">
      <p:transition spd="slow" advTm="3423"/>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p:nvPr/>
        </p:nvSpPr>
        <p:spPr>
          <a:xfrm>
            <a:off x="1559496" y="2708920"/>
            <a:ext cx="8467046" cy="487362"/>
          </a:xfrm>
          <a:prstGeom prst="rect">
            <a:avLst/>
          </a:prstGeom>
          <a:ln>
            <a:noFill/>
          </a:ln>
        </p:spPr>
        <p:txBody>
          <a:bodyPr>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8000" dirty="0">
                <a:solidFill>
                  <a:srgbClr val="FF0000"/>
                </a:solidFill>
                <a:latin typeface="+mn-lt"/>
              </a:rPr>
              <a:t>Thank You </a:t>
            </a:r>
          </a:p>
          <a:p>
            <a:pPr algn="ctr"/>
            <a:endParaRPr lang="en-US" sz="7200" dirty="0">
              <a:solidFill>
                <a:srgbClr val="FF0000"/>
              </a:solidFill>
              <a:latin typeface="+mn-lt"/>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423"/>
    </mc:Choice>
    <mc:Fallback xmlns="">
      <p:transition spd="slow" advTm="3423"/>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1646</Words>
  <Application>Microsoft Office PowerPoint</Application>
  <PresentationFormat>Widescreen</PresentationFormat>
  <Paragraphs>159</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Times New Roman</vt:lpstr>
      <vt:lpstr>Office Theme</vt:lpstr>
      <vt:lpstr>PowerPoint Presentation</vt:lpstr>
      <vt:lpstr>Word Formation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Disclaimer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Death Battle</dc:title>
  <dc:creator>Harsh Khatter</dc:creator>
  <cp:lastModifiedBy>Siddhant Saxena</cp:lastModifiedBy>
  <cp:revision>139</cp:revision>
  <dcterms:created xsi:type="dcterms:W3CDTF">2020-07-18T14:21:00Z</dcterms:created>
  <dcterms:modified xsi:type="dcterms:W3CDTF">2025-10-10T17:39:15Z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AB0AB457958B4E08AB87D60282055FF7_12</vt:lpwstr>
  </property>
  <property fmtid="{D5CDD505-2E9C-101B-9397-08002B2CF9AE}" pid="3" name="KSOProductBuildVer">
    <vt:lpwstr>1033-12.2.0.21931</vt:lpwstr>
  </property>
</Properties>
</file>