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719" r:id="rId1"/>
  </p:sldMasterIdLst>
  <p:sldIdLst>
    <p:sldId id="256" r:id="rId2"/>
    <p:sldId id="266" r:id="rId3"/>
    <p:sldId id="268" r:id="rId4"/>
    <p:sldId id="269" r:id="rId5"/>
    <p:sldId id="258" r:id="rId6"/>
    <p:sldId id="270" r:id="rId7"/>
    <p:sldId id="271" r:id="rId8"/>
    <p:sldId id="278" r:id="rId9"/>
    <p:sldId id="272" r:id="rId10"/>
    <p:sldId id="273" r:id="rId11"/>
    <p:sldId id="276" r:id="rId12"/>
    <p:sldId id="265" r:id="rId13"/>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2B3EF69-FC4B-4D06-8EB1-51D30F8BF4E1}" v="8" dt="2025-09-07T13:32:39.694"/>
    <p1510:client id="{A5BF149F-3A84-483C-A624-9F1340DF2065}" v="41" dt="2025-09-07T13:21:40.69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5" d="100"/>
          <a:sy n="65" d="100"/>
        </p:scale>
        <p:origin x="724" y="6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r. Tej Singh" userId="5a387a013e797e34" providerId="LiveId" clId="{52B3EF69-FC4B-4D06-8EB1-51D30F8BF4E1}"/>
    <pc:docChg chg="addSld delSld modSld">
      <pc:chgData name="Dr. Tej Singh" userId="5a387a013e797e34" providerId="LiveId" clId="{52B3EF69-FC4B-4D06-8EB1-51D30F8BF4E1}" dt="2025-09-07T13:34:09.707" v="14" actId="47"/>
      <pc:docMkLst>
        <pc:docMk/>
      </pc:docMkLst>
      <pc:sldChg chg="modSp mod">
        <pc:chgData name="Dr. Tej Singh" userId="5a387a013e797e34" providerId="LiveId" clId="{52B3EF69-FC4B-4D06-8EB1-51D30F8BF4E1}" dt="2025-09-07T13:28:29.826" v="2" actId="20577"/>
        <pc:sldMkLst>
          <pc:docMk/>
          <pc:sldMk cId="185625353" sldId="273"/>
        </pc:sldMkLst>
        <pc:spChg chg="mod">
          <ac:chgData name="Dr. Tej Singh" userId="5a387a013e797e34" providerId="LiveId" clId="{52B3EF69-FC4B-4D06-8EB1-51D30F8BF4E1}" dt="2025-09-07T13:28:29.826" v="2" actId="20577"/>
          <ac:spMkLst>
            <pc:docMk/>
            <pc:sldMk cId="185625353" sldId="273"/>
            <ac:spMk id="3" creationId="{5EC9377D-0713-3BEB-FA17-4180C64C7E05}"/>
          </ac:spMkLst>
        </pc:spChg>
      </pc:sldChg>
      <pc:sldChg chg="modSp">
        <pc:chgData name="Dr. Tej Singh" userId="5a387a013e797e34" providerId="LiveId" clId="{52B3EF69-FC4B-4D06-8EB1-51D30F8BF4E1}" dt="2025-09-07T13:32:39.694" v="13"/>
        <pc:sldMkLst>
          <pc:docMk/>
          <pc:sldMk cId="1512120235" sldId="276"/>
        </pc:sldMkLst>
        <pc:spChg chg="mod">
          <ac:chgData name="Dr. Tej Singh" userId="5a387a013e797e34" providerId="LiveId" clId="{52B3EF69-FC4B-4D06-8EB1-51D30F8BF4E1}" dt="2025-09-07T13:32:39.694" v="13"/>
          <ac:spMkLst>
            <pc:docMk/>
            <pc:sldMk cId="1512120235" sldId="276"/>
            <ac:spMk id="2" creationId="{D8130B00-DA65-D726-B8DE-22ADBADDA7B0}"/>
          </ac:spMkLst>
        </pc:spChg>
      </pc:sldChg>
      <pc:sldChg chg="add del">
        <pc:chgData name="Dr. Tej Singh" userId="5a387a013e797e34" providerId="LiveId" clId="{52B3EF69-FC4B-4D06-8EB1-51D30F8BF4E1}" dt="2025-09-07T13:34:09.707" v="14" actId="47"/>
        <pc:sldMkLst>
          <pc:docMk/>
          <pc:sldMk cId="3544681065" sldId="277"/>
        </pc:sldMkLst>
      </pc:sldChg>
      <pc:sldChg chg="modSp add mod">
        <pc:chgData name="Dr. Tej Singh" userId="5a387a013e797e34" providerId="LiveId" clId="{52B3EF69-FC4B-4D06-8EB1-51D30F8BF4E1}" dt="2025-09-07T13:32:07.378" v="12" actId="255"/>
        <pc:sldMkLst>
          <pc:docMk/>
          <pc:sldMk cId="3072938982" sldId="278"/>
        </pc:sldMkLst>
        <pc:spChg chg="mod">
          <ac:chgData name="Dr. Tej Singh" userId="5a387a013e797e34" providerId="LiveId" clId="{52B3EF69-FC4B-4D06-8EB1-51D30F8BF4E1}" dt="2025-09-07T13:30:42.864" v="5"/>
          <ac:spMkLst>
            <pc:docMk/>
            <pc:sldMk cId="3072938982" sldId="278"/>
            <ac:spMk id="2" creationId="{9E97C566-7727-0776-F956-8A0F0E34F3EA}"/>
          </ac:spMkLst>
        </pc:spChg>
        <pc:spChg chg="mod">
          <ac:chgData name="Dr. Tej Singh" userId="5a387a013e797e34" providerId="LiveId" clId="{52B3EF69-FC4B-4D06-8EB1-51D30F8BF4E1}" dt="2025-09-07T13:32:07.378" v="12" actId="255"/>
          <ac:spMkLst>
            <pc:docMk/>
            <pc:sldMk cId="3072938982" sldId="278"/>
            <ac:spMk id="3" creationId="{660D3D25-5E13-D763-DBC5-F6142C483BF4}"/>
          </ac:spMkLst>
        </pc:spChg>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9/7/2025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14467805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9/7/2025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6212527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9/7/2025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15359554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smtClean="0"/>
              <a:t>9/7/2025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628214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smtClean="0"/>
              <a:t>9/7/2025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91212589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smtClean="0"/>
              <a:t>9/7/2025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180580556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smtClean="0"/>
              <a:t>9/7/2025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4543988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t>9/7/2025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4328023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6DFF08F-DC6B-4601-B491-B0F83F6DD2DA}" type="datetimeFigureOut">
              <a:rPr lang="en-US" smtClean="0"/>
              <a:t>9/7/2025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200490082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9/7/2025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26977603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9/7/2025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287993900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9/7/2025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35805640"/>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9/7/2025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04714795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96DFF08F-DC6B-4601-B491-B0F83F6DD2DA}" type="datetimeFigureOut">
              <a:rPr lang="en-US" smtClean="0"/>
              <a:pPr/>
              <a:t>9/7/2025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7561957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9/7/2025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6997999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smtClean="0"/>
              <a:t>9/7/2025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smtClean="0"/>
              <a:t>‹#›</a:t>
            </a:fld>
            <a:endParaRPr lang="en-US" dirty="0"/>
          </a:p>
        </p:txBody>
      </p:sp>
    </p:spTree>
    <p:extLst>
      <p:ext uri="{BB962C8B-B14F-4D97-AF65-F5344CB8AC3E}">
        <p14:creationId xmlns:p14="http://schemas.microsoft.com/office/powerpoint/2010/main" val="385076399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96DFF08F-DC6B-4601-B491-B0F83F6DD2DA}" type="datetimeFigureOut">
              <a:rPr lang="en-US" smtClean="0"/>
              <a:pPr/>
              <a:t>9/7/2025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3026376538"/>
      </p:ext>
    </p:extLst>
  </p:cSld>
  <p:clrMap bg1="lt1" tx1="dk1" bg2="lt2" tx2="dk2" accent1="accent1" accent2="accent2" accent3="accent3" accent4="accent4" accent5="accent5" accent6="accent6" hlink="hlink" folHlink="folHlink"/>
  <p:sldLayoutIdLst>
    <p:sldLayoutId id="2147483720" r:id="rId1"/>
    <p:sldLayoutId id="2147483721" r:id="rId2"/>
    <p:sldLayoutId id="2147483722" r:id="rId3"/>
    <p:sldLayoutId id="2147483723" r:id="rId4"/>
    <p:sldLayoutId id="2147483724" r:id="rId5"/>
    <p:sldLayoutId id="2147483725" r:id="rId6"/>
    <p:sldLayoutId id="2147483726" r:id="rId7"/>
    <p:sldLayoutId id="2147483727" r:id="rId8"/>
    <p:sldLayoutId id="2147483728" r:id="rId9"/>
    <p:sldLayoutId id="2147483729" r:id="rId10"/>
    <p:sldLayoutId id="2147483730" r:id="rId11"/>
    <p:sldLayoutId id="2147483731" r:id="rId12"/>
    <p:sldLayoutId id="2147483732" r:id="rId13"/>
    <p:sldLayoutId id="2147483733" r:id="rId14"/>
    <p:sldLayoutId id="2147483734" r:id="rId15"/>
    <p:sldLayoutId id="2147483735"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EBE858-34AB-7323-2BC6-A8748127B8E5}"/>
              </a:ext>
            </a:extLst>
          </p:cNvPr>
          <p:cNvSpPr>
            <a:spLocks noGrp="1"/>
          </p:cNvSpPr>
          <p:nvPr>
            <p:ph type="ctrTitle"/>
          </p:nvPr>
        </p:nvSpPr>
        <p:spPr/>
        <p:txBody>
          <a:bodyPr>
            <a:normAutofit/>
          </a:bodyPr>
          <a:lstStyle/>
          <a:p>
            <a:r>
              <a:rPr lang="en-IN" sz="4400" b="1" dirty="0"/>
              <a:t>ABES Engineering College</a:t>
            </a:r>
            <a:endParaRPr lang="en-IN" sz="4400" dirty="0"/>
          </a:p>
        </p:txBody>
      </p:sp>
      <p:sp>
        <p:nvSpPr>
          <p:cNvPr id="3" name="Subtitle 2">
            <a:extLst>
              <a:ext uri="{FF2B5EF4-FFF2-40B4-BE49-F238E27FC236}">
                <a16:creationId xmlns:a16="http://schemas.microsoft.com/office/drawing/2014/main" id="{722BC624-4690-4A18-A8F5-A97175A54392}"/>
              </a:ext>
            </a:extLst>
          </p:cNvPr>
          <p:cNvSpPr>
            <a:spLocks noGrp="1"/>
          </p:cNvSpPr>
          <p:nvPr>
            <p:ph type="subTitle" idx="1"/>
          </p:nvPr>
        </p:nvSpPr>
        <p:spPr/>
        <p:txBody>
          <a:bodyPr>
            <a:normAutofit/>
          </a:bodyPr>
          <a:lstStyle/>
          <a:p>
            <a:r>
              <a:rPr lang="en-IN" sz="2000" b="1" dirty="0">
                <a:solidFill>
                  <a:schemeClr val="accent5">
                    <a:lumMod val="75000"/>
                  </a:schemeClr>
                </a:solidFill>
              </a:rPr>
              <a:t>   </a:t>
            </a:r>
            <a:r>
              <a:rPr lang="en-IN" sz="1900" b="1" dirty="0">
                <a:solidFill>
                  <a:schemeClr val="accent5">
                    <a:lumMod val="75000"/>
                  </a:schemeClr>
                </a:solidFill>
              </a:rPr>
              <a:t>Course Title: </a:t>
            </a:r>
            <a:r>
              <a:rPr lang="en-US" sz="1900" b="1" dirty="0">
                <a:solidFill>
                  <a:schemeClr val="accent5">
                    <a:lumMod val="75000"/>
                  </a:schemeClr>
                </a:solidFill>
              </a:rPr>
              <a:t>Fundamentals of Linear Algebra &amp; Statistics</a:t>
            </a:r>
            <a:endParaRPr lang="en-IN" sz="1900" b="1" dirty="0">
              <a:solidFill>
                <a:schemeClr val="accent5">
                  <a:lumMod val="75000"/>
                </a:schemeClr>
              </a:solidFill>
            </a:endParaRPr>
          </a:p>
        </p:txBody>
      </p:sp>
      <p:pic>
        <p:nvPicPr>
          <p:cNvPr id="4" name="Picture 3" descr="ABES Engineering College Employees, Location, Alumni | LinkedIn">
            <a:extLst>
              <a:ext uri="{FF2B5EF4-FFF2-40B4-BE49-F238E27FC236}">
                <a16:creationId xmlns:a16="http://schemas.microsoft.com/office/drawing/2014/main" id="{14C923FE-B833-C264-6B4C-069040C18405}"/>
              </a:ext>
            </a:extLst>
          </p:cNvPr>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1507067" y="3429000"/>
            <a:ext cx="962025" cy="621833"/>
          </a:xfrm>
          <a:prstGeom prst="rect">
            <a:avLst/>
          </a:prstGeom>
          <a:noFill/>
          <a:ln>
            <a:noFill/>
          </a:ln>
        </p:spPr>
      </p:pic>
    </p:spTree>
    <p:extLst>
      <p:ext uri="{BB962C8B-B14F-4D97-AF65-F5344CB8AC3E}">
        <p14:creationId xmlns:p14="http://schemas.microsoft.com/office/powerpoint/2010/main" val="1206673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a:extLst>
              <a:ext uri="{FF2B5EF4-FFF2-40B4-BE49-F238E27FC236}">
                <a16:creationId xmlns:a16="http://schemas.microsoft.com/office/drawing/2014/main" id="{6E1DDC81-6985-A074-EDB1-9342F54C5091}"/>
              </a:ext>
            </a:extLst>
          </p:cNvPr>
          <p:cNvPicPr>
            <a:picLocks noChangeAspect="1"/>
          </p:cNvPicPr>
          <p:nvPr/>
        </p:nvPicPr>
        <p:blipFill>
          <a:blip r:embed="rId2"/>
          <a:stretch>
            <a:fillRect/>
          </a:stretch>
        </p:blipFill>
        <p:spPr>
          <a:xfrm>
            <a:off x="160010" y="304799"/>
            <a:ext cx="9937720" cy="4719485"/>
          </a:xfrm>
          <a:prstGeom prst="rect">
            <a:avLst/>
          </a:prstGeom>
        </p:spPr>
      </p:pic>
    </p:spTree>
    <p:extLst>
      <p:ext uri="{BB962C8B-B14F-4D97-AF65-F5344CB8AC3E}">
        <p14:creationId xmlns:p14="http://schemas.microsoft.com/office/powerpoint/2010/main" val="95336821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A7F4B-9A87-20D5-5CE1-ADA5517AF34D}"/>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44478F20-3C62-3477-2C0E-80B19410A772}"/>
              </a:ext>
            </a:extLst>
          </p:cNvPr>
          <p:cNvPicPr>
            <a:picLocks noChangeAspect="1"/>
          </p:cNvPicPr>
          <p:nvPr/>
        </p:nvPicPr>
        <p:blipFill>
          <a:blip r:embed="rId2"/>
          <a:stretch>
            <a:fillRect/>
          </a:stretch>
        </p:blipFill>
        <p:spPr>
          <a:xfrm>
            <a:off x="334298" y="334297"/>
            <a:ext cx="9979742" cy="5220929"/>
          </a:xfrm>
          <a:prstGeom prst="rect">
            <a:avLst/>
          </a:prstGeom>
        </p:spPr>
      </p:pic>
    </p:spTree>
    <p:extLst>
      <p:ext uri="{BB962C8B-B14F-4D97-AF65-F5344CB8AC3E}">
        <p14:creationId xmlns:p14="http://schemas.microsoft.com/office/powerpoint/2010/main" val="42678592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FBE357-9306-A466-259C-A01FDFF0FD09}"/>
            </a:ext>
          </a:extLst>
        </p:cNvPr>
        <p:cNvGrpSpPr/>
        <p:nvPr/>
      </p:nvGrpSpPr>
      <p:grpSpPr>
        <a:xfrm>
          <a:off x="0" y="0"/>
          <a:ext cx="0" cy="0"/>
          <a:chOff x="0" y="0"/>
          <a:chExt cx="0" cy="0"/>
        </a:xfrm>
      </p:grpSpPr>
      <p:pic>
        <p:nvPicPr>
          <p:cNvPr id="3" name="Picture 2">
            <a:extLst>
              <a:ext uri="{FF2B5EF4-FFF2-40B4-BE49-F238E27FC236}">
                <a16:creationId xmlns:a16="http://schemas.microsoft.com/office/drawing/2014/main" id="{31B50A57-230E-C835-46D5-E06BA9E1F3A7}"/>
              </a:ext>
            </a:extLst>
          </p:cNvPr>
          <p:cNvPicPr>
            <a:picLocks noChangeAspect="1"/>
          </p:cNvPicPr>
          <p:nvPr/>
        </p:nvPicPr>
        <p:blipFill>
          <a:blip r:embed="rId2"/>
          <a:stretch>
            <a:fillRect/>
          </a:stretch>
        </p:blipFill>
        <p:spPr>
          <a:xfrm>
            <a:off x="327496" y="245806"/>
            <a:ext cx="9376943" cy="5742039"/>
          </a:xfrm>
          <a:prstGeom prst="rect">
            <a:avLst/>
          </a:prstGeom>
        </p:spPr>
      </p:pic>
    </p:spTree>
    <p:extLst>
      <p:ext uri="{BB962C8B-B14F-4D97-AF65-F5344CB8AC3E}">
        <p14:creationId xmlns:p14="http://schemas.microsoft.com/office/powerpoint/2010/main" val="9903344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02AABE-72A2-91F5-AB4B-754CEE0E24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EFE9CE-5199-4994-0FAA-DD0014FE8AA9}"/>
              </a:ext>
            </a:extLst>
          </p:cNvPr>
          <p:cNvSpPr>
            <a:spLocks noGrp="1"/>
          </p:cNvSpPr>
          <p:nvPr>
            <p:ph type="ctrTitle"/>
          </p:nvPr>
        </p:nvSpPr>
        <p:spPr>
          <a:xfrm>
            <a:off x="1251427" y="212051"/>
            <a:ext cx="8022575" cy="2717962"/>
          </a:xfrm>
        </p:spPr>
        <p:txBody>
          <a:bodyPr>
            <a:normAutofit/>
          </a:bodyPr>
          <a:lstStyle/>
          <a:p>
            <a:pPr algn="l"/>
            <a:r>
              <a:rPr lang="en-US" sz="1900" dirty="0">
                <a:solidFill>
                  <a:schemeClr val="tx1"/>
                </a:solidFill>
              </a:rPr>
              <a:t>Text Books</a:t>
            </a:r>
            <a:br>
              <a:rPr lang="en-IN" sz="1900" dirty="0">
                <a:solidFill>
                  <a:schemeClr val="tx1"/>
                </a:solidFill>
              </a:rPr>
            </a:br>
            <a:r>
              <a:rPr lang="en-IN" sz="1900" dirty="0">
                <a:solidFill>
                  <a:schemeClr val="tx1"/>
                </a:solidFill>
              </a:rPr>
              <a:t>1. </a:t>
            </a:r>
            <a:r>
              <a:rPr lang="en-US" sz="1900" dirty="0">
                <a:solidFill>
                  <a:schemeClr val="tx1"/>
                </a:solidFill>
              </a:rPr>
              <a:t>Singh and Pundir, Linera Algebra and Matrices, A Pragati Edition</a:t>
            </a:r>
            <a:br>
              <a:rPr lang="en-IN" sz="1900" dirty="0">
                <a:solidFill>
                  <a:schemeClr val="tx1"/>
                </a:solidFill>
              </a:rPr>
            </a:br>
            <a:r>
              <a:rPr lang="en-IN" sz="1900" dirty="0">
                <a:solidFill>
                  <a:schemeClr val="tx1"/>
                </a:solidFill>
              </a:rPr>
              <a:t>2. </a:t>
            </a:r>
            <a:r>
              <a:rPr lang="en-US" sz="1900" dirty="0">
                <a:solidFill>
                  <a:schemeClr val="tx1"/>
                </a:solidFill>
              </a:rPr>
              <a:t>David C. Lay, Steven R. Lay, Linera Algebra and its applications,   </a:t>
            </a:r>
            <a:br>
              <a:rPr lang="en-US" sz="1900" dirty="0">
                <a:solidFill>
                  <a:schemeClr val="tx1"/>
                </a:solidFill>
              </a:rPr>
            </a:br>
            <a:r>
              <a:rPr lang="en-US" sz="1900" dirty="0">
                <a:solidFill>
                  <a:schemeClr val="tx1"/>
                </a:solidFill>
              </a:rPr>
              <a:t>    Pearson.</a:t>
            </a:r>
            <a:br>
              <a:rPr lang="en-IN" sz="1900" dirty="0">
                <a:solidFill>
                  <a:schemeClr val="tx1"/>
                </a:solidFill>
              </a:rPr>
            </a:br>
            <a:r>
              <a:rPr lang="en-IN" sz="1900" dirty="0">
                <a:solidFill>
                  <a:schemeClr val="tx1"/>
                </a:solidFill>
              </a:rPr>
              <a:t>3. </a:t>
            </a:r>
            <a:r>
              <a:rPr lang="en-US" sz="1900" dirty="0">
                <a:solidFill>
                  <a:schemeClr val="tx1"/>
                </a:solidFill>
              </a:rPr>
              <a:t>S. P. Gupta, Statistical Methods, Sultan Chand &amp; Sons 46</a:t>
            </a:r>
            <a:r>
              <a:rPr lang="en-US" sz="1900" baseline="30000" dirty="0">
                <a:solidFill>
                  <a:schemeClr val="tx1"/>
                </a:solidFill>
              </a:rPr>
              <a:t>th</a:t>
            </a:r>
            <a:r>
              <a:rPr lang="en-US" sz="1900" dirty="0">
                <a:solidFill>
                  <a:schemeClr val="tx1"/>
                </a:solidFill>
              </a:rPr>
              <a:t> edition</a:t>
            </a:r>
            <a:br>
              <a:rPr lang="en-IN" sz="1800" dirty="0">
                <a:solidFill>
                  <a:schemeClr val="tx1"/>
                </a:solidFill>
              </a:rPr>
            </a:br>
            <a:r>
              <a:rPr lang="en-US" dirty="0"/>
              <a:t> </a:t>
            </a:r>
            <a:endParaRPr lang="en-IN" dirty="0"/>
          </a:p>
        </p:txBody>
      </p:sp>
      <p:sp>
        <p:nvSpPr>
          <p:cNvPr id="3" name="Subtitle 2">
            <a:extLst>
              <a:ext uri="{FF2B5EF4-FFF2-40B4-BE49-F238E27FC236}">
                <a16:creationId xmlns:a16="http://schemas.microsoft.com/office/drawing/2014/main" id="{4410F79E-D154-FFD8-749F-0B4DD323133E}"/>
              </a:ext>
            </a:extLst>
          </p:cNvPr>
          <p:cNvSpPr>
            <a:spLocks noGrp="1"/>
          </p:cNvSpPr>
          <p:nvPr>
            <p:ph type="subTitle" idx="1"/>
          </p:nvPr>
        </p:nvSpPr>
        <p:spPr>
          <a:xfrm>
            <a:off x="1366684" y="2429770"/>
            <a:ext cx="7907319" cy="3980862"/>
          </a:xfrm>
        </p:spPr>
        <p:txBody>
          <a:bodyPr>
            <a:normAutofit fontScale="92500" lnSpcReduction="10000"/>
          </a:bodyPr>
          <a:lstStyle/>
          <a:p>
            <a:pPr algn="l"/>
            <a:r>
              <a:rPr lang="en-US" sz="2100" dirty="0">
                <a:solidFill>
                  <a:schemeClr val="tx1"/>
                </a:solidFill>
              </a:rPr>
              <a:t>Reference books</a:t>
            </a:r>
            <a:endParaRPr lang="en-IN" sz="2100" dirty="0">
              <a:solidFill>
                <a:schemeClr val="tx1"/>
              </a:solidFill>
            </a:endParaRPr>
          </a:p>
          <a:p>
            <a:pPr algn="l"/>
            <a:r>
              <a:rPr lang="en-US" sz="2100" dirty="0">
                <a:solidFill>
                  <a:schemeClr val="tx1"/>
                </a:solidFill>
              </a:rPr>
              <a:t>1. Schaum Series, Outline of Linear Algebra, 4th edition.</a:t>
            </a:r>
            <a:endParaRPr lang="en-IN" sz="2100" dirty="0">
              <a:solidFill>
                <a:schemeClr val="tx1"/>
              </a:solidFill>
            </a:endParaRPr>
          </a:p>
          <a:p>
            <a:pPr algn="l"/>
            <a:r>
              <a:rPr lang="en-US" sz="2100" dirty="0">
                <a:solidFill>
                  <a:schemeClr val="tx1"/>
                </a:solidFill>
              </a:rPr>
              <a:t>2. K. Hoffman and R.  Kunze, Linear Algebra 2nd Ed., Prentice Hall of  </a:t>
            </a:r>
          </a:p>
          <a:p>
            <a:pPr algn="l"/>
            <a:r>
              <a:rPr lang="en-US" sz="2100" dirty="0">
                <a:solidFill>
                  <a:schemeClr val="tx1"/>
                </a:solidFill>
              </a:rPr>
              <a:t>    India, 2015.</a:t>
            </a:r>
            <a:endParaRPr lang="en-IN" sz="2100" dirty="0">
              <a:solidFill>
                <a:schemeClr val="tx1"/>
              </a:solidFill>
            </a:endParaRPr>
          </a:p>
          <a:p>
            <a:pPr algn="l"/>
            <a:r>
              <a:rPr lang="en-US" sz="2100" dirty="0">
                <a:solidFill>
                  <a:schemeClr val="tx1"/>
                </a:solidFill>
              </a:rPr>
              <a:t>3. V. Krishnamurthy, V. P. Mainra and J. L. Arora, An introduction to </a:t>
            </a:r>
          </a:p>
          <a:p>
            <a:pPr algn="l"/>
            <a:r>
              <a:rPr lang="en-US" sz="2100" dirty="0">
                <a:solidFill>
                  <a:schemeClr val="tx1"/>
                </a:solidFill>
              </a:rPr>
              <a:t>    Linear Algebra, Affiliated  East-West, 1976.</a:t>
            </a:r>
            <a:endParaRPr lang="en-IN" sz="2100" dirty="0">
              <a:solidFill>
                <a:schemeClr val="tx1"/>
              </a:solidFill>
            </a:endParaRPr>
          </a:p>
          <a:p>
            <a:pPr algn="l"/>
            <a:r>
              <a:rPr lang="en-US" sz="2100" dirty="0">
                <a:solidFill>
                  <a:schemeClr val="tx1"/>
                </a:solidFill>
              </a:rPr>
              <a:t>4. Stephen H. Friedberg, Linear Algebra, PHI, Fourth Edition</a:t>
            </a:r>
            <a:endParaRPr lang="en-IN" sz="2100" dirty="0">
              <a:solidFill>
                <a:schemeClr val="tx1"/>
              </a:solidFill>
            </a:endParaRPr>
          </a:p>
          <a:p>
            <a:pPr algn="l"/>
            <a:r>
              <a:rPr lang="en-US" sz="2100" dirty="0">
                <a:solidFill>
                  <a:schemeClr val="tx1"/>
                </a:solidFill>
              </a:rPr>
              <a:t>5. Wackerly, Dennis D., Mendenhall III, William &amp; Scheaffer, Richard L. </a:t>
            </a:r>
          </a:p>
          <a:p>
            <a:pPr algn="l"/>
            <a:r>
              <a:rPr lang="en-US" sz="2100" dirty="0">
                <a:solidFill>
                  <a:schemeClr val="tx1"/>
                </a:solidFill>
              </a:rPr>
              <a:t>    Mathematical Statistics with Applications. Cengage Learning.</a:t>
            </a:r>
            <a:endParaRPr lang="en-IN" sz="2100" dirty="0">
              <a:solidFill>
                <a:schemeClr val="tx1"/>
              </a:solidFill>
            </a:endParaRPr>
          </a:p>
          <a:p>
            <a:r>
              <a:rPr lang="en-US" dirty="0"/>
              <a:t> </a:t>
            </a:r>
            <a:endParaRPr lang="en-IN" dirty="0"/>
          </a:p>
        </p:txBody>
      </p:sp>
    </p:spTree>
    <p:extLst>
      <p:ext uri="{BB962C8B-B14F-4D97-AF65-F5344CB8AC3E}">
        <p14:creationId xmlns:p14="http://schemas.microsoft.com/office/powerpoint/2010/main" val="26002749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2F1D46-6248-9382-AF5D-E9E246F2D630}"/>
              </a:ext>
            </a:extLst>
          </p:cNvPr>
          <p:cNvSpPr>
            <a:spLocks noGrp="1"/>
          </p:cNvSpPr>
          <p:nvPr>
            <p:ph type="title"/>
          </p:nvPr>
        </p:nvSpPr>
        <p:spPr/>
        <p:txBody>
          <a:bodyPr/>
          <a:lstStyle/>
          <a:p>
            <a:r>
              <a:rPr lang="en-IN" dirty="0"/>
              <a:t>Why Linear Algebra ?</a:t>
            </a:r>
          </a:p>
        </p:txBody>
      </p:sp>
      <p:sp>
        <p:nvSpPr>
          <p:cNvPr id="3" name="Content Placeholder 2">
            <a:extLst>
              <a:ext uri="{FF2B5EF4-FFF2-40B4-BE49-F238E27FC236}">
                <a16:creationId xmlns:a16="http://schemas.microsoft.com/office/drawing/2014/main" id="{F46BE272-8805-FAE9-D360-4C4BDDF8EEAC}"/>
              </a:ext>
            </a:extLst>
          </p:cNvPr>
          <p:cNvSpPr>
            <a:spLocks noGrp="1"/>
          </p:cNvSpPr>
          <p:nvPr>
            <p:ph idx="1"/>
          </p:nvPr>
        </p:nvSpPr>
        <p:spPr>
          <a:xfrm>
            <a:off x="677334" y="1543665"/>
            <a:ext cx="8596668" cy="4497697"/>
          </a:xfrm>
        </p:spPr>
        <p:txBody>
          <a:bodyPr>
            <a:normAutofit/>
          </a:bodyPr>
          <a:lstStyle/>
          <a:p>
            <a:r>
              <a:rPr lang="en-US" sz="2000" dirty="0"/>
              <a:t>Linear algebra is essential because it provides powerful tools to model and solve complex problems across science, engineering, computer graphics, and data science. It focuses on vectors, vector spaces, and linear transformations, which offer both algebraic and geometric perspectives to simplify analysis and allow for efficient computation. Key applications include creating machine learning algorithms, animating computer graphics, analyzing systems of equations, and understanding natural phenomena. </a:t>
            </a:r>
            <a:endParaRPr lang="en-IN" sz="2000" dirty="0"/>
          </a:p>
        </p:txBody>
      </p:sp>
    </p:spTree>
    <p:extLst>
      <p:ext uri="{BB962C8B-B14F-4D97-AF65-F5344CB8AC3E}">
        <p14:creationId xmlns:p14="http://schemas.microsoft.com/office/powerpoint/2010/main" val="336204747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C61EDC-21A4-9444-7B63-569A8866C91F}"/>
              </a:ext>
            </a:extLst>
          </p:cNvPr>
          <p:cNvSpPr>
            <a:spLocks noGrp="1"/>
          </p:cNvSpPr>
          <p:nvPr>
            <p:ph type="title"/>
          </p:nvPr>
        </p:nvSpPr>
        <p:spPr/>
        <p:txBody>
          <a:bodyPr/>
          <a:lstStyle/>
          <a:p>
            <a:r>
              <a:rPr lang="en-IN" dirty="0"/>
              <a:t>Core Concepts and Tools</a:t>
            </a:r>
          </a:p>
        </p:txBody>
      </p:sp>
      <p:sp>
        <p:nvSpPr>
          <p:cNvPr id="3" name="Content Placeholder 2">
            <a:extLst>
              <a:ext uri="{FF2B5EF4-FFF2-40B4-BE49-F238E27FC236}">
                <a16:creationId xmlns:a16="http://schemas.microsoft.com/office/drawing/2014/main" id="{C72727C3-A886-D2BA-726F-C7B09250814A}"/>
              </a:ext>
            </a:extLst>
          </p:cNvPr>
          <p:cNvSpPr>
            <a:spLocks noGrp="1"/>
          </p:cNvSpPr>
          <p:nvPr>
            <p:ph idx="1"/>
          </p:nvPr>
        </p:nvSpPr>
        <p:spPr>
          <a:xfrm>
            <a:off x="677334" y="1563329"/>
            <a:ext cx="8596668" cy="4478033"/>
          </a:xfrm>
        </p:spPr>
        <p:txBody>
          <a:bodyPr/>
          <a:lstStyle/>
          <a:p>
            <a:r>
              <a:rPr lang="en-US" sz="2000" b="1" dirty="0"/>
              <a:t>Vectors and Vector Spaces:</a:t>
            </a:r>
            <a:endParaRPr lang="en-US" sz="2000" dirty="0"/>
          </a:p>
          <a:p>
            <a:r>
              <a:rPr lang="en-US" sz="2000" dirty="0"/>
              <a:t>Linear algebra studies vectors, which can represent quantities like position, velocity, or even complex data points. Vector spaces provide a structured framework for these vectors and their operations. </a:t>
            </a:r>
          </a:p>
          <a:p>
            <a:r>
              <a:rPr lang="en-US" sz="2000" b="1" dirty="0"/>
              <a:t>Matrices and Linear Transformations:</a:t>
            </a:r>
          </a:p>
          <a:p>
            <a:r>
              <a:rPr lang="en-US" sz="2000" dirty="0"/>
              <a:t>Matrices are used to represent linear transformations, which are functions that map vectors to other vectors while preserving straight lines and the origin. </a:t>
            </a:r>
          </a:p>
          <a:p>
            <a:r>
              <a:rPr lang="en-US" sz="2000" b="1" dirty="0"/>
              <a:t>Systems of Linear Equations:</a:t>
            </a:r>
          </a:p>
          <a:p>
            <a:r>
              <a:rPr lang="en-US" sz="2000" dirty="0"/>
              <a:t>Linear algebra provides methods to solve sets of interconnected linear equations, which are common in many scientific and engineering models. </a:t>
            </a:r>
            <a:endParaRPr lang="en-US" sz="2000" b="1" dirty="0"/>
          </a:p>
          <a:p>
            <a:endParaRPr lang="en-IN" dirty="0"/>
          </a:p>
        </p:txBody>
      </p:sp>
    </p:spTree>
    <p:extLst>
      <p:ext uri="{BB962C8B-B14F-4D97-AF65-F5344CB8AC3E}">
        <p14:creationId xmlns:p14="http://schemas.microsoft.com/office/powerpoint/2010/main" val="15406289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1E5969-E97F-276D-4561-EC2AB81FF1A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E97C566-7727-0776-F956-8A0F0E34F3EA}"/>
              </a:ext>
            </a:extLst>
          </p:cNvPr>
          <p:cNvSpPr>
            <a:spLocks noGrp="1"/>
          </p:cNvSpPr>
          <p:nvPr>
            <p:ph type="title"/>
          </p:nvPr>
        </p:nvSpPr>
        <p:spPr/>
        <p:txBody>
          <a:bodyPr/>
          <a:lstStyle/>
          <a:p>
            <a:r>
              <a:rPr lang="en-US" dirty="0"/>
              <a:t>Why It Matters for Your Career</a:t>
            </a:r>
            <a:endParaRPr lang="en-IN" dirty="0"/>
          </a:p>
        </p:txBody>
      </p:sp>
      <p:sp>
        <p:nvSpPr>
          <p:cNvPr id="3" name="Content Placeholder 2">
            <a:extLst>
              <a:ext uri="{FF2B5EF4-FFF2-40B4-BE49-F238E27FC236}">
                <a16:creationId xmlns:a16="http://schemas.microsoft.com/office/drawing/2014/main" id="{660D3D25-5E13-D763-DBC5-F6142C483BF4}"/>
              </a:ext>
            </a:extLst>
          </p:cNvPr>
          <p:cNvSpPr>
            <a:spLocks noGrp="1"/>
          </p:cNvSpPr>
          <p:nvPr>
            <p:ph idx="1"/>
          </p:nvPr>
        </p:nvSpPr>
        <p:spPr>
          <a:xfrm>
            <a:off x="677334" y="1563329"/>
            <a:ext cx="8596668" cy="4478033"/>
          </a:xfrm>
        </p:spPr>
        <p:txBody>
          <a:bodyPr/>
          <a:lstStyle/>
          <a:p>
            <a:pPr marL="0" indent="0">
              <a:buNone/>
            </a:pPr>
            <a:r>
              <a:rPr lang="en-US" sz="2000" b="1" dirty="0"/>
              <a:t>Data-Driven Roles:</a:t>
            </a:r>
            <a:endParaRPr lang="en-US" sz="2000" dirty="0"/>
          </a:p>
          <a:p>
            <a:r>
              <a:rPr lang="en-US" sz="2000" dirty="0"/>
              <a:t>Proficiency in linear algebra is becoming a prerequisite for many roles in data science, machine learning engineering, and AI. </a:t>
            </a:r>
          </a:p>
          <a:p>
            <a:pPr marL="0" indent="0">
              <a:buNone/>
            </a:pPr>
            <a:r>
              <a:rPr lang="en-US" sz="2000" b="1" dirty="0"/>
              <a:t>Foundation for Advanced Topics:</a:t>
            </a:r>
            <a:endParaRPr lang="en-US" sz="2000" dirty="0"/>
          </a:p>
          <a:p>
            <a:r>
              <a:rPr lang="en-US" sz="2000" dirty="0"/>
              <a:t>It's a foundational subject for more advanced mathematical concepts and their applications, making it a critical skill to build upon. </a:t>
            </a:r>
          </a:p>
          <a:p>
            <a:pPr marL="0" indent="0">
              <a:buNone/>
            </a:pPr>
            <a:r>
              <a:rPr lang="en-US" sz="2000" b="1" dirty="0"/>
              <a:t>Problem-Solving:</a:t>
            </a:r>
            <a:endParaRPr lang="en-US" sz="2000" dirty="0"/>
          </a:p>
          <a:p>
            <a:r>
              <a:rPr lang="en-US" sz="2000" dirty="0"/>
              <a:t>It provides systematic ways to translate real-world problems into solvable mathematical models, fostering independent and logical thinking. </a:t>
            </a:r>
          </a:p>
          <a:p>
            <a:endParaRPr lang="en-IN" dirty="0"/>
          </a:p>
        </p:txBody>
      </p:sp>
    </p:spTree>
    <p:extLst>
      <p:ext uri="{BB962C8B-B14F-4D97-AF65-F5344CB8AC3E}">
        <p14:creationId xmlns:p14="http://schemas.microsoft.com/office/powerpoint/2010/main" val="307293898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24F780-7A6E-9B4D-CFAD-8F06ECCD9C4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DC3124-8B57-7957-79C5-1E072EEA33FD}"/>
              </a:ext>
            </a:extLst>
          </p:cNvPr>
          <p:cNvSpPr>
            <a:spLocks noGrp="1"/>
          </p:cNvSpPr>
          <p:nvPr>
            <p:ph type="title"/>
          </p:nvPr>
        </p:nvSpPr>
        <p:spPr/>
        <p:txBody>
          <a:bodyPr/>
          <a:lstStyle/>
          <a:p>
            <a:r>
              <a:rPr lang="en-IN" dirty="0"/>
              <a:t>Why Statistics ?</a:t>
            </a:r>
          </a:p>
        </p:txBody>
      </p:sp>
      <p:sp>
        <p:nvSpPr>
          <p:cNvPr id="3" name="Content Placeholder 2">
            <a:extLst>
              <a:ext uri="{FF2B5EF4-FFF2-40B4-BE49-F238E27FC236}">
                <a16:creationId xmlns:a16="http://schemas.microsoft.com/office/drawing/2014/main" id="{033501C1-8210-C5D1-9BFC-B52FF4750C8C}"/>
              </a:ext>
            </a:extLst>
          </p:cNvPr>
          <p:cNvSpPr>
            <a:spLocks noGrp="1"/>
          </p:cNvSpPr>
          <p:nvPr>
            <p:ph idx="1"/>
          </p:nvPr>
        </p:nvSpPr>
        <p:spPr>
          <a:xfrm>
            <a:off x="677334" y="1543665"/>
            <a:ext cx="8596668" cy="4497697"/>
          </a:xfrm>
        </p:spPr>
        <p:txBody>
          <a:bodyPr>
            <a:normAutofit/>
          </a:bodyPr>
          <a:lstStyle/>
          <a:p>
            <a:r>
              <a:rPr lang="en-US" sz="2000" dirty="0"/>
              <a:t>Statistics is essential because it provides the methods and techniques to collect, analyze, interpret, and present data, which allows for informed decision-making, understanding complex patterns, and solving problems across virtually all fields, from personal choices to scientific research and business strategies. It enhances critical thinking, enables accurate predictions, helps to prevent misleading information, and opens up career opportunities in our data-driven world.  </a:t>
            </a:r>
            <a:endParaRPr lang="en-IN" sz="2000" dirty="0"/>
          </a:p>
        </p:txBody>
      </p:sp>
    </p:spTree>
    <p:extLst>
      <p:ext uri="{BB962C8B-B14F-4D97-AF65-F5344CB8AC3E}">
        <p14:creationId xmlns:p14="http://schemas.microsoft.com/office/powerpoint/2010/main" val="185496216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DCDD473-4197-4DDC-96BB-F17236704BB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9452570-7760-08EF-790B-9EABBEA9A906}"/>
              </a:ext>
            </a:extLst>
          </p:cNvPr>
          <p:cNvSpPr>
            <a:spLocks noGrp="1"/>
          </p:cNvSpPr>
          <p:nvPr>
            <p:ph type="title"/>
          </p:nvPr>
        </p:nvSpPr>
        <p:spPr/>
        <p:txBody>
          <a:bodyPr/>
          <a:lstStyle/>
          <a:p>
            <a:r>
              <a:rPr lang="en-IN" dirty="0"/>
              <a:t>Core Concepts and Tools</a:t>
            </a:r>
          </a:p>
        </p:txBody>
      </p:sp>
      <p:sp>
        <p:nvSpPr>
          <p:cNvPr id="3" name="Content Placeholder 2">
            <a:extLst>
              <a:ext uri="{FF2B5EF4-FFF2-40B4-BE49-F238E27FC236}">
                <a16:creationId xmlns:a16="http://schemas.microsoft.com/office/drawing/2014/main" id="{5EC9377D-0713-3BEB-FA17-4180C64C7E05}"/>
              </a:ext>
            </a:extLst>
          </p:cNvPr>
          <p:cNvSpPr>
            <a:spLocks noGrp="1"/>
          </p:cNvSpPr>
          <p:nvPr>
            <p:ph idx="1"/>
          </p:nvPr>
        </p:nvSpPr>
        <p:spPr>
          <a:xfrm>
            <a:off x="677334" y="1563329"/>
            <a:ext cx="8596668" cy="4478033"/>
          </a:xfrm>
        </p:spPr>
        <p:txBody>
          <a:bodyPr>
            <a:normAutofit/>
          </a:bodyPr>
          <a:lstStyle/>
          <a:p>
            <a:pPr marL="0" indent="0">
              <a:buNone/>
            </a:pPr>
            <a:r>
              <a:rPr lang="en-US" sz="2000" b="1" dirty="0"/>
              <a:t>Informed Decision-Making:</a:t>
            </a:r>
          </a:p>
          <a:p>
            <a:r>
              <a:rPr lang="en-US" sz="2000" dirty="0"/>
              <a:t>Statistics help organizations and governments track progress, measure performance, analyze problems, and make data-backed decisions, such as where to build a new hospital based on population data. </a:t>
            </a:r>
            <a:endParaRPr lang="en-US" sz="2000" b="1" dirty="0"/>
          </a:p>
          <a:p>
            <a:pPr marL="0" indent="0">
              <a:buNone/>
            </a:pPr>
            <a:r>
              <a:rPr lang="en-US" sz="2000" b="1" dirty="0"/>
              <a:t>Personal Choices:</a:t>
            </a:r>
          </a:p>
          <a:p>
            <a:r>
              <a:rPr lang="en-US" sz="2000" dirty="0"/>
              <a:t>Statistics provide the tools for understanding and interpreting data in everyday life, allowing individuals to make more informed choices based on evidence. </a:t>
            </a:r>
          </a:p>
          <a:p>
            <a:pPr marL="0" indent="0">
              <a:buNone/>
            </a:pPr>
            <a:r>
              <a:rPr lang="en-US" sz="2000" b="1" dirty="0"/>
              <a:t>Critical Thinking and Data Literacy</a:t>
            </a:r>
          </a:p>
          <a:p>
            <a:r>
              <a:rPr lang="en-US" sz="2000" dirty="0"/>
              <a:t>Statistics trains you to think critically about data, recognize potential biases, and question the validity of claims presented with statistics. </a:t>
            </a:r>
          </a:p>
          <a:p>
            <a:endParaRPr lang="en-IN" dirty="0"/>
          </a:p>
        </p:txBody>
      </p:sp>
    </p:spTree>
    <p:extLst>
      <p:ext uri="{BB962C8B-B14F-4D97-AF65-F5344CB8AC3E}">
        <p14:creationId xmlns:p14="http://schemas.microsoft.com/office/powerpoint/2010/main" val="185625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BA3F1B-A45B-248D-EE5F-742028F8485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8130B00-DA65-D726-B8DE-22ADBADDA7B0}"/>
              </a:ext>
            </a:extLst>
          </p:cNvPr>
          <p:cNvSpPr>
            <a:spLocks noGrp="1"/>
          </p:cNvSpPr>
          <p:nvPr>
            <p:ph type="title"/>
          </p:nvPr>
        </p:nvSpPr>
        <p:spPr/>
        <p:txBody>
          <a:bodyPr/>
          <a:lstStyle/>
          <a:p>
            <a:r>
              <a:rPr lang="en-US" dirty="0"/>
              <a:t>Why It Matters for Your Career</a:t>
            </a:r>
            <a:endParaRPr lang="en-IN" dirty="0"/>
          </a:p>
        </p:txBody>
      </p:sp>
      <p:sp>
        <p:nvSpPr>
          <p:cNvPr id="3" name="Content Placeholder 2">
            <a:extLst>
              <a:ext uri="{FF2B5EF4-FFF2-40B4-BE49-F238E27FC236}">
                <a16:creationId xmlns:a16="http://schemas.microsoft.com/office/drawing/2014/main" id="{61703590-9CF4-27CA-AEFE-A52324353ECC}"/>
              </a:ext>
            </a:extLst>
          </p:cNvPr>
          <p:cNvSpPr>
            <a:spLocks noGrp="1"/>
          </p:cNvSpPr>
          <p:nvPr>
            <p:ph idx="1"/>
          </p:nvPr>
        </p:nvSpPr>
        <p:spPr>
          <a:xfrm>
            <a:off x="677334" y="1563329"/>
            <a:ext cx="8596668" cy="4478033"/>
          </a:xfrm>
        </p:spPr>
        <p:txBody>
          <a:bodyPr>
            <a:normAutofit/>
          </a:bodyPr>
          <a:lstStyle/>
          <a:p>
            <a:pPr marL="0" indent="0">
              <a:buNone/>
            </a:pPr>
            <a:r>
              <a:rPr lang="en-IN" sz="2000" b="1" dirty="0"/>
              <a:t>Career and Future Opportunities:</a:t>
            </a:r>
          </a:p>
          <a:p>
            <a:r>
              <a:rPr lang="en-US" sz="2000" dirty="0"/>
              <a:t>Proficiency in statistics is a valuable skill in today's information age, leading to numerous career opportunities in fields that involve data analysis. </a:t>
            </a:r>
            <a:endParaRPr lang="en-US" sz="2000" b="1" dirty="0"/>
          </a:p>
          <a:p>
            <a:r>
              <a:rPr lang="en-US" sz="2000" dirty="0"/>
              <a:t>Statistics provide the tools for understanding and interpreting data in everyday life, allowing individuals to make more informed choices based on evidence. </a:t>
            </a:r>
          </a:p>
          <a:p>
            <a:r>
              <a:rPr lang="en-US" sz="2000" dirty="0"/>
              <a:t>Statistics provides the tools and methodologies for various professions, including those in medicine, psychology, economics, and social sciences. </a:t>
            </a:r>
            <a:endParaRPr lang="en-IN" sz="2000" dirty="0"/>
          </a:p>
        </p:txBody>
      </p:sp>
    </p:spTree>
    <p:extLst>
      <p:ext uri="{BB962C8B-B14F-4D97-AF65-F5344CB8AC3E}">
        <p14:creationId xmlns:p14="http://schemas.microsoft.com/office/powerpoint/2010/main" val="151212023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DB9093-A373-341E-4FDF-AAEA11E9DDF8}"/>
              </a:ext>
            </a:extLst>
          </p:cNvPr>
          <p:cNvSpPr>
            <a:spLocks noGrp="1"/>
          </p:cNvSpPr>
          <p:nvPr>
            <p:ph idx="1"/>
          </p:nvPr>
        </p:nvSpPr>
        <p:spPr/>
        <p:txBody>
          <a:bodyPr>
            <a:normAutofit/>
          </a:bodyPr>
          <a:lstStyle/>
          <a:p>
            <a:pPr algn="ctr"/>
            <a:r>
              <a:rPr lang="en-IN" sz="4400" dirty="0">
                <a:solidFill>
                  <a:schemeClr val="accent2">
                    <a:lumMod val="75000"/>
                  </a:schemeClr>
                </a:solidFill>
              </a:rPr>
              <a:t>Thank you</a:t>
            </a:r>
          </a:p>
        </p:txBody>
      </p:sp>
    </p:spTree>
    <p:extLst>
      <p:ext uri="{BB962C8B-B14F-4D97-AF65-F5344CB8AC3E}">
        <p14:creationId xmlns:p14="http://schemas.microsoft.com/office/powerpoint/2010/main" val="3226776860"/>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docProps/app.xml><?xml version="1.0" encoding="utf-8"?>
<Properties xmlns="http://schemas.openxmlformats.org/officeDocument/2006/extended-properties" xmlns:vt="http://schemas.openxmlformats.org/officeDocument/2006/docPropsVTypes">
  <Template>Facet</Template>
  <TotalTime>112</TotalTime>
  <Words>696</Words>
  <Application>Microsoft Office PowerPoint</Application>
  <PresentationFormat>Widescreen</PresentationFormat>
  <Paragraphs>44</Paragraphs>
  <Slides>12</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12</vt:i4>
      </vt:variant>
    </vt:vector>
  </HeadingPairs>
  <TitlesOfParts>
    <vt:vector size="16" baseType="lpstr">
      <vt:lpstr>Arial</vt:lpstr>
      <vt:lpstr>Trebuchet MS</vt:lpstr>
      <vt:lpstr>Wingdings 3</vt:lpstr>
      <vt:lpstr>Facet</vt:lpstr>
      <vt:lpstr>ABES Engineering College</vt:lpstr>
      <vt:lpstr>PowerPoint Presentation</vt:lpstr>
      <vt:lpstr>PowerPoint Presentation</vt:lpstr>
      <vt:lpstr>PowerPoint Presentation</vt:lpstr>
      <vt:lpstr>Text Books 1. Singh and Pundir, Linera Algebra and Matrices, A Pragati Edition 2. David C. Lay, Steven R. Lay, Linera Algebra and its applications,        Pearson. 3. S. P. Gupta, Statistical Methods, Sultan Chand &amp; Sons 46th edition  </vt:lpstr>
      <vt:lpstr>Why Linear Algebra ?</vt:lpstr>
      <vt:lpstr>Core Concepts and Tools</vt:lpstr>
      <vt:lpstr>Why It Matters for Your Career</vt:lpstr>
      <vt:lpstr>Why Statistics ?</vt:lpstr>
      <vt:lpstr>Core Concepts and Tools</vt:lpstr>
      <vt:lpstr>Why It Matters for Your Career</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Dr. Tej Singh</dc:creator>
  <cp:lastModifiedBy>Dr. Tej Singh</cp:lastModifiedBy>
  <cp:revision>4</cp:revision>
  <dcterms:created xsi:type="dcterms:W3CDTF">2025-07-28T15:56:15Z</dcterms:created>
  <dcterms:modified xsi:type="dcterms:W3CDTF">2025-09-07T13:34:19Z</dcterms:modified>
</cp:coreProperties>
</file>