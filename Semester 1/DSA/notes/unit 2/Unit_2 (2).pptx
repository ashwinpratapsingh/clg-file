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66"/>
  </p:notesMasterIdLst>
  <p:sldIdLst>
    <p:sldId id="256" r:id="rId2"/>
    <p:sldId id="257" r:id="rId3"/>
    <p:sldId id="258" r:id="rId4"/>
    <p:sldId id="327" r:id="rId5"/>
    <p:sldId id="260" r:id="rId6"/>
    <p:sldId id="259" r:id="rId7"/>
    <p:sldId id="261" r:id="rId8"/>
    <p:sldId id="263" r:id="rId9"/>
    <p:sldId id="264" r:id="rId10"/>
    <p:sldId id="265" r:id="rId11"/>
    <p:sldId id="262" r:id="rId12"/>
    <p:sldId id="266" r:id="rId13"/>
    <p:sldId id="267" r:id="rId14"/>
    <p:sldId id="269" r:id="rId15"/>
    <p:sldId id="268" r:id="rId16"/>
    <p:sldId id="271" r:id="rId17"/>
    <p:sldId id="274" r:id="rId18"/>
    <p:sldId id="270" r:id="rId19"/>
    <p:sldId id="272" r:id="rId20"/>
    <p:sldId id="279" r:id="rId21"/>
    <p:sldId id="285" r:id="rId22"/>
    <p:sldId id="287" r:id="rId23"/>
    <p:sldId id="288" r:id="rId24"/>
    <p:sldId id="289" r:id="rId25"/>
    <p:sldId id="283" r:id="rId26"/>
    <p:sldId id="284" r:id="rId27"/>
    <p:sldId id="291" r:id="rId28"/>
    <p:sldId id="293" r:id="rId29"/>
    <p:sldId id="294" r:id="rId30"/>
    <p:sldId id="295" r:id="rId31"/>
    <p:sldId id="296" r:id="rId32"/>
    <p:sldId id="299" r:id="rId33"/>
    <p:sldId id="298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273" r:id="rId43"/>
    <p:sldId id="275" r:id="rId44"/>
    <p:sldId id="276" r:id="rId45"/>
    <p:sldId id="277" r:id="rId46"/>
    <p:sldId id="309" r:id="rId47"/>
    <p:sldId id="292" r:id="rId48"/>
    <p:sldId id="310" r:id="rId49"/>
    <p:sldId id="311" r:id="rId50"/>
    <p:sldId id="323" r:id="rId51"/>
    <p:sldId id="312" r:id="rId52"/>
    <p:sldId id="300" r:id="rId53"/>
    <p:sldId id="324" r:id="rId54"/>
    <p:sldId id="313" r:id="rId55"/>
    <p:sldId id="314" r:id="rId56"/>
    <p:sldId id="315" r:id="rId57"/>
    <p:sldId id="316" r:id="rId58"/>
    <p:sldId id="317" r:id="rId59"/>
    <p:sldId id="318" r:id="rId60"/>
    <p:sldId id="325" r:id="rId61"/>
    <p:sldId id="320" r:id="rId62"/>
    <p:sldId id="326" r:id="rId63"/>
    <p:sldId id="321" r:id="rId64"/>
    <p:sldId id="322" r:id="rId65"/>
  </p:sldIdLst>
  <p:sldSz cx="12192000" cy="6858000"/>
  <p:notesSz cx="6858000" cy="9144000"/>
  <p:defaultTextStyle>
    <a:defPPr>
      <a:defRPr lang="hi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i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ECCB7-A9B7-4C75-952B-390DB9B38530}" type="datetimeFigureOut">
              <a:rPr lang="hi-IN" smtClean="0"/>
              <a:t>मंगलवार, 25 भाद्र 1947</a:t>
            </a:fld>
            <a:endParaRPr lang="hi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i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i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BD1E63-9434-4217-A610-E457EB990866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070511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i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D1E63-9434-4217-A610-E457EB990866}" type="slidenum">
              <a:rPr lang="hi-IN" smtClean="0"/>
              <a:t>19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908556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2428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2132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9081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885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922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4477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1900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7399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9841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3884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5989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9420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8394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27454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07825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83689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95243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73864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27729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934f8022f_0_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37934f8022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52476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34200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7934f8022f_0_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g37934f8022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25424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BD4E5-FD21-4AB2-A6EA-832EE1553C14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31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F63BD0-8339-E83B-F4EB-21242F640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hi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067F693-9E41-39A7-3D9B-137E692EF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hi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91971B4-76A4-8CF1-0532-EB93AFDBC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मंगलवार, 25 भाद्र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69D574E-AA47-EDB2-8F06-020B8E2A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AF21F1-C696-BE9A-478B-280B7C489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  <p:pic>
        <p:nvPicPr>
          <p:cNvPr id="8" name="Google Shape;408;p38">
            <a:extLst>
              <a:ext uri="{FF2B5EF4-FFF2-40B4-BE49-F238E27FC236}">
                <a16:creationId xmlns:a16="http://schemas.microsoft.com/office/drawing/2014/main" xmlns="" id="{E9C3DCD7-DFBA-BE2B-E582-75B508C640E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972675" y="371474"/>
            <a:ext cx="933450" cy="10287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718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E14AA5-4787-F64D-061C-DD1BAB10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63F655-862B-C6C5-CD52-FEE936AE9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53E1B70-3AE2-51F2-F623-CCDD4A304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मंगलवार, 25 भाद्र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CC331D-7F4E-9F1D-C117-C54BABA8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B6C708-7490-7E7D-220D-E3842BC6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563517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FD557A-4418-7E6B-CE65-420A12AD8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99BD62-131B-416A-F972-3C803AAD5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DA028C2-7C66-6573-0071-5C1FAA824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मंगलवार, 25 भाद्र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F89337-5258-CED7-CE3F-C9ACA739E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728B12-EAFE-145F-98B2-6AF8C9670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505396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2157B5-199F-B30E-C6E4-906C76A57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2864C5-5D66-4998-02BD-C1A5D3589C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BE4EA5C-F65E-BCE1-5D5A-58EF49D1A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031229F-0EF0-EE77-7D15-7C9551C1F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मंगलवार, 25 भाद्र 1947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F3A7302-89F6-4339-A5C7-4E7A30DF2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FEDD083-ABFA-A1A1-2125-EA389C2EA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96358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E1E5CD-B0C5-C48A-868B-B8B974DB3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D4928EE-86E5-F10E-B6A3-4E8BDF11D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21467BA-B835-4A83-DA3B-098E6D045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500C7AB-FABF-0E66-3295-85334C438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52F4CD3-E0C1-507B-46C5-2AE0C55D1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0CACD42-2258-8214-B6D1-4EF74618C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मंगलवार, 25 भाद्र 1947</a:t>
            </a:fld>
            <a:endParaRPr lang="hi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D57B1F4-1142-BAF6-72BC-512DC11D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8B86DE0-E632-8CF8-3A17-16020765B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104892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C8FB55-8C90-50A3-AA8F-95B00B92F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52C4458-5CE0-8FE0-9686-92836C82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मंगलवार, 25 भाद्र 1947</a:t>
            </a:fld>
            <a:endParaRPr lang="hi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4B27F9B-666A-BB5A-3E4B-B38964618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C2D85D5-777A-945B-B5AC-739613401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371804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4FC27BD-4458-0688-AFB0-8A6C6315E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मंगलवार, 25 भाद्र 1947</a:t>
            </a:fld>
            <a:endParaRPr lang="hi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D0565B5-833D-E1C4-FD7E-7BF6A3357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C355AB9-7BDE-4117-7218-AB19A509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785737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FEF100-EDDE-F88E-2E57-1C54E601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859B81-5C03-7953-96FB-09C8B1D23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E53523B-C76B-4D92-E69A-4DB4E5773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3AAE29C-91BB-774B-F16B-61B65315D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मंगलवार, 25 भाद्र 1947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B6B886-8A96-3101-71BA-93F59B10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5C001EA-E43A-DEBB-9E73-D8EC21BD4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4155510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2CA7C4-8434-0CA6-C640-1D2E12A4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CAE8D27-43AD-02BE-714E-37E718696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i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B6FAECC-7FE7-4D1D-8D7A-CF8B3D67E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B9CEBFE-08C2-4E88-01EC-3F00B8CBB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मंगलवार, 25 भाद्र 1947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A524EB1-AAD4-54F6-7F5A-1B70F9EBC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909F450-881A-ED52-A497-F60BBCDE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4253642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1C0379-8658-86DB-0D05-A6ED56C8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634741A-41FF-A411-409C-990C78AAF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BE60E97-1C81-1693-4647-F4DB610CD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मंगलवार, 25 भाद्र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6C1AACD-5901-95D8-9AFD-C26478AB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E9651D6-41D8-78B3-431C-8D95F4D69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287652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66CF526-8242-28DD-6D70-E5448BFA42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A852D34-6C80-792A-6F30-1B3FBCF24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528E7A5-07DB-9324-11A9-81058A855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मंगलवार, 25 भाद्र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0CC34D2-A6E6-771B-1E96-6BE29C49C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D9109AC-315A-8079-C0C7-9A8CBDD8B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728183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>
            <a:spLocks noGrp="1"/>
          </p:cNvSpPr>
          <p:nvPr>
            <p:ph type="title"/>
          </p:nvPr>
        </p:nvSpPr>
        <p:spPr>
          <a:xfrm>
            <a:off x="511388" y="145746"/>
            <a:ext cx="11169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body" idx="1"/>
          </p:nvPr>
        </p:nvSpPr>
        <p:spPr>
          <a:xfrm>
            <a:off x="709948" y="1323214"/>
            <a:ext cx="1077210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" name="Google Shape;46;p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06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363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FCDF580-F601-DE77-9B01-E57676E74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F8F8596-1F63-06EA-BA31-D2C79787A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287B854-679D-E9BA-6F4E-DBBA520DEF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9C129-22BC-4B56-8ED6-B55F1969CC6C}" type="datetimeFigureOut">
              <a:rPr lang="hi-IN" smtClean="0"/>
              <a:t>मंगलवार, 25 भाद्र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09C2A8B-AD09-D45D-94C0-4AA98822B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A83A389-DF68-C35C-6C5C-D26191DA9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302686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80" r:id="rId12"/>
    <p:sldLayoutId id="214748368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i-I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pp/cpp_conditions.asp" TargetMode="External"/><Relationship Id="rId2" Type="http://schemas.openxmlformats.org/officeDocument/2006/relationships/hyperlink" Target="https://www.geeksforgeeks.org/cpp/c-c-if-else-statement-with-example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hyperlink" Target="https://www.tutorialspoint.com/cplusplus/cpp_conditional_operator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4E9815-9FB6-282A-5A36-91063D785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775" y="1774975"/>
            <a:ext cx="9144000" cy="923330"/>
          </a:xfrm>
        </p:spPr>
        <p:txBody>
          <a:bodyPr>
            <a:normAutofit fontScale="90000"/>
          </a:bodyPr>
          <a:lstStyle/>
          <a:p>
            <a:r>
              <a:rPr lang="en-IN" dirty="0"/>
              <a:t>UNIT - 2</a:t>
            </a:r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1368562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FA2121-83FD-7118-0B2E-15C6D3C93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131" y="623821"/>
            <a:ext cx="9144000" cy="615553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endParaRPr lang="hi-IN" sz="4400" b="1" dirty="0">
              <a:latin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D0B216E-AE63-5867-80EE-DCE23242B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131" y="1773238"/>
            <a:ext cx="9144000" cy="4111895"/>
          </a:xfrm>
        </p:spPr>
        <p:txBody>
          <a:bodyPr/>
          <a:lstStyle/>
          <a:p>
            <a:pPr marL="342900" indent="-342900" algn="just" defTabSz="457200" rtl="0">
              <a:spcBef>
                <a:spcPct val="20000"/>
              </a:spcBef>
              <a:buFont typeface="Arial" panose="020B0604020202020204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Smallest unit in a C++ program that the compiler understands.</a:t>
            </a:r>
          </a:p>
          <a:p>
            <a:pPr marL="342900" lvl="0" indent="-342900" algn="l" defTabSz="457200" rtl="0">
              <a:spcBef>
                <a:spcPct val="20000"/>
              </a:spcBef>
              <a:buFont typeface="Arial" panose="020B0604020202020204"/>
              <a:buChar char="•"/>
              <a:defRPr/>
            </a:pPr>
            <a:r>
              <a:rPr lang="es-419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Tokens:</a:t>
            </a:r>
            <a:r>
              <a:rPr lang="es-419" sz="3200" b="1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s-419" sz="2800" b="1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s-419" sz="2800" b="1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s-419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Keywords</a:t>
            </a: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s-419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2) </a:t>
            </a:r>
            <a:r>
              <a:rPr lang="es-419" kern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Identifiers</a:t>
            </a:r>
            <a:endParaRPr lang="es-41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s-419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3) </a:t>
            </a:r>
            <a:r>
              <a:rPr lang="es-419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Constants</a:t>
            </a:r>
            <a:endParaRPr lang="es-41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s-419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4)</a:t>
            </a:r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Punctuators</a:t>
            </a: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s-419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5) </a:t>
            </a:r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lang="es-419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657045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C455D9-FA5D-F4BD-64E9-F165F1FEB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DBDC5B-EAB5-3AC6-913C-F21B854F0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131" y="623821"/>
            <a:ext cx="9144000" cy="615553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</a:t>
            </a:r>
            <a:endParaRPr lang="hi-IN" sz="4400" b="1" dirty="0">
              <a:latin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90C1782-7FD2-A2C5-67C7-0044C4CE2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131" y="1773238"/>
            <a:ext cx="9144000" cy="3471720"/>
          </a:xfrm>
        </p:spPr>
        <p:txBody>
          <a:bodyPr/>
          <a:lstStyle/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Keywords  are reserved words that carry predefined meanings and specific functionalities within a program.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457200" rtl="0">
              <a:spcBef>
                <a:spcPct val="20000"/>
              </a:spcBef>
              <a:buFont typeface="Arial" panose="020B0604020202020204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number of keywords in C++ are 95.</a:t>
            </a:r>
          </a:p>
          <a:p>
            <a:pPr lvl="0" algn="l" defTabSz="457200" rtl="0">
              <a:spcBef>
                <a:spcPct val="20000"/>
              </a:spcBef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457200" rtl="0">
              <a:spcBef>
                <a:spcPct val="20000"/>
              </a:spcBef>
              <a:buFont typeface="Arial" panose="020B0604020202020204"/>
              <a:buChar char="•"/>
              <a:defRPr/>
            </a:pPr>
            <a:r>
              <a:rPr lang="es-419" sz="2800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common </a:t>
            </a:r>
            <a:r>
              <a:rPr lang="es-419" sz="2800" kern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keywords</a:t>
            </a:r>
            <a:r>
              <a:rPr lang="es-419" sz="2800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algn="just" defTabSz="457200" rtl="0">
              <a:spcBef>
                <a:spcPct val="20000"/>
              </a:spcBef>
              <a:defRPr/>
            </a:pPr>
            <a:r>
              <a:rPr lang="es-419" sz="2800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s-419" sz="2800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int, float, if, else, for, while, class, public, private, return, try, catch, virtual, namespace, etc.</a:t>
            </a:r>
            <a:endParaRPr lang="es-419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855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41301694-121C-DD15-8528-118C966401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3634683"/>
              </p:ext>
            </p:extLst>
          </p:nvPr>
        </p:nvGraphicFramePr>
        <p:xfrm>
          <a:off x="327060" y="595901"/>
          <a:ext cx="11537880" cy="5732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576">
                  <a:extLst>
                    <a:ext uri="{9D8B030D-6E8A-4147-A177-3AD203B41FA5}">
                      <a16:colId xmlns:a16="http://schemas.microsoft.com/office/drawing/2014/main" xmlns="" val="83977711"/>
                    </a:ext>
                  </a:extLst>
                </a:gridCol>
                <a:gridCol w="2307576">
                  <a:extLst>
                    <a:ext uri="{9D8B030D-6E8A-4147-A177-3AD203B41FA5}">
                      <a16:colId xmlns:a16="http://schemas.microsoft.com/office/drawing/2014/main" xmlns="" val="4166772443"/>
                    </a:ext>
                  </a:extLst>
                </a:gridCol>
                <a:gridCol w="2307576">
                  <a:extLst>
                    <a:ext uri="{9D8B030D-6E8A-4147-A177-3AD203B41FA5}">
                      <a16:colId xmlns:a16="http://schemas.microsoft.com/office/drawing/2014/main" xmlns="" val="3280935259"/>
                    </a:ext>
                  </a:extLst>
                </a:gridCol>
                <a:gridCol w="2307576">
                  <a:extLst>
                    <a:ext uri="{9D8B030D-6E8A-4147-A177-3AD203B41FA5}">
                      <a16:colId xmlns:a16="http://schemas.microsoft.com/office/drawing/2014/main" xmlns="" val="2945125264"/>
                    </a:ext>
                  </a:extLst>
                </a:gridCol>
                <a:gridCol w="2307576">
                  <a:extLst>
                    <a:ext uri="{9D8B030D-6E8A-4147-A177-3AD203B41FA5}">
                      <a16:colId xmlns:a16="http://schemas.microsoft.com/office/drawing/2014/main" xmlns="" val="3399164687"/>
                    </a:ext>
                  </a:extLst>
                </a:gridCol>
              </a:tblGrid>
              <a:tr h="847679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3200" dirty="0"/>
                        <a:t>Keywords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s-419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s-419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s-419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s-419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819306782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 err="1"/>
                        <a:t>if</a:t>
                      </a:r>
                      <a:endParaRPr lang="es-419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else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switch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default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82721309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break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continue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goto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return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892032890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while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auto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register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static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69281812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extern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signed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104641761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unsigned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void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bool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756678210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const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struct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union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456367767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enum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typedef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using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namespace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new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719875050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sizeof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inline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friend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virtual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287109190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nullptr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i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i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17448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447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6124379-9181-AAD5-292E-EFB9DE392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D5D924-6BDC-1928-8B4C-FCA1EF28B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131" y="623821"/>
            <a:ext cx="9144000" cy="615553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Identifiers</a:t>
            </a:r>
            <a:endParaRPr lang="hi-IN" sz="4400" b="1" dirty="0">
              <a:latin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390C845-E832-416F-F1BB-A0CE942F3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131" y="1773238"/>
            <a:ext cx="9144000" cy="4768718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dentifiers are the unique names assigned to variables, functions, classes, structs, or other entities within the program.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defTabSz="457200" rtl="0">
              <a:spcBef>
                <a:spcPct val="20000"/>
              </a:spcBef>
              <a:defRPr/>
            </a:pP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9FF4EBAB-4AAD-7182-4DE4-68939130F9B2}"/>
              </a:ext>
            </a:extLst>
          </p:cNvPr>
          <p:cNvSpPr/>
          <p:nvPr/>
        </p:nvSpPr>
        <p:spPr>
          <a:xfrm>
            <a:off x="4109664" y="3236360"/>
            <a:ext cx="3821986" cy="67809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num = 10;</a:t>
            </a:r>
          </a:p>
          <a:p>
            <a:pPr algn="ctr"/>
            <a:endParaRPr lang="hi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5FDF1330-7D53-E96F-9EDE-85E42FD973A7}"/>
              </a:ext>
            </a:extLst>
          </p:cNvPr>
          <p:cNvSpPr/>
          <p:nvPr/>
        </p:nvSpPr>
        <p:spPr>
          <a:xfrm>
            <a:off x="4109664" y="4699482"/>
            <a:ext cx="3965825" cy="67809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first_name = “Ram”;</a:t>
            </a:r>
          </a:p>
          <a:p>
            <a:pPr algn="ctr"/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1621962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97D751F-3DB0-ED9B-095D-54866E02D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44530"/>
            <a:ext cx="9144000" cy="553997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to define the name of identifier:</a:t>
            </a:r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identifier can only begin with a letter or an underscore(_).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identifier can consist of letters (A-Z or a-z), digits (0-9), and underscores (_). White spaces and Special characters can not be used as the name of an identifier.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 cannot be used as an identifier because they are reserved words to do specific tasks. For example, string, int, class, struct, etc.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 must be unique in its namespace. As C++ is a case-sensitive language so identifiers such as 'first_name' and 'First_name' are different entities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1383982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E0C488B1-CF95-58C9-D618-66055A3C7DED}"/>
              </a:ext>
            </a:extLst>
          </p:cNvPr>
          <p:cNvSpPr/>
          <p:nvPr/>
        </p:nvSpPr>
        <p:spPr>
          <a:xfrm>
            <a:off x="769709" y="2320673"/>
            <a:ext cx="3184987" cy="178385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_ram ,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ram_shyam ,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ram23 ,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shyam_001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endParaRPr lang="hi-IN" sz="2000" dirty="0">
              <a:solidFill>
                <a:srgbClr val="0070C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18D76912-E68A-0A39-4DEC-BDC29651A009}"/>
              </a:ext>
            </a:extLst>
          </p:cNvPr>
          <p:cNvSpPr/>
          <p:nvPr/>
        </p:nvSpPr>
        <p:spPr>
          <a:xfrm>
            <a:off x="5311739" y="1808251"/>
            <a:ext cx="5506948" cy="313361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sz="2400" dirty="0"/>
          </a:p>
          <a:p>
            <a:pPr algn="l"/>
            <a:endParaRPr lang="en-US" sz="2400" dirty="0"/>
          </a:p>
          <a:p>
            <a:pPr marL="457200" indent="-457200" algn="l">
              <a:buAutoNum type="arabicParenR"/>
            </a:pPr>
            <a:endParaRPr lang="en-US" sz="2400" dirty="0"/>
          </a:p>
          <a:p>
            <a:pPr algn="l"/>
            <a:r>
              <a:rPr lang="en-US" sz="2400" dirty="0">
                <a:solidFill>
                  <a:srgbClr val="0070C0"/>
                </a:solidFill>
              </a:rPr>
              <a:t>1)  12raju    </a:t>
            </a:r>
            <a:r>
              <a:rPr lang="en-US" sz="2400" dirty="0">
                <a:solidFill>
                  <a:srgbClr val="FF0000"/>
                </a:solidFill>
              </a:rPr>
              <a:t>//Starts with digit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>
                <a:solidFill>
                  <a:srgbClr val="0070C0"/>
                </a:solidFill>
              </a:rPr>
              <a:t>2)  mohan sharma   </a:t>
            </a:r>
            <a:r>
              <a:rPr lang="en-US" sz="2400" dirty="0">
                <a:solidFill>
                  <a:srgbClr val="FF0000"/>
                </a:solidFill>
              </a:rPr>
              <a:t>//contains space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>
                <a:solidFill>
                  <a:srgbClr val="0070C0"/>
                </a:solidFill>
              </a:rPr>
              <a:t>3)  int, float, string    </a:t>
            </a:r>
            <a:r>
              <a:rPr lang="en-US" sz="2400" dirty="0">
                <a:solidFill>
                  <a:srgbClr val="FF0000"/>
                </a:solidFill>
              </a:rPr>
              <a:t>// keywords</a:t>
            </a:r>
          </a:p>
          <a:p>
            <a:pPr algn="l"/>
            <a:endParaRPr lang="en-US" sz="2400" dirty="0"/>
          </a:p>
          <a:p>
            <a:pPr algn="ctr"/>
            <a:r>
              <a:rPr lang="en-US" sz="2400" dirty="0"/>
              <a:t>  </a:t>
            </a:r>
          </a:p>
          <a:p>
            <a:pPr algn="ctr"/>
            <a:endParaRPr lang="en-US" sz="24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C2C89791-05EC-76A7-0035-3C18A1E9F0A0}"/>
              </a:ext>
            </a:extLst>
          </p:cNvPr>
          <p:cNvSpPr/>
          <p:nvPr/>
        </p:nvSpPr>
        <p:spPr>
          <a:xfrm>
            <a:off x="954643" y="482884"/>
            <a:ext cx="2661859" cy="965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Names</a:t>
            </a:r>
            <a:endParaRPr lang="hi-IN" sz="3200" b="1" dirty="0">
              <a:latin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43595B67-553F-2580-15B1-2BF37E5E80A6}"/>
              </a:ext>
            </a:extLst>
          </p:cNvPr>
          <p:cNvSpPr/>
          <p:nvPr/>
        </p:nvSpPr>
        <p:spPr>
          <a:xfrm>
            <a:off x="6626832" y="667820"/>
            <a:ext cx="2784295" cy="59590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Names</a:t>
            </a:r>
            <a:endParaRPr lang="hi-IN" sz="32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07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C37FFBC-6BE9-A8A5-723C-7B1F46B64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81F592-BF71-4242-03F7-9348D4FB8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131" y="243677"/>
            <a:ext cx="9144000" cy="615553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Constants</a:t>
            </a:r>
            <a:endParaRPr lang="hi-IN" sz="4400" b="1" dirty="0">
              <a:latin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D85E2DC-AAED-BB37-4FC8-3AD748ED0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131" y="951305"/>
            <a:ext cx="9144000" cy="738664"/>
          </a:xfrm>
        </p:spPr>
        <p:txBody>
          <a:bodyPr>
            <a:normAutofit fontScale="92500" lnSpcReduction="20000"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lang="en-US" sz="2600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Constants are fixed values in a program whose value cannot be changed during execution</a:t>
            </a: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BD3C89C6-BCDD-C5CB-3805-069C17A9D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724830"/>
              </p:ext>
            </p:extLst>
          </p:nvPr>
        </p:nvGraphicFramePr>
        <p:xfrm>
          <a:off x="1538840" y="1870369"/>
          <a:ext cx="8909979" cy="474681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71515">
                  <a:extLst>
                    <a:ext uri="{9D8B030D-6E8A-4147-A177-3AD203B41FA5}">
                      <a16:colId xmlns:a16="http://schemas.microsoft.com/office/drawing/2014/main" xmlns="" val="3234264324"/>
                    </a:ext>
                  </a:extLst>
                </a:gridCol>
                <a:gridCol w="2968471">
                  <a:extLst>
                    <a:ext uri="{9D8B030D-6E8A-4147-A177-3AD203B41FA5}">
                      <a16:colId xmlns:a16="http://schemas.microsoft.com/office/drawing/2014/main" xmlns="" val="1979507604"/>
                    </a:ext>
                  </a:extLst>
                </a:gridCol>
                <a:gridCol w="2969993">
                  <a:extLst>
                    <a:ext uri="{9D8B030D-6E8A-4147-A177-3AD203B41FA5}">
                      <a16:colId xmlns:a16="http://schemas.microsoft.com/office/drawing/2014/main" xmlns="" val="2753973364"/>
                    </a:ext>
                  </a:extLst>
                </a:gridCol>
              </a:tblGrid>
              <a:tr h="911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 / Example</a:t>
                      </a:r>
                      <a:endParaRPr lang="es-419" sz="24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s-419" sz="24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80867724"/>
                  </a:ext>
                </a:extLst>
              </a:tr>
              <a:tr h="911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0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Literal Constants</a:t>
                      </a:r>
                      <a:endParaRPr lang="es-419" sz="20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x = 10; </a:t>
                      </a:r>
                    </a:p>
                    <a:p>
                      <a:pPr algn="ctr">
                        <a:buNone/>
                      </a:pPr>
                      <a:r>
                        <a:rPr lang="es-419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 ch = 'A';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values written directly in code.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68895844"/>
                  </a:ext>
                </a:extLst>
              </a:tr>
              <a:tr h="911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0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 Keyword</a:t>
                      </a:r>
                      <a:endParaRPr lang="es-419" sz="20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 float pi = 3.14;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Declares a variable as constant → cannot be modified.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22710572"/>
                  </a:ext>
                </a:extLst>
              </a:tr>
              <a:tr h="911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0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#define Macro</a:t>
                      </a:r>
                      <a:endParaRPr lang="es-419" sz="20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#define MAX 100 </a:t>
                      </a:r>
                    </a:p>
                    <a:p>
                      <a:pPr algn="ctr">
                        <a:buNone/>
                      </a:pPr>
                      <a:r>
                        <a:rPr lang="es-419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 arr[MAX];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Preprocessor constant (symbolic name for a value).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60603358"/>
                  </a:ext>
                </a:extLst>
              </a:tr>
              <a:tr h="911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0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Enumerated Constants</a:t>
                      </a:r>
                      <a:endParaRPr lang="es-419" sz="20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enum Colors { RED, GREEN, BLUE };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Defines a group of named integer constants.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5064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8285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C95C27D-D0CC-3AD0-2EB1-681572BFB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5923DD-A316-DAF9-815B-BD2A13BE0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131" y="623821"/>
            <a:ext cx="9144000" cy="615553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Punctuators</a:t>
            </a:r>
            <a:endParaRPr lang="hi-IN" sz="4400" b="1" dirty="0">
              <a:latin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22A1CA9-BBA9-B421-04D1-F8A81B353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1663" y="1495836"/>
            <a:ext cx="9144000" cy="4579715"/>
          </a:xfrm>
        </p:spPr>
        <p:txBody>
          <a:bodyPr/>
          <a:lstStyle/>
          <a:p>
            <a:pPr marL="342900" marR="0" lvl="0" indent="-342900" algn="just" defTabSz="4572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Punctuators are the token characters having specific meanings within the syntax of the programming language. These symbols are used in a variety of functions, including ending the statements, defining control statements, separating items, and more.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Punctuators in C++ are: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1) Semicolon (;): It is used to terminate the statement.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2) Square brackets []: They are used to store array elements.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3) Curly Braces {}: They are used to define blocks of code.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4) Double-quote ("): It is used to enclose string literals.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5) Single-quote ('): It is used to enclose character literals.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600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C35A862-F782-DB02-F26D-3CE98485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3AA4F7-3745-FC0C-081F-64BDCBCBF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131" y="623821"/>
            <a:ext cx="9144000" cy="615553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lang="hi-IN" sz="4400" b="1" dirty="0">
              <a:latin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F580D3F-3341-3D7F-A43A-9FA996566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131" y="1773238"/>
            <a:ext cx="9144000" cy="3841052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operators are special symbols that are used to perform operations on operands such as variables, constants, or expressions. 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lang="en-US" b="1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Operators:</a:t>
            </a: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1) </a:t>
            </a:r>
            <a:r>
              <a:rPr lang="es-419" dirty="0"/>
              <a:t>Arithmetic</a:t>
            </a: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+, -, *, %, /</a:t>
            </a: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2) Relational: ==, !=, &lt;, &gt;</a:t>
            </a: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3) Logical: &amp;&amp;, ||, !</a:t>
            </a: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4) Assignment: =, +=, -=</a:t>
            </a: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5) Bitwise: &amp;, |,  ^, &lt;&lt;, &gt;&gt;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772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22A5A6-CEA3-6736-7BB0-803BB07C5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081" y="685467"/>
            <a:ext cx="9144000" cy="615553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endParaRPr lang="hi-IN" sz="4400" b="1" dirty="0">
              <a:latin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44D5B9B-E87A-27CE-0060-5FC2B2919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933" y="1594386"/>
            <a:ext cx="9846067" cy="4431983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is a name given to a memory location. It is the basic unit of storage in a program. The value stored in a variable can be accessed or changed during program execution.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of variable definition: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--&gt;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name;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where,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type of data that a variable can store,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name assigned to the variable  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    int value;        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//Declaration of variable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value = 5;      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Intializing a variable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int a = 10;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// Declaration and Intialization</a:t>
            </a:r>
            <a:r>
              <a:rPr lang="en-US" dirty="0">
                <a:solidFill>
                  <a:srgbClr val="FF0000"/>
                </a:solidFill>
              </a:rPr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72337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8206416-9B85-4760-C94D-E7CCF8568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5EAFCD2-3940-D996-6F0A-1EAB55836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708" y="339048"/>
            <a:ext cx="9846067" cy="6032421"/>
          </a:xfrm>
        </p:spPr>
        <p:txBody>
          <a:bodyPr>
            <a:normAutofit fontScale="92500" lnSpcReduction="200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Naming Convention</a:t>
            </a:r>
          </a:p>
          <a:p>
            <a:endParaRPr lang="en-US" b="1" dirty="0"/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rules for naming a variable are same as identifier. These are suggestions for naming variables for easier understanding.</a:t>
            </a:r>
          </a:p>
          <a:p>
            <a:pPr algn="just"/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lowercase alphabet.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camelCase (first letter of word should be lowercase and then each word begin with uppercase. Eg:(studentName, firstName)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Constants usually in UPPERCASE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MAX_VALUE, MIN_VALUE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descriptive, meaningful names.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41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first_name, frequencyCount.</a:t>
            </a:r>
          </a:p>
          <a:p>
            <a:pPr algn="just"/>
            <a:r>
              <a:rPr lang="en-US" dirty="0"/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029638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7D70B1E-A0AE-D73D-9FC5-7EE3A199E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439D82-6A38-5334-BEBB-0E5D3E80E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4126" y="626724"/>
            <a:ext cx="9846067" cy="4555093"/>
          </a:xfrm>
        </p:spPr>
        <p:txBody>
          <a:bodyPr>
            <a:normAutofit lnSpcReduction="100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Variable </a:t>
            </a:r>
          </a:p>
          <a:p>
            <a:endParaRPr lang="en-US" b="1" dirty="0"/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declare a program element such as a class, function, or variable, its name can only be "seen" and used in certain parts of your program. The context in which a name is visible is called its scope.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Types of Variable Scope:</a:t>
            </a:r>
          </a:p>
          <a:p>
            <a:pPr algn="l"/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Scope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Scope</a:t>
            </a:r>
          </a:p>
        </p:txBody>
      </p:sp>
    </p:spTree>
    <p:extLst>
      <p:ext uri="{BB962C8B-B14F-4D97-AF65-F5344CB8AC3E}">
        <p14:creationId xmlns:p14="http://schemas.microsoft.com/office/powerpoint/2010/main" val="2763161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502091-BB51-0468-0CCE-F5BBB6C58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232D7AE-8725-2D6F-F519-C04ED0725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708" y="128428"/>
            <a:ext cx="9846067" cy="2339102"/>
          </a:xfrm>
        </p:spPr>
        <p:txBody>
          <a:bodyPr>
            <a:normAutofit fontScale="925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Scope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defined within a function or block are said to be local to those functions or a block and are called local variables. Local variables do not exist outside the block in which they are declared, i.e. they cannot be accessed or used outside that block.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xmlns="" id="{E5A3C392-A569-8D0F-6A75-A8F7D73DE058}"/>
              </a:ext>
            </a:extLst>
          </p:cNvPr>
          <p:cNvSpPr/>
          <p:nvPr/>
        </p:nvSpPr>
        <p:spPr>
          <a:xfrm>
            <a:off x="1284270" y="2616595"/>
            <a:ext cx="8763855" cy="4112977"/>
          </a:xfrm>
          <a:prstGeom prst="roundRect">
            <a:avLst>
              <a:gd name="adj" fmla="val 15597"/>
            </a:avLst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400" dirty="0"/>
              <a:t>#include &lt;iostream&gt;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int main() {</a:t>
            </a:r>
          </a:p>
          <a:p>
            <a:r>
              <a:rPr lang="en-US" sz="2400" dirty="0"/>
              <a:t>   {</a:t>
            </a:r>
          </a:p>
          <a:p>
            <a:r>
              <a:rPr lang="en-US" sz="2400" dirty="0"/>
              <a:t>    int x = 10;           </a:t>
            </a:r>
            <a:r>
              <a:rPr lang="en-US" sz="2400" dirty="0">
                <a:solidFill>
                  <a:srgbClr val="FF0000"/>
                </a:solidFill>
              </a:rPr>
              <a:t>// Local variable, Scope local to only this block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cout</a:t>
            </a:r>
            <a:r>
              <a:rPr lang="en-US" sz="2400" dirty="0"/>
              <a:t> &lt;&lt; x;          </a:t>
            </a:r>
            <a:r>
              <a:rPr lang="en-US" sz="2400" dirty="0">
                <a:solidFill>
                  <a:srgbClr val="FF0000"/>
                </a:solidFill>
              </a:rPr>
              <a:t>//  Works here</a:t>
            </a:r>
          </a:p>
          <a:p>
            <a:r>
              <a:rPr lang="en-US" sz="2400" dirty="0"/>
              <a:t>}</a:t>
            </a:r>
          </a:p>
          <a:p>
            <a:pPr algn="l"/>
            <a:r>
              <a:rPr lang="en-US" sz="2400" dirty="0" err="1"/>
              <a:t>cout</a:t>
            </a:r>
            <a:r>
              <a:rPr lang="en-US" sz="2400" dirty="0"/>
              <a:t> &lt;&lt; x;          </a:t>
            </a:r>
            <a:r>
              <a:rPr lang="en-US" sz="2400" dirty="0">
                <a:solidFill>
                  <a:srgbClr val="FF0000"/>
                </a:solidFill>
              </a:rPr>
              <a:t>//  Error: x not visible here</a:t>
            </a:r>
            <a:endParaRPr lang="en-US" sz="2400" dirty="0"/>
          </a:p>
          <a:p>
            <a:pPr algn="l"/>
            <a:r>
              <a:rPr lang="en-US" sz="2400" dirty="0"/>
              <a:t>}</a:t>
            </a:r>
            <a:endParaRPr lang="hi-IN" sz="2400" dirty="0"/>
          </a:p>
        </p:txBody>
      </p:sp>
    </p:spTree>
    <p:extLst>
      <p:ext uri="{BB962C8B-B14F-4D97-AF65-F5344CB8AC3E}">
        <p14:creationId xmlns:p14="http://schemas.microsoft.com/office/powerpoint/2010/main" val="3370851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58863F4-C7F6-0BBF-74E9-137544B91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003F617-05DD-D2D7-5B26-C8E6243B6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708" y="339048"/>
            <a:ext cx="9846067" cy="1969770"/>
          </a:xfrm>
        </p:spPr>
        <p:txBody>
          <a:bodyPr>
            <a:normAutofit fontScale="92500" lnSpcReduction="100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Scope</a:t>
            </a:r>
          </a:p>
          <a:p>
            <a:endParaRPr lang="en-US" b="1" dirty="0"/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scope refers to the region outside any function or a block. The variables declared here are accessible throughout the entire program and are called Global Variables.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xmlns="" id="{9B1FE197-8C3F-E2DF-3585-AAB15CA3579F}"/>
              </a:ext>
            </a:extLst>
          </p:cNvPr>
          <p:cNvSpPr/>
          <p:nvPr/>
        </p:nvSpPr>
        <p:spPr>
          <a:xfrm>
            <a:off x="1376737" y="2486346"/>
            <a:ext cx="8116584" cy="384253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400" dirty="0"/>
              <a:t>#include &lt;iostream&gt;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int x = 20;                </a:t>
            </a:r>
            <a:r>
              <a:rPr lang="en-US" sz="2400" dirty="0">
                <a:solidFill>
                  <a:srgbClr val="FF0000"/>
                </a:solidFill>
              </a:rPr>
              <a:t>// Global variable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int main() {</a:t>
            </a:r>
          </a:p>
          <a:p>
            <a:pPr algn="l"/>
            <a:r>
              <a:rPr lang="en-US" sz="2400" dirty="0"/>
              <a:t>    cout &lt;&lt; x;            </a:t>
            </a:r>
            <a:r>
              <a:rPr lang="en-US" sz="2400" dirty="0">
                <a:solidFill>
                  <a:srgbClr val="FF0000"/>
                </a:solidFill>
              </a:rPr>
              <a:t>// Accessible everywhere</a:t>
            </a:r>
          </a:p>
          <a:p>
            <a:pPr algn="l"/>
            <a:r>
              <a:rPr lang="en-US" sz="2400" dirty="0"/>
              <a:t>}  </a:t>
            </a:r>
            <a:endParaRPr lang="hi-IN" sz="2400" dirty="0"/>
          </a:p>
        </p:txBody>
      </p:sp>
    </p:spTree>
    <p:extLst>
      <p:ext uri="{BB962C8B-B14F-4D97-AF65-F5344CB8AC3E}">
        <p14:creationId xmlns:p14="http://schemas.microsoft.com/office/powerpoint/2010/main" val="437692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Lifetime of Variables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94671"/>
              </p:ext>
            </p:extLst>
          </p:nvPr>
        </p:nvGraphicFramePr>
        <p:xfrm>
          <a:off x="1293687" y="1957227"/>
          <a:ext cx="9604625" cy="3755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1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933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73808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26561"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14321"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Exists only within the block/function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(){ int x=5;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14321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Exists throughout program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x=10; int main(){}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10D8AE-42CC-B435-EC3D-E826F302B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789" y="14813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in C++</a:t>
            </a:r>
            <a:endParaRPr lang="hi-IN" b="1" dirty="0">
              <a:latin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E6682A5A-593A-69CA-A7D6-BBA61B5BCC24}"/>
              </a:ext>
            </a:extLst>
          </p:cNvPr>
          <p:cNvCxnSpPr>
            <a:cxnSpLocks/>
          </p:cNvCxnSpPr>
          <p:nvPr/>
        </p:nvCxnSpPr>
        <p:spPr>
          <a:xfrm>
            <a:off x="814789" y="1376738"/>
            <a:ext cx="973990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77F2ED93-D90E-DD8F-0CBB-499E946EC8E2}"/>
              </a:ext>
            </a:extLst>
          </p:cNvPr>
          <p:cNvSpPr/>
          <p:nvPr/>
        </p:nvSpPr>
        <p:spPr>
          <a:xfrm>
            <a:off x="698643" y="1797302"/>
            <a:ext cx="1849348" cy="6267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Primitive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5338251C-C43A-3268-12C3-52D9AFE843CD}"/>
              </a:ext>
            </a:extLst>
          </p:cNvPr>
          <p:cNvSpPr/>
          <p:nvPr/>
        </p:nvSpPr>
        <p:spPr>
          <a:xfrm>
            <a:off x="4784185" y="1797302"/>
            <a:ext cx="1849348" cy="6267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1CF3F119-0348-050A-422C-F6E7840D915F}"/>
              </a:ext>
            </a:extLst>
          </p:cNvPr>
          <p:cNvSpPr/>
          <p:nvPr/>
        </p:nvSpPr>
        <p:spPr>
          <a:xfrm>
            <a:off x="8729462" y="1785296"/>
            <a:ext cx="2033770" cy="6267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Defined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93F3B4A4-641A-44FB-6BBB-48A66A5E843E}"/>
              </a:ext>
            </a:extLst>
          </p:cNvPr>
          <p:cNvCxnSpPr>
            <a:cxnSpLocks/>
          </p:cNvCxnSpPr>
          <p:nvPr/>
        </p:nvCxnSpPr>
        <p:spPr>
          <a:xfrm>
            <a:off x="838909" y="2424024"/>
            <a:ext cx="0" cy="38528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C67334BF-0F0E-E1F0-6193-3F6CC49FF85D}"/>
              </a:ext>
            </a:extLst>
          </p:cNvPr>
          <p:cNvCxnSpPr>
            <a:cxnSpLocks/>
          </p:cNvCxnSpPr>
          <p:nvPr/>
        </p:nvCxnSpPr>
        <p:spPr>
          <a:xfrm>
            <a:off x="5029053" y="2439773"/>
            <a:ext cx="0" cy="38528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525E0AA6-718C-2CF2-E31E-1BD70F8413B0}"/>
              </a:ext>
            </a:extLst>
          </p:cNvPr>
          <p:cNvCxnSpPr>
            <a:cxnSpLocks/>
          </p:cNvCxnSpPr>
          <p:nvPr/>
        </p:nvCxnSpPr>
        <p:spPr>
          <a:xfrm>
            <a:off x="8943507" y="2412018"/>
            <a:ext cx="0" cy="38528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xmlns="" id="{47D61D6C-8ABE-4299-13B5-ABB623AA2F9E}"/>
              </a:ext>
            </a:extLst>
          </p:cNvPr>
          <p:cNvSpPr/>
          <p:nvPr/>
        </p:nvSpPr>
        <p:spPr>
          <a:xfrm>
            <a:off x="1623317" y="3349376"/>
            <a:ext cx="1273975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xmlns="" id="{2325FC30-C13C-D7AD-F108-3F0DB3842142}"/>
              </a:ext>
            </a:extLst>
          </p:cNvPr>
          <p:cNvSpPr/>
          <p:nvPr/>
        </p:nvSpPr>
        <p:spPr>
          <a:xfrm>
            <a:off x="1623317" y="4063092"/>
            <a:ext cx="1273975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xmlns="" id="{6FAF448B-20A1-BC28-F132-4406CF43DF41}"/>
              </a:ext>
            </a:extLst>
          </p:cNvPr>
          <p:cNvSpPr/>
          <p:nvPr/>
        </p:nvSpPr>
        <p:spPr>
          <a:xfrm>
            <a:off x="1633593" y="4796061"/>
            <a:ext cx="1273975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xmlns="" id="{71468823-C5D9-A702-4FAC-87C8BD492A79}"/>
              </a:ext>
            </a:extLst>
          </p:cNvPr>
          <p:cNvSpPr/>
          <p:nvPr/>
        </p:nvSpPr>
        <p:spPr>
          <a:xfrm>
            <a:off x="1633592" y="5529030"/>
            <a:ext cx="1273975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xmlns="" id="{8820F1FD-7C29-9505-AE50-D4150761B0B5}"/>
              </a:ext>
            </a:extLst>
          </p:cNvPr>
          <p:cNvSpPr/>
          <p:nvPr/>
        </p:nvSpPr>
        <p:spPr>
          <a:xfrm>
            <a:off x="1613040" y="2730695"/>
            <a:ext cx="1273975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xmlns="" id="{AFE6C471-D37E-3F5E-B57D-3A65A531ECEB}"/>
              </a:ext>
            </a:extLst>
          </p:cNvPr>
          <p:cNvSpPr/>
          <p:nvPr/>
        </p:nvSpPr>
        <p:spPr>
          <a:xfrm>
            <a:off x="5803183" y="2821613"/>
            <a:ext cx="1273975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xmlns="" id="{94B541B4-1FFE-5906-BE62-C4DAA348D783}"/>
              </a:ext>
            </a:extLst>
          </p:cNvPr>
          <p:cNvSpPr/>
          <p:nvPr/>
        </p:nvSpPr>
        <p:spPr>
          <a:xfrm>
            <a:off x="5803182" y="3798869"/>
            <a:ext cx="1273975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xmlns="" id="{3350A94B-375F-C9E0-CE89-9986DC96F6E9}"/>
              </a:ext>
            </a:extLst>
          </p:cNvPr>
          <p:cNvSpPr/>
          <p:nvPr/>
        </p:nvSpPr>
        <p:spPr>
          <a:xfrm>
            <a:off x="5801464" y="4735670"/>
            <a:ext cx="1273975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xmlns="" id="{5347D707-AB4F-0418-6181-29767E7E21FC}"/>
              </a:ext>
            </a:extLst>
          </p:cNvPr>
          <p:cNvSpPr/>
          <p:nvPr/>
        </p:nvSpPr>
        <p:spPr>
          <a:xfrm>
            <a:off x="9475399" y="2851791"/>
            <a:ext cx="1526487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xmlns="" id="{D6FFBF11-6A6F-4FE5-C295-2B286A986512}"/>
              </a:ext>
            </a:extLst>
          </p:cNvPr>
          <p:cNvSpPr/>
          <p:nvPr/>
        </p:nvSpPr>
        <p:spPr>
          <a:xfrm>
            <a:off x="9478983" y="3776965"/>
            <a:ext cx="1512631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xmlns="" id="{DCE38960-870E-A261-2331-8CA8D62E0051}"/>
              </a:ext>
            </a:extLst>
          </p:cNvPr>
          <p:cNvSpPr/>
          <p:nvPr/>
        </p:nvSpPr>
        <p:spPr>
          <a:xfrm>
            <a:off x="9478983" y="4702139"/>
            <a:ext cx="1512629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xmlns="" id="{3DF79B6B-0095-DDA0-A183-BF81E341576C}"/>
              </a:ext>
            </a:extLst>
          </p:cNvPr>
          <p:cNvSpPr/>
          <p:nvPr/>
        </p:nvSpPr>
        <p:spPr>
          <a:xfrm>
            <a:off x="9475398" y="5506947"/>
            <a:ext cx="1526488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18B2B4CA-DA8B-B853-585C-69B3604F1F22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838909" y="2956726"/>
            <a:ext cx="7741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xmlns="" id="{6DDDFD39-0C94-3EEE-92F1-66A16D14F42F}"/>
              </a:ext>
            </a:extLst>
          </p:cNvPr>
          <p:cNvCxnSpPr>
            <a:cxnSpLocks/>
          </p:cNvCxnSpPr>
          <p:nvPr/>
        </p:nvCxnSpPr>
        <p:spPr>
          <a:xfrm>
            <a:off x="849186" y="3571463"/>
            <a:ext cx="7741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xmlns="" id="{6F4C80D4-D134-7F20-1BCF-DF097ABE9808}"/>
              </a:ext>
            </a:extLst>
          </p:cNvPr>
          <p:cNvCxnSpPr>
            <a:cxnSpLocks/>
          </p:cNvCxnSpPr>
          <p:nvPr/>
        </p:nvCxnSpPr>
        <p:spPr>
          <a:xfrm>
            <a:off x="849186" y="4279023"/>
            <a:ext cx="7741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35CAC316-3C8A-F274-6A44-D0795BA4C17E}"/>
              </a:ext>
            </a:extLst>
          </p:cNvPr>
          <p:cNvCxnSpPr>
            <a:cxnSpLocks/>
          </p:cNvCxnSpPr>
          <p:nvPr/>
        </p:nvCxnSpPr>
        <p:spPr>
          <a:xfrm>
            <a:off x="849186" y="4989297"/>
            <a:ext cx="7741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xmlns="" id="{D35F26DF-B035-A684-6CDE-9CABC32A806F}"/>
              </a:ext>
            </a:extLst>
          </p:cNvPr>
          <p:cNvCxnSpPr>
            <a:cxnSpLocks/>
          </p:cNvCxnSpPr>
          <p:nvPr/>
        </p:nvCxnSpPr>
        <p:spPr>
          <a:xfrm>
            <a:off x="849186" y="5729036"/>
            <a:ext cx="7741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7190BAB4-0372-4B5F-B809-35965A9C6CCF}"/>
              </a:ext>
            </a:extLst>
          </p:cNvPr>
          <p:cNvCxnSpPr>
            <a:cxnSpLocks/>
          </p:cNvCxnSpPr>
          <p:nvPr/>
        </p:nvCxnSpPr>
        <p:spPr>
          <a:xfrm>
            <a:off x="5029053" y="3022508"/>
            <a:ext cx="7741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A333681D-CE5D-B66A-D91E-0DB81F25C08C}"/>
              </a:ext>
            </a:extLst>
          </p:cNvPr>
          <p:cNvCxnSpPr>
            <a:cxnSpLocks/>
          </p:cNvCxnSpPr>
          <p:nvPr/>
        </p:nvCxnSpPr>
        <p:spPr>
          <a:xfrm>
            <a:off x="5029053" y="3982641"/>
            <a:ext cx="7741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xmlns="" id="{E2CAB6A1-C37B-9791-A48D-624A6A74AA06}"/>
              </a:ext>
            </a:extLst>
          </p:cNvPr>
          <p:cNvCxnSpPr>
            <a:cxnSpLocks/>
          </p:cNvCxnSpPr>
          <p:nvPr/>
        </p:nvCxnSpPr>
        <p:spPr>
          <a:xfrm>
            <a:off x="5029053" y="4928170"/>
            <a:ext cx="7741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xmlns="" id="{FF8ADBBE-DA11-C026-BC87-123CB9A307C8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8943507" y="3071311"/>
            <a:ext cx="531892" cy="65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xmlns="" id="{29F57D0A-A7A9-E65D-CE3E-C2E1888EF84A}"/>
              </a:ext>
            </a:extLst>
          </p:cNvPr>
          <p:cNvCxnSpPr>
            <a:cxnSpLocks/>
          </p:cNvCxnSpPr>
          <p:nvPr/>
        </p:nvCxnSpPr>
        <p:spPr>
          <a:xfrm>
            <a:off x="8943506" y="4018389"/>
            <a:ext cx="531892" cy="65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668CBFDA-E33A-4D51-C120-621A8377E106}"/>
              </a:ext>
            </a:extLst>
          </p:cNvPr>
          <p:cNvCxnSpPr>
            <a:cxnSpLocks/>
          </p:cNvCxnSpPr>
          <p:nvPr/>
        </p:nvCxnSpPr>
        <p:spPr>
          <a:xfrm>
            <a:off x="8941788" y="4928170"/>
            <a:ext cx="531892" cy="65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xmlns="" id="{397C119C-861B-1AFE-C975-A012E15AC23F}"/>
              </a:ext>
            </a:extLst>
          </p:cNvPr>
          <p:cNvCxnSpPr>
            <a:cxnSpLocks/>
          </p:cNvCxnSpPr>
          <p:nvPr/>
        </p:nvCxnSpPr>
        <p:spPr>
          <a:xfrm>
            <a:off x="8953251" y="5755061"/>
            <a:ext cx="531892" cy="65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xmlns="" id="{920BE4A8-28E4-E78F-DEF3-26348EFD9A16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613040" y="1385661"/>
            <a:ext cx="10277" cy="4116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xmlns="" id="{E5B670A3-1251-E1B5-90AE-4C4C2AC4BC74}"/>
              </a:ext>
            </a:extLst>
          </p:cNvPr>
          <p:cNvCxnSpPr>
            <a:cxnSpLocks/>
          </p:cNvCxnSpPr>
          <p:nvPr/>
        </p:nvCxnSpPr>
        <p:spPr>
          <a:xfrm>
            <a:off x="5623314" y="1376738"/>
            <a:ext cx="0" cy="40481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xmlns="" id="{FACD607B-A5D4-619D-600B-60B27090BFC2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9746347" y="1385661"/>
            <a:ext cx="0" cy="39963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485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9A4FF177-D55B-435F-8D12-8C0AF32E0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597974"/>
              </p:ext>
            </p:extLst>
          </p:nvPr>
        </p:nvGraphicFramePr>
        <p:xfrm>
          <a:off x="236306" y="164861"/>
          <a:ext cx="11363220" cy="6492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2644">
                  <a:extLst>
                    <a:ext uri="{9D8B030D-6E8A-4147-A177-3AD203B41FA5}">
                      <a16:colId xmlns:a16="http://schemas.microsoft.com/office/drawing/2014/main" xmlns="" val="2411659173"/>
                    </a:ext>
                  </a:extLst>
                </a:gridCol>
                <a:gridCol w="2272644">
                  <a:extLst>
                    <a:ext uri="{9D8B030D-6E8A-4147-A177-3AD203B41FA5}">
                      <a16:colId xmlns:a16="http://schemas.microsoft.com/office/drawing/2014/main" xmlns="" val="3891865775"/>
                    </a:ext>
                  </a:extLst>
                </a:gridCol>
                <a:gridCol w="2272644">
                  <a:extLst>
                    <a:ext uri="{9D8B030D-6E8A-4147-A177-3AD203B41FA5}">
                      <a16:colId xmlns:a16="http://schemas.microsoft.com/office/drawing/2014/main" xmlns="" val="871127151"/>
                    </a:ext>
                  </a:extLst>
                </a:gridCol>
                <a:gridCol w="2272644">
                  <a:extLst>
                    <a:ext uri="{9D8B030D-6E8A-4147-A177-3AD203B41FA5}">
                      <a16:colId xmlns:a16="http://schemas.microsoft.com/office/drawing/2014/main" xmlns="" val="3339090447"/>
                    </a:ext>
                  </a:extLst>
                </a:gridCol>
                <a:gridCol w="2272644">
                  <a:extLst>
                    <a:ext uri="{9D8B030D-6E8A-4147-A177-3AD203B41FA5}">
                      <a16:colId xmlns:a16="http://schemas.microsoft.com/office/drawing/2014/main" xmlns="" val="2269840989"/>
                    </a:ext>
                  </a:extLst>
                </a:gridCol>
              </a:tblGrid>
              <a:tr h="930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Keyword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Size (approx.)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639460081"/>
                  </a:ext>
                </a:extLst>
              </a:tr>
              <a:tr h="930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/>
                        <a:t>Boolean</a:t>
                      </a:r>
                      <a:endParaRPr lang="es-419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bool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bool pass = true;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1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true /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821554078"/>
                  </a:ext>
                </a:extLst>
              </a:tr>
              <a:tr h="930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/>
                        <a:t>Character</a:t>
                      </a:r>
                      <a:endParaRPr lang="es-419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char grade = 'A';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1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-128 to 127 (signed)0 to 255 (unsigned)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134303227"/>
                  </a:ext>
                </a:extLst>
              </a:tr>
              <a:tr h="930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/>
                        <a:t>Short Integer</a:t>
                      </a:r>
                      <a:endParaRPr lang="es-419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short age = 25;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2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-32,768 to 32,767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6111010"/>
                  </a:ext>
                </a:extLst>
              </a:tr>
              <a:tr h="930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/>
                        <a:t>Integer</a:t>
                      </a:r>
                      <a:endParaRPr lang="es-419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int </a:t>
                      </a:r>
                      <a:r>
                        <a:rPr lang="es-419" dirty="0" err="1"/>
                        <a:t>marks</a:t>
                      </a:r>
                      <a:r>
                        <a:rPr lang="es-419" dirty="0"/>
                        <a:t> = 90;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4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-2,147,483,648 to 2,147,483,647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74269047"/>
                  </a:ext>
                </a:extLst>
              </a:tr>
              <a:tr h="1838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/>
                        <a:t>Long Integer</a:t>
                      </a:r>
                      <a:endParaRPr lang="es-419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long population = 100000;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4 or 8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(4B) -2,147,483,648 </a:t>
                      </a:r>
                      <a:r>
                        <a:rPr lang="es-419" dirty="0" err="1"/>
                        <a:t>to</a:t>
                      </a:r>
                      <a:r>
                        <a:rPr lang="es-419" dirty="0"/>
                        <a:t> 2,147,483,647(8B) -9,223,372,036,854,775,808 </a:t>
                      </a:r>
                      <a:r>
                        <a:rPr lang="es-419" dirty="0" err="1"/>
                        <a:t>to</a:t>
                      </a:r>
                      <a:r>
                        <a:rPr lang="es-419" dirty="0"/>
                        <a:t> 9,223,372,036,854,775,807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941007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1819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A4AFC031-8F27-6572-73F2-2B1BF9FE8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714273"/>
              </p:ext>
            </p:extLst>
          </p:nvPr>
        </p:nvGraphicFramePr>
        <p:xfrm>
          <a:off x="277402" y="123765"/>
          <a:ext cx="11332395" cy="6461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479">
                  <a:extLst>
                    <a:ext uri="{9D8B030D-6E8A-4147-A177-3AD203B41FA5}">
                      <a16:colId xmlns:a16="http://schemas.microsoft.com/office/drawing/2014/main" xmlns="" val="3818947302"/>
                    </a:ext>
                  </a:extLst>
                </a:gridCol>
                <a:gridCol w="2266479">
                  <a:extLst>
                    <a:ext uri="{9D8B030D-6E8A-4147-A177-3AD203B41FA5}">
                      <a16:colId xmlns:a16="http://schemas.microsoft.com/office/drawing/2014/main" xmlns="" val="452988033"/>
                    </a:ext>
                  </a:extLst>
                </a:gridCol>
                <a:gridCol w="2266479">
                  <a:extLst>
                    <a:ext uri="{9D8B030D-6E8A-4147-A177-3AD203B41FA5}">
                      <a16:colId xmlns:a16="http://schemas.microsoft.com/office/drawing/2014/main" xmlns="" val="2606838583"/>
                    </a:ext>
                  </a:extLst>
                </a:gridCol>
                <a:gridCol w="2266479">
                  <a:extLst>
                    <a:ext uri="{9D8B030D-6E8A-4147-A177-3AD203B41FA5}">
                      <a16:colId xmlns:a16="http://schemas.microsoft.com/office/drawing/2014/main" xmlns="" val="2002152639"/>
                    </a:ext>
                  </a:extLst>
                </a:gridCol>
                <a:gridCol w="2266479">
                  <a:extLst>
                    <a:ext uri="{9D8B030D-6E8A-4147-A177-3AD203B41FA5}">
                      <a16:colId xmlns:a16="http://schemas.microsoft.com/office/drawing/2014/main" xmlns="" val="1974217938"/>
                    </a:ext>
                  </a:extLst>
                </a:gridCol>
              </a:tblGrid>
              <a:tr h="989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Keyword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Size (approx.)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 err="1"/>
                        <a:t>Range</a:t>
                      </a:r>
                      <a:endParaRPr lang="es-419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624973192"/>
                  </a:ext>
                </a:extLst>
              </a:tr>
              <a:tr h="1512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 dirty="0"/>
                        <a:t>Long </a:t>
                      </a:r>
                      <a:r>
                        <a:rPr lang="es-419" b="1" dirty="0" err="1"/>
                        <a:t>Long</a:t>
                      </a:r>
                      <a:r>
                        <a:rPr lang="es-419" b="1" dirty="0"/>
                        <a:t> Int</a:t>
                      </a:r>
                      <a:endParaRPr lang="es-419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long 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long long stars = 1000000000;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8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-9,223,372,036,854,775,808 to 9,223,372,036,854,775,807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0571501"/>
                  </a:ext>
                </a:extLst>
              </a:tr>
              <a:tr h="989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 dirty="0"/>
                        <a:t>Float</a:t>
                      </a:r>
                      <a:endParaRPr lang="es-419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float pi = 3.14;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4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~1.2E−38 to 3.4E+38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72553563"/>
                  </a:ext>
                </a:extLst>
              </a:tr>
              <a:tr h="989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/>
                        <a:t>Double</a:t>
                      </a:r>
                      <a:endParaRPr lang="es-419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double g = 9.81;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8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~2.3E−308 to 1.7E+308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334006868"/>
                  </a:ext>
                </a:extLst>
              </a:tr>
              <a:tr h="989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/>
                        <a:t>Long Double</a:t>
                      </a:r>
                      <a:endParaRPr lang="es-419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long 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long double val = 3.14159;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8–16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~3.4E−4932 to 1.1E+4932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21889055"/>
                  </a:ext>
                </a:extLst>
              </a:tr>
              <a:tr h="989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/>
                        <a:t>String</a:t>
                      </a:r>
                      <a:endParaRPr lang="es-419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 err="1"/>
                        <a:t>string</a:t>
                      </a:r>
                      <a:r>
                        <a:rPr lang="es-419" dirty="0"/>
                        <a:t> </a:t>
                      </a:r>
                      <a:r>
                        <a:rPr lang="es-419" dirty="0" err="1"/>
                        <a:t>name</a:t>
                      </a:r>
                      <a:r>
                        <a:rPr lang="es-419" dirty="0"/>
                        <a:t> = "</a:t>
                      </a:r>
                      <a:r>
                        <a:rPr lang="es-419" dirty="0" err="1"/>
                        <a:t>Apporva</a:t>
                      </a:r>
                      <a:r>
                        <a:rPr lang="es-419" dirty="0"/>
                        <a:t>";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Depends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 err="1"/>
                        <a:t>Depends</a:t>
                      </a:r>
                      <a:r>
                        <a:rPr lang="es-419" dirty="0"/>
                        <a:t> </a:t>
                      </a:r>
                      <a:r>
                        <a:rPr lang="es-419" dirty="0" err="1"/>
                        <a:t>on</a:t>
                      </a:r>
                      <a:r>
                        <a:rPr lang="es-419" dirty="0"/>
                        <a:t> </a:t>
                      </a:r>
                      <a:r>
                        <a:rPr lang="es-419" dirty="0" err="1"/>
                        <a:t>length</a:t>
                      </a:r>
                      <a:endParaRPr lang="es-419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727176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370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7645" y="189391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4520629" y="263525"/>
            <a:ext cx="3544583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cap="small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79" name="Google Shape;79;p9"/>
          <p:cNvSpPr txBox="1"/>
          <p:nvPr/>
        </p:nvSpPr>
        <p:spPr>
          <a:xfrm>
            <a:off x="616449" y="1170254"/>
            <a:ext cx="11209106" cy="2885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1" algn="just">
              <a:spcBef>
                <a:spcPts val="1610"/>
              </a:spcBef>
              <a:buClr>
                <a:srgbClr val="FD8537"/>
              </a:buClr>
              <a:buSzPts val="21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Operators are special symbols that are used to perform operations on operands </a:t>
            </a:r>
          </a:p>
          <a:p>
            <a:pPr marL="0" lvl="1" algn="just">
              <a:spcBef>
                <a:spcPts val="1610"/>
              </a:spcBef>
              <a:buClr>
                <a:srgbClr val="FD8537"/>
              </a:buClr>
              <a:buSzPts val="21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such as variables, constants, or expressions. </a:t>
            </a:r>
          </a:p>
          <a:p>
            <a:pPr marL="0" lvl="1" algn="just">
              <a:spcBef>
                <a:spcPts val="1610"/>
              </a:spcBef>
              <a:buClr>
                <a:srgbClr val="FD8537"/>
              </a:buClr>
              <a:buSzPts val="2100"/>
            </a:pPr>
            <a:endParaRPr lang="en-US"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0" lvl="1" algn="just">
              <a:spcBef>
                <a:spcPts val="1610"/>
              </a:spcBef>
              <a:buClr>
                <a:srgbClr val="FD8537"/>
              </a:buClr>
              <a:buSzPts val="21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For example:  (A+B), in which 'A' and 'B' are operands, and '+' is an arithmetic operator </a:t>
            </a:r>
          </a:p>
          <a:p>
            <a:pPr marL="0" lvl="1" algn="just">
              <a:spcBef>
                <a:spcPts val="1610"/>
              </a:spcBef>
              <a:buClr>
                <a:srgbClr val="FD8537"/>
              </a:buClr>
              <a:buSzPts val="21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which is used to add two operands.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528968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5"/>
          <p:cNvGrpSpPr/>
          <p:nvPr/>
        </p:nvGrpSpPr>
        <p:grpSpPr>
          <a:xfrm>
            <a:off x="6476999" y="1752599"/>
            <a:ext cx="1676400" cy="609600"/>
            <a:chOff x="4952999" y="1752599"/>
            <a:chExt cx="1676400" cy="609600"/>
          </a:xfrm>
        </p:grpSpPr>
        <p:pic>
          <p:nvPicPr>
            <p:cNvPr id="127" name="Google Shape;127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952999" y="1752599"/>
              <a:ext cx="16764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5"/>
            <p:cNvSpPr/>
            <p:nvPr/>
          </p:nvSpPr>
          <p:spPr>
            <a:xfrm>
              <a:off x="4952999" y="1752599"/>
              <a:ext cx="1676400" cy="609600"/>
            </a:xfrm>
            <a:custGeom>
              <a:avLst/>
              <a:gdLst/>
              <a:ahLst/>
              <a:cxnLst/>
              <a:rect l="l" t="t" r="r" b="b"/>
              <a:pathLst>
                <a:path w="1676400" h="609600" extrusionOk="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1574800" y="0"/>
                  </a:lnTo>
                  <a:lnTo>
                    <a:pt x="1614356" y="7981"/>
                  </a:lnTo>
                  <a:lnTo>
                    <a:pt x="1646650" y="29749"/>
                  </a:lnTo>
                  <a:lnTo>
                    <a:pt x="1668418" y="62043"/>
                  </a:lnTo>
                  <a:lnTo>
                    <a:pt x="1676400" y="101600"/>
                  </a:lnTo>
                  <a:lnTo>
                    <a:pt x="1676400" y="508000"/>
                  </a:lnTo>
                  <a:lnTo>
                    <a:pt x="1668418" y="547556"/>
                  </a:lnTo>
                  <a:lnTo>
                    <a:pt x="1646650" y="579850"/>
                  </a:lnTo>
                  <a:lnTo>
                    <a:pt x="1614356" y="601618"/>
                  </a:lnTo>
                  <a:lnTo>
                    <a:pt x="15748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29" name="Google Shape;129;p15"/>
          <p:cNvSpPr txBox="1"/>
          <p:nvPr/>
        </p:nvSpPr>
        <p:spPr>
          <a:xfrm>
            <a:off x="6749035" y="1795652"/>
            <a:ext cx="1137285" cy="25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/>
            <a:r>
              <a:rPr lang="en-US" sz="1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TERNARY</a:t>
            </a:r>
            <a:endParaRPr sz="1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660641" y="2039189"/>
            <a:ext cx="1313180" cy="260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/>
            <a:r>
              <a:rPr lang="en-US" sz="1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</a:t>
            </a:r>
            <a:endParaRPr sz="1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31" name="Google Shape;131;p15"/>
          <p:cNvGrpSpPr/>
          <p:nvPr/>
        </p:nvGrpSpPr>
        <p:grpSpPr>
          <a:xfrm>
            <a:off x="6476999" y="304799"/>
            <a:ext cx="1752600" cy="1295400"/>
            <a:chOff x="4952999" y="304799"/>
            <a:chExt cx="1752600" cy="1295400"/>
          </a:xfrm>
        </p:grpSpPr>
        <p:pic>
          <p:nvPicPr>
            <p:cNvPr id="132" name="Google Shape;132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952999" y="990599"/>
              <a:ext cx="16764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15"/>
            <p:cNvSpPr/>
            <p:nvPr/>
          </p:nvSpPr>
          <p:spPr>
            <a:xfrm>
              <a:off x="4952999" y="990599"/>
              <a:ext cx="1676400" cy="609600"/>
            </a:xfrm>
            <a:custGeom>
              <a:avLst/>
              <a:gdLst/>
              <a:ahLst/>
              <a:cxnLst/>
              <a:rect l="l" t="t" r="r" b="b"/>
              <a:pathLst>
                <a:path w="1676400" h="609600" extrusionOk="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1574800" y="0"/>
                  </a:lnTo>
                  <a:lnTo>
                    <a:pt x="1614356" y="7981"/>
                  </a:lnTo>
                  <a:lnTo>
                    <a:pt x="1646650" y="29749"/>
                  </a:lnTo>
                  <a:lnTo>
                    <a:pt x="1668418" y="62043"/>
                  </a:lnTo>
                  <a:lnTo>
                    <a:pt x="1676400" y="101600"/>
                  </a:lnTo>
                  <a:lnTo>
                    <a:pt x="1676400" y="508000"/>
                  </a:lnTo>
                  <a:lnTo>
                    <a:pt x="1668418" y="547556"/>
                  </a:lnTo>
                  <a:lnTo>
                    <a:pt x="1646650" y="579850"/>
                  </a:lnTo>
                  <a:lnTo>
                    <a:pt x="1614356" y="601618"/>
                  </a:lnTo>
                  <a:lnTo>
                    <a:pt x="15748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pic>
          <p:nvPicPr>
            <p:cNvPr id="134" name="Google Shape;134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029199" y="304799"/>
              <a:ext cx="16764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15"/>
            <p:cNvSpPr/>
            <p:nvPr/>
          </p:nvSpPr>
          <p:spPr>
            <a:xfrm>
              <a:off x="5029199" y="304799"/>
              <a:ext cx="1676400" cy="609600"/>
            </a:xfrm>
            <a:custGeom>
              <a:avLst/>
              <a:gdLst/>
              <a:ahLst/>
              <a:cxnLst/>
              <a:rect l="l" t="t" r="r" b="b"/>
              <a:pathLst>
                <a:path w="1676400" h="609600" extrusionOk="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1574800" y="0"/>
                  </a:lnTo>
                  <a:lnTo>
                    <a:pt x="1614356" y="7981"/>
                  </a:lnTo>
                  <a:lnTo>
                    <a:pt x="1646650" y="29749"/>
                  </a:lnTo>
                  <a:lnTo>
                    <a:pt x="1668418" y="62043"/>
                  </a:lnTo>
                  <a:lnTo>
                    <a:pt x="1676400" y="101600"/>
                  </a:lnTo>
                  <a:lnTo>
                    <a:pt x="1676400" y="508000"/>
                  </a:lnTo>
                  <a:lnTo>
                    <a:pt x="1668418" y="547556"/>
                  </a:lnTo>
                  <a:lnTo>
                    <a:pt x="1646650" y="579850"/>
                  </a:lnTo>
                  <a:lnTo>
                    <a:pt x="1614356" y="601618"/>
                  </a:lnTo>
                  <a:lnTo>
                    <a:pt x="15748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36" name="Google Shape;136;p15"/>
          <p:cNvSpPr txBox="1"/>
          <p:nvPr/>
        </p:nvSpPr>
        <p:spPr>
          <a:xfrm>
            <a:off x="6660641" y="347219"/>
            <a:ext cx="1391920" cy="120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73660" algn="ctr"/>
            <a:r>
              <a:rPr lang="en-US" sz="1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UNARY</a:t>
            </a:r>
            <a:endParaRPr sz="1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75565" algn="ctr"/>
            <a:r>
              <a:rPr lang="en-US" sz="1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</a:t>
            </a:r>
            <a:endParaRPr sz="1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70485" algn="ctr">
              <a:spcBef>
                <a:spcPts val="1565"/>
              </a:spcBef>
            </a:pPr>
            <a:r>
              <a:rPr lang="en-US" sz="1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BINARY</a:t>
            </a:r>
            <a:endParaRPr sz="1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70485" algn="ctr"/>
            <a:r>
              <a:rPr lang="en-US" sz="1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</a:t>
            </a:r>
            <a:endParaRPr sz="1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37" name="Google Shape;137;p15"/>
          <p:cNvGrpSpPr/>
          <p:nvPr/>
        </p:nvGrpSpPr>
        <p:grpSpPr>
          <a:xfrm>
            <a:off x="4419599" y="1295400"/>
            <a:ext cx="1676400" cy="990600"/>
            <a:chOff x="2895599" y="1295400"/>
            <a:chExt cx="1676400" cy="990600"/>
          </a:xfrm>
        </p:grpSpPr>
        <p:pic>
          <p:nvPicPr>
            <p:cNvPr id="138" name="Google Shape;138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895599" y="1295400"/>
              <a:ext cx="1676400" cy="990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15"/>
            <p:cNvSpPr/>
            <p:nvPr/>
          </p:nvSpPr>
          <p:spPr>
            <a:xfrm>
              <a:off x="2895599" y="1295400"/>
              <a:ext cx="1676400" cy="990600"/>
            </a:xfrm>
            <a:custGeom>
              <a:avLst/>
              <a:gdLst/>
              <a:ahLst/>
              <a:cxnLst/>
              <a:rect l="l" t="t" r="r" b="b"/>
              <a:pathLst>
                <a:path w="1676400" h="990600" extrusionOk="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1511300" y="0"/>
                  </a:lnTo>
                  <a:lnTo>
                    <a:pt x="1555191" y="5897"/>
                  </a:lnTo>
                  <a:lnTo>
                    <a:pt x="1594630" y="22540"/>
                  </a:lnTo>
                  <a:lnTo>
                    <a:pt x="1628044" y="48355"/>
                  </a:lnTo>
                  <a:lnTo>
                    <a:pt x="1653859" y="81769"/>
                  </a:lnTo>
                  <a:lnTo>
                    <a:pt x="1670502" y="121208"/>
                  </a:lnTo>
                  <a:lnTo>
                    <a:pt x="1676400" y="165100"/>
                  </a:lnTo>
                  <a:lnTo>
                    <a:pt x="1676400" y="825500"/>
                  </a:lnTo>
                  <a:lnTo>
                    <a:pt x="1670502" y="869391"/>
                  </a:lnTo>
                  <a:lnTo>
                    <a:pt x="1653859" y="908830"/>
                  </a:lnTo>
                  <a:lnTo>
                    <a:pt x="1628044" y="942244"/>
                  </a:lnTo>
                  <a:lnTo>
                    <a:pt x="1594630" y="968059"/>
                  </a:lnTo>
                  <a:lnTo>
                    <a:pt x="1555191" y="984702"/>
                  </a:lnTo>
                  <a:lnTo>
                    <a:pt x="15113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40" name="Google Shape;140;p15"/>
          <p:cNvSpPr txBox="1"/>
          <p:nvPr/>
        </p:nvSpPr>
        <p:spPr>
          <a:xfrm>
            <a:off x="4694936" y="1455801"/>
            <a:ext cx="1128395" cy="66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065" marR="5080" indent="1269" algn="ctr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BASED ON NO. OF OPERANDS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41" name="Google Shape;141;p15"/>
          <p:cNvGrpSpPr/>
          <p:nvPr/>
        </p:nvGrpSpPr>
        <p:grpSpPr>
          <a:xfrm>
            <a:off x="4419599" y="3886199"/>
            <a:ext cx="1752600" cy="838200"/>
            <a:chOff x="2895599" y="3886199"/>
            <a:chExt cx="1752600" cy="838200"/>
          </a:xfrm>
        </p:grpSpPr>
        <p:pic>
          <p:nvPicPr>
            <p:cNvPr id="142" name="Google Shape;142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95599" y="3886199"/>
              <a:ext cx="1752600" cy="8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15"/>
            <p:cNvSpPr/>
            <p:nvPr/>
          </p:nvSpPr>
          <p:spPr>
            <a:xfrm>
              <a:off x="2895599" y="3886199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 extrusionOk="0">
                  <a:moveTo>
                    <a:pt x="0" y="139700"/>
                  </a:moveTo>
                  <a:lnTo>
                    <a:pt x="7116" y="95520"/>
                  </a:lnTo>
                  <a:lnTo>
                    <a:pt x="26936" y="57168"/>
                  </a:lnTo>
                  <a:lnTo>
                    <a:pt x="57168" y="26936"/>
                  </a:lnTo>
                  <a:lnTo>
                    <a:pt x="95520" y="7116"/>
                  </a:lnTo>
                  <a:lnTo>
                    <a:pt x="139700" y="0"/>
                  </a:lnTo>
                  <a:lnTo>
                    <a:pt x="1612900" y="0"/>
                  </a:lnTo>
                  <a:lnTo>
                    <a:pt x="1657079" y="7116"/>
                  </a:lnTo>
                  <a:lnTo>
                    <a:pt x="1695431" y="26936"/>
                  </a:lnTo>
                  <a:lnTo>
                    <a:pt x="1725663" y="57168"/>
                  </a:lnTo>
                  <a:lnTo>
                    <a:pt x="1745483" y="95520"/>
                  </a:lnTo>
                  <a:lnTo>
                    <a:pt x="1752600" y="139700"/>
                  </a:lnTo>
                  <a:lnTo>
                    <a:pt x="1752600" y="698500"/>
                  </a:lnTo>
                  <a:lnTo>
                    <a:pt x="1745483" y="742679"/>
                  </a:lnTo>
                  <a:lnTo>
                    <a:pt x="1725663" y="781031"/>
                  </a:lnTo>
                  <a:lnTo>
                    <a:pt x="1695431" y="811263"/>
                  </a:lnTo>
                  <a:lnTo>
                    <a:pt x="1657079" y="831083"/>
                  </a:lnTo>
                  <a:lnTo>
                    <a:pt x="1612900" y="838200"/>
                  </a:lnTo>
                  <a:lnTo>
                    <a:pt x="139700" y="838200"/>
                  </a:lnTo>
                  <a:lnTo>
                    <a:pt x="95520" y="831083"/>
                  </a:lnTo>
                  <a:lnTo>
                    <a:pt x="57168" y="811263"/>
                  </a:lnTo>
                  <a:lnTo>
                    <a:pt x="26936" y="781031"/>
                  </a:lnTo>
                  <a:lnTo>
                    <a:pt x="7116" y="742679"/>
                  </a:lnTo>
                  <a:lnTo>
                    <a:pt x="0" y="698500"/>
                  </a:lnTo>
                  <a:lnTo>
                    <a:pt x="0" y="1397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44" name="Google Shape;144;p15"/>
          <p:cNvSpPr txBox="1"/>
          <p:nvPr/>
        </p:nvSpPr>
        <p:spPr>
          <a:xfrm>
            <a:off x="4640960" y="3922218"/>
            <a:ext cx="131445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5080" indent="-3175" algn="ctr"/>
            <a:r>
              <a:rPr lang="en-US" sz="1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BASED ON ROLE OF OPERATOR</a:t>
            </a:r>
            <a:endParaRPr sz="1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45" name="Google Shape;145;p15"/>
          <p:cNvGrpSpPr/>
          <p:nvPr/>
        </p:nvGrpSpPr>
        <p:grpSpPr>
          <a:xfrm>
            <a:off x="8763000" y="3962399"/>
            <a:ext cx="1676400" cy="609600"/>
            <a:chOff x="7239000" y="3962399"/>
            <a:chExt cx="1676400" cy="609600"/>
          </a:xfrm>
        </p:grpSpPr>
        <p:pic>
          <p:nvPicPr>
            <p:cNvPr id="146" name="Google Shape;146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39000" y="3962399"/>
              <a:ext cx="16764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5"/>
            <p:cNvSpPr/>
            <p:nvPr/>
          </p:nvSpPr>
          <p:spPr>
            <a:xfrm>
              <a:off x="7239000" y="3962399"/>
              <a:ext cx="1676400" cy="609600"/>
            </a:xfrm>
            <a:custGeom>
              <a:avLst/>
              <a:gdLst/>
              <a:ahLst/>
              <a:cxnLst/>
              <a:rect l="l" t="t" r="r" b="b"/>
              <a:pathLst>
                <a:path w="1676400" h="609600" extrusionOk="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1574800" y="0"/>
                  </a:lnTo>
                  <a:lnTo>
                    <a:pt x="1614356" y="7981"/>
                  </a:lnTo>
                  <a:lnTo>
                    <a:pt x="1646650" y="29749"/>
                  </a:lnTo>
                  <a:lnTo>
                    <a:pt x="1668418" y="62043"/>
                  </a:lnTo>
                  <a:lnTo>
                    <a:pt x="1676400" y="101600"/>
                  </a:lnTo>
                  <a:lnTo>
                    <a:pt x="1676400" y="508000"/>
                  </a:lnTo>
                  <a:lnTo>
                    <a:pt x="1668418" y="547556"/>
                  </a:lnTo>
                  <a:lnTo>
                    <a:pt x="1646650" y="579850"/>
                  </a:lnTo>
                  <a:lnTo>
                    <a:pt x="1614356" y="601618"/>
                  </a:lnTo>
                  <a:lnTo>
                    <a:pt x="15748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48" name="Google Shape;148;p15"/>
          <p:cNvSpPr txBox="1"/>
          <p:nvPr/>
        </p:nvSpPr>
        <p:spPr>
          <a:xfrm>
            <a:off x="8974964" y="4039565"/>
            <a:ext cx="125285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635" algn="ctr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BITWISE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algn="ctr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OPERATORS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49" name="Google Shape;149;p15"/>
          <p:cNvGrpSpPr/>
          <p:nvPr/>
        </p:nvGrpSpPr>
        <p:grpSpPr>
          <a:xfrm>
            <a:off x="8610600" y="1676400"/>
            <a:ext cx="2057400" cy="4648201"/>
            <a:chOff x="7086600" y="1676399"/>
            <a:chExt cx="2057400" cy="4648201"/>
          </a:xfrm>
        </p:grpSpPr>
        <p:pic>
          <p:nvPicPr>
            <p:cNvPr id="150" name="Google Shape;150;p1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086600" y="5562600"/>
              <a:ext cx="20574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15"/>
            <p:cNvSpPr/>
            <p:nvPr/>
          </p:nvSpPr>
          <p:spPr>
            <a:xfrm>
              <a:off x="7086600" y="5562600"/>
              <a:ext cx="2057400" cy="762000"/>
            </a:xfrm>
            <a:custGeom>
              <a:avLst/>
              <a:gdLst/>
              <a:ahLst/>
              <a:cxnLst/>
              <a:rect l="l" t="t" r="r" b="b"/>
              <a:pathLst>
                <a:path w="2057400" h="762000" extrusionOk="0">
                  <a:moveTo>
                    <a:pt x="0" y="127000"/>
                  </a:moveTo>
                  <a:lnTo>
                    <a:pt x="9985" y="77565"/>
                  </a:lnTo>
                  <a:lnTo>
                    <a:pt x="37210" y="37196"/>
                  </a:lnTo>
                  <a:lnTo>
                    <a:pt x="77581" y="9980"/>
                  </a:lnTo>
                  <a:lnTo>
                    <a:pt x="127000" y="0"/>
                  </a:lnTo>
                  <a:lnTo>
                    <a:pt x="1930400" y="0"/>
                  </a:lnTo>
                  <a:lnTo>
                    <a:pt x="1979818" y="9980"/>
                  </a:lnTo>
                  <a:lnTo>
                    <a:pt x="2020189" y="37196"/>
                  </a:lnTo>
                  <a:lnTo>
                    <a:pt x="2047414" y="77565"/>
                  </a:lnTo>
                  <a:lnTo>
                    <a:pt x="2057400" y="127000"/>
                  </a:lnTo>
                  <a:lnTo>
                    <a:pt x="2057400" y="635000"/>
                  </a:lnTo>
                  <a:lnTo>
                    <a:pt x="2047414" y="684434"/>
                  </a:lnTo>
                  <a:lnTo>
                    <a:pt x="2020189" y="724803"/>
                  </a:lnTo>
                  <a:lnTo>
                    <a:pt x="1979818" y="752019"/>
                  </a:lnTo>
                  <a:lnTo>
                    <a:pt x="1930400" y="762000"/>
                  </a:lnTo>
                  <a:lnTo>
                    <a:pt x="127000" y="762000"/>
                  </a:lnTo>
                  <a:lnTo>
                    <a:pt x="77581" y="752019"/>
                  </a:lnTo>
                  <a:lnTo>
                    <a:pt x="37210" y="724803"/>
                  </a:lnTo>
                  <a:lnTo>
                    <a:pt x="9985" y="684434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pic>
          <p:nvPicPr>
            <p:cNvPr id="152" name="Google Shape;152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39000" y="1676399"/>
              <a:ext cx="16764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15"/>
            <p:cNvSpPr/>
            <p:nvPr/>
          </p:nvSpPr>
          <p:spPr>
            <a:xfrm>
              <a:off x="7239000" y="1676399"/>
              <a:ext cx="1676400" cy="609600"/>
            </a:xfrm>
            <a:custGeom>
              <a:avLst/>
              <a:gdLst/>
              <a:ahLst/>
              <a:cxnLst/>
              <a:rect l="l" t="t" r="r" b="b"/>
              <a:pathLst>
                <a:path w="1676400" h="609600" extrusionOk="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1574800" y="0"/>
                  </a:lnTo>
                  <a:lnTo>
                    <a:pt x="1614356" y="7981"/>
                  </a:lnTo>
                  <a:lnTo>
                    <a:pt x="1646650" y="29749"/>
                  </a:lnTo>
                  <a:lnTo>
                    <a:pt x="1668418" y="62043"/>
                  </a:lnTo>
                  <a:lnTo>
                    <a:pt x="1676400" y="101600"/>
                  </a:lnTo>
                  <a:lnTo>
                    <a:pt x="1676400" y="508000"/>
                  </a:lnTo>
                  <a:lnTo>
                    <a:pt x="1668418" y="547556"/>
                  </a:lnTo>
                  <a:lnTo>
                    <a:pt x="1646650" y="579850"/>
                  </a:lnTo>
                  <a:lnTo>
                    <a:pt x="1614356" y="601618"/>
                  </a:lnTo>
                  <a:lnTo>
                    <a:pt x="15748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54" name="Google Shape;154;p15"/>
          <p:cNvSpPr txBox="1"/>
          <p:nvPr/>
        </p:nvSpPr>
        <p:spPr>
          <a:xfrm>
            <a:off x="8944482" y="1752981"/>
            <a:ext cx="1314450" cy="45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ARITHMETIC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43180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OPERATORS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55" name="Google Shape;155;p15"/>
          <p:cNvGrpSpPr/>
          <p:nvPr/>
        </p:nvGrpSpPr>
        <p:grpSpPr>
          <a:xfrm>
            <a:off x="8763000" y="4800599"/>
            <a:ext cx="1676400" cy="609600"/>
            <a:chOff x="7239000" y="4800599"/>
            <a:chExt cx="1676400" cy="609600"/>
          </a:xfrm>
        </p:grpSpPr>
        <p:pic>
          <p:nvPicPr>
            <p:cNvPr id="156" name="Google Shape;156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39000" y="4800599"/>
              <a:ext cx="16764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5"/>
            <p:cNvSpPr/>
            <p:nvPr/>
          </p:nvSpPr>
          <p:spPr>
            <a:xfrm>
              <a:off x="7239000" y="4800599"/>
              <a:ext cx="1676400" cy="609600"/>
            </a:xfrm>
            <a:custGeom>
              <a:avLst/>
              <a:gdLst/>
              <a:ahLst/>
              <a:cxnLst/>
              <a:rect l="l" t="t" r="r" b="b"/>
              <a:pathLst>
                <a:path w="1676400" h="609600" extrusionOk="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1574800" y="0"/>
                  </a:lnTo>
                  <a:lnTo>
                    <a:pt x="1614356" y="7981"/>
                  </a:lnTo>
                  <a:lnTo>
                    <a:pt x="1646650" y="29749"/>
                  </a:lnTo>
                  <a:lnTo>
                    <a:pt x="1668418" y="62043"/>
                  </a:lnTo>
                  <a:lnTo>
                    <a:pt x="1676400" y="101600"/>
                  </a:lnTo>
                  <a:lnTo>
                    <a:pt x="1676400" y="508000"/>
                  </a:lnTo>
                  <a:lnTo>
                    <a:pt x="1668418" y="547556"/>
                  </a:lnTo>
                  <a:lnTo>
                    <a:pt x="1646650" y="579850"/>
                  </a:lnTo>
                  <a:lnTo>
                    <a:pt x="1614356" y="601618"/>
                  </a:lnTo>
                  <a:lnTo>
                    <a:pt x="15748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58" name="Google Shape;158;p15"/>
          <p:cNvSpPr txBox="1"/>
          <p:nvPr/>
        </p:nvSpPr>
        <p:spPr>
          <a:xfrm>
            <a:off x="8766429" y="4878704"/>
            <a:ext cx="1749300" cy="12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220979" marR="243840" indent="-48895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ASSIGNMENT OPERATORS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1600"/>
              </a:spcBef>
            </a:pP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259079" marR="5080" indent="-247015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MISCELLANEOUS OPERATORS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59" name="Google Shape;159;p15"/>
          <p:cNvGrpSpPr/>
          <p:nvPr/>
        </p:nvGrpSpPr>
        <p:grpSpPr>
          <a:xfrm>
            <a:off x="8763000" y="3124199"/>
            <a:ext cx="1676400" cy="609600"/>
            <a:chOff x="7239000" y="3124199"/>
            <a:chExt cx="1676400" cy="609600"/>
          </a:xfrm>
        </p:grpSpPr>
        <p:pic>
          <p:nvPicPr>
            <p:cNvPr id="160" name="Google Shape;160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39000" y="3124199"/>
              <a:ext cx="16764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5"/>
            <p:cNvSpPr/>
            <p:nvPr/>
          </p:nvSpPr>
          <p:spPr>
            <a:xfrm>
              <a:off x="7239000" y="3124199"/>
              <a:ext cx="1676400" cy="609600"/>
            </a:xfrm>
            <a:custGeom>
              <a:avLst/>
              <a:gdLst/>
              <a:ahLst/>
              <a:cxnLst/>
              <a:rect l="l" t="t" r="r" b="b"/>
              <a:pathLst>
                <a:path w="1676400" h="609600" extrusionOk="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1574800" y="0"/>
                  </a:lnTo>
                  <a:lnTo>
                    <a:pt x="1614356" y="7981"/>
                  </a:lnTo>
                  <a:lnTo>
                    <a:pt x="1646650" y="29749"/>
                  </a:lnTo>
                  <a:lnTo>
                    <a:pt x="1668418" y="62043"/>
                  </a:lnTo>
                  <a:lnTo>
                    <a:pt x="1676400" y="101600"/>
                  </a:lnTo>
                  <a:lnTo>
                    <a:pt x="1676400" y="508000"/>
                  </a:lnTo>
                  <a:lnTo>
                    <a:pt x="1668418" y="547556"/>
                  </a:lnTo>
                  <a:lnTo>
                    <a:pt x="1646650" y="579850"/>
                  </a:lnTo>
                  <a:lnTo>
                    <a:pt x="1614356" y="601618"/>
                  </a:lnTo>
                  <a:lnTo>
                    <a:pt x="15748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62" name="Google Shape;162;p15"/>
          <p:cNvSpPr txBox="1"/>
          <p:nvPr/>
        </p:nvSpPr>
        <p:spPr>
          <a:xfrm>
            <a:off x="8974963" y="3201416"/>
            <a:ext cx="1253490" cy="45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635" algn="ctr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LOGICAL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algn="ctr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OPERATORS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63" name="Google Shape;163;p15"/>
          <p:cNvGrpSpPr/>
          <p:nvPr/>
        </p:nvGrpSpPr>
        <p:grpSpPr>
          <a:xfrm>
            <a:off x="8763000" y="2362199"/>
            <a:ext cx="1676400" cy="609600"/>
            <a:chOff x="7239000" y="2362199"/>
            <a:chExt cx="1676400" cy="609600"/>
          </a:xfrm>
        </p:grpSpPr>
        <p:pic>
          <p:nvPicPr>
            <p:cNvPr id="164" name="Google Shape;164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39000" y="2362199"/>
              <a:ext cx="16764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15"/>
            <p:cNvSpPr/>
            <p:nvPr/>
          </p:nvSpPr>
          <p:spPr>
            <a:xfrm>
              <a:off x="7239000" y="2362199"/>
              <a:ext cx="1676400" cy="609600"/>
            </a:xfrm>
            <a:custGeom>
              <a:avLst/>
              <a:gdLst/>
              <a:ahLst/>
              <a:cxnLst/>
              <a:rect l="l" t="t" r="r" b="b"/>
              <a:pathLst>
                <a:path w="1676400" h="609600" extrusionOk="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1574800" y="0"/>
                  </a:lnTo>
                  <a:lnTo>
                    <a:pt x="1614356" y="7981"/>
                  </a:lnTo>
                  <a:lnTo>
                    <a:pt x="1646650" y="29749"/>
                  </a:lnTo>
                  <a:lnTo>
                    <a:pt x="1668418" y="62043"/>
                  </a:lnTo>
                  <a:lnTo>
                    <a:pt x="1676400" y="101600"/>
                  </a:lnTo>
                  <a:lnTo>
                    <a:pt x="1676400" y="508000"/>
                  </a:lnTo>
                  <a:lnTo>
                    <a:pt x="1668418" y="547556"/>
                  </a:lnTo>
                  <a:lnTo>
                    <a:pt x="1646650" y="579850"/>
                  </a:lnTo>
                  <a:lnTo>
                    <a:pt x="1614356" y="601618"/>
                  </a:lnTo>
                  <a:lnTo>
                    <a:pt x="15748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66" name="Google Shape;166;p15"/>
          <p:cNvSpPr txBox="1"/>
          <p:nvPr/>
        </p:nvSpPr>
        <p:spPr>
          <a:xfrm>
            <a:off x="8938387" y="2439162"/>
            <a:ext cx="1326515" cy="45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RELATIONAL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48895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OPERATORS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67" name="Google Shape;167;p15"/>
          <p:cNvGrpSpPr/>
          <p:nvPr/>
        </p:nvGrpSpPr>
        <p:grpSpPr>
          <a:xfrm>
            <a:off x="1676400" y="611124"/>
            <a:ext cx="7088125" cy="5334001"/>
            <a:chOff x="152399" y="611123"/>
            <a:chExt cx="7088125" cy="5334001"/>
          </a:xfrm>
        </p:grpSpPr>
        <p:sp>
          <p:nvSpPr>
            <p:cNvPr id="168" name="Google Shape;168;p15"/>
            <p:cNvSpPr/>
            <p:nvPr/>
          </p:nvSpPr>
          <p:spPr>
            <a:xfrm>
              <a:off x="4649724" y="2631948"/>
              <a:ext cx="2590800" cy="1638300"/>
            </a:xfrm>
            <a:custGeom>
              <a:avLst/>
              <a:gdLst/>
              <a:ahLst/>
              <a:cxnLst/>
              <a:rect l="l" t="t" r="r" b="b"/>
              <a:pathLst>
                <a:path w="2590800" h="1638300" extrusionOk="0">
                  <a:moveTo>
                    <a:pt x="0" y="1638300"/>
                  </a:moveTo>
                  <a:lnTo>
                    <a:pt x="1295400" y="1638300"/>
                  </a:lnTo>
                  <a:lnTo>
                    <a:pt x="1295400" y="0"/>
                  </a:lnTo>
                  <a:lnTo>
                    <a:pt x="2590800" y="0"/>
                  </a:lnTo>
                </a:path>
              </a:pathLst>
            </a:custGeom>
            <a:noFill/>
            <a:ln w="39600" cap="flat" cmpd="sng">
              <a:solidFill>
                <a:srgbClr val="FF690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5945124" y="4268724"/>
              <a:ext cx="1143000" cy="1676400"/>
            </a:xfrm>
            <a:custGeom>
              <a:avLst/>
              <a:gdLst/>
              <a:ahLst/>
              <a:cxnLst/>
              <a:rect l="l" t="t" r="r" b="b"/>
              <a:pathLst>
                <a:path w="1143000" h="1676400" extrusionOk="0">
                  <a:moveTo>
                    <a:pt x="0" y="0"/>
                  </a:moveTo>
                  <a:lnTo>
                    <a:pt x="0" y="1676400"/>
                  </a:lnTo>
                  <a:lnTo>
                    <a:pt x="1143000" y="1676400"/>
                  </a:lnTo>
                </a:path>
              </a:pathLst>
            </a:custGeom>
            <a:noFill/>
            <a:ln w="39600" cap="flat" cmpd="sng">
              <a:solidFill>
                <a:srgbClr val="FF690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5945124" y="1982723"/>
              <a:ext cx="1295400" cy="3202305"/>
            </a:xfrm>
            <a:custGeom>
              <a:avLst/>
              <a:gdLst/>
              <a:ahLst/>
              <a:cxnLst/>
              <a:rect l="l" t="t" r="r" b="b"/>
              <a:pathLst>
                <a:path w="1295400" h="3202304" extrusionOk="0">
                  <a:moveTo>
                    <a:pt x="838200" y="685800"/>
                  </a:moveTo>
                  <a:lnTo>
                    <a:pt x="838200" y="0"/>
                  </a:lnTo>
                  <a:lnTo>
                    <a:pt x="1295400" y="0"/>
                  </a:lnTo>
                </a:path>
                <a:path w="1295400" h="3202304" extrusionOk="0">
                  <a:moveTo>
                    <a:pt x="0" y="1447800"/>
                  </a:moveTo>
                  <a:lnTo>
                    <a:pt x="647700" y="1447800"/>
                  </a:lnTo>
                  <a:lnTo>
                    <a:pt x="647700" y="1449324"/>
                  </a:lnTo>
                  <a:lnTo>
                    <a:pt x="1295400" y="1449324"/>
                  </a:lnTo>
                </a:path>
                <a:path w="1295400" h="3202304" extrusionOk="0">
                  <a:moveTo>
                    <a:pt x="0" y="2286000"/>
                  </a:moveTo>
                  <a:lnTo>
                    <a:pt x="647700" y="2286000"/>
                  </a:lnTo>
                  <a:lnTo>
                    <a:pt x="647700" y="2287524"/>
                  </a:lnTo>
                  <a:lnTo>
                    <a:pt x="1295400" y="2287524"/>
                  </a:lnTo>
                </a:path>
                <a:path w="1295400" h="3202304" extrusionOk="0">
                  <a:moveTo>
                    <a:pt x="0" y="3200400"/>
                  </a:moveTo>
                  <a:lnTo>
                    <a:pt x="647700" y="3200400"/>
                  </a:lnTo>
                  <a:lnTo>
                    <a:pt x="647700" y="3201924"/>
                  </a:lnTo>
                  <a:lnTo>
                    <a:pt x="1295400" y="3201924"/>
                  </a:lnTo>
                </a:path>
              </a:pathLst>
            </a:custGeom>
            <a:noFill/>
            <a:ln w="39600" cap="flat" cmpd="sng">
              <a:solidFill>
                <a:srgbClr val="FF690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4573524" y="611123"/>
              <a:ext cx="457200" cy="1181100"/>
            </a:xfrm>
            <a:custGeom>
              <a:avLst/>
              <a:gdLst/>
              <a:ahLst/>
              <a:cxnLst/>
              <a:rect l="l" t="t" r="r" b="b"/>
              <a:pathLst>
                <a:path w="457200" h="1181100" extrusionOk="0">
                  <a:moveTo>
                    <a:pt x="0" y="1181100"/>
                  </a:moveTo>
                  <a:lnTo>
                    <a:pt x="228600" y="1181100"/>
                  </a:lnTo>
                  <a:lnTo>
                    <a:pt x="228600" y="0"/>
                  </a:lnTo>
                  <a:lnTo>
                    <a:pt x="457200" y="0"/>
                  </a:lnTo>
                </a:path>
              </a:pathLst>
            </a:custGeom>
            <a:noFill/>
            <a:ln w="39600" cap="flat" cmpd="sng">
              <a:solidFill>
                <a:srgbClr val="FD85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4802124" y="1296923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 extrusionOk="0">
                  <a:moveTo>
                    <a:pt x="152400" y="1650"/>
                  </a:moveTo>
                  <a:lnTo>
                    <a:pt x="0" y="0"/>
                  </a:lnTo>
                </a:path>
              </a:pathLst>
            </a:custGeom>
            <a:noFill/>
            <a:ln w="39600" cap="flat" cmpd="sng">
              <a:solidFill>
                <a:srgbClr val="FF690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4802124" y="1754123"/>
              <a:ext cx="152400" cy="304800"/>
            </a:xfrm>
            <a:custGeom>
              <a:avLst/>
              <a:gdLst/>
              <a:ahLst/>
              <a:cxnLst/>
              <a:rect l="l" t="t" r="r" b="b"/>
              <a:pathLst>
                <a:path w="152400" h="304800" extrusionOk="0">
                  <a:moveTo>
                    <a:pt x="0" y="0"/>
                  </a:moveTo>
                  <a:lnTo>
                    <a:pt x="0" y="304800"/>
                  </a:lnTo>
                  <a:lnTo>
                    <a:pt x="152400" y="304800"/>
                  </a:lnTo>
                </a:path>
              </a:pathLst>
            </a:custGeom>
            <a:noFill/>
            <a:ln w="39600" cap="flat" cmpd="sng">
              <a:solidFill>
                <a:srgbClr val="FF690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pic>
          <p:nvPicPr>
            <p:cNvPr id="174" name="Google Shape;174;p1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52399" y="2438400"/>
              <a:ext cx="2057400" cy="12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15"/>
            <p:cNvSpPr/>
            <p:nvPr/>
          </p:nvSpPr>
          <p:spPr>
            <a:xfrm>
              <a:off x="152399" y="2438400"/>
              <a:ext cx="2057400" cy="1219200"/>
            </a:xfrm>
            <a:custGeom>
              <a:avLst/>
              <a:gdLst/>
              <a:ahLst/>
              <a:cxnLst/>
              <a:rect l="l" t="t" r="r" b="b"/>
              <a:pathLst>
                <a:path w="2057400" h="1219200" extrusionOk="0">
                  <a:moveTo>
                    <a:pt x="0" y="203200"/>
                  </a:moveTo>
                  <a:lnTo>
                    <a:pt x="5367" y="156594"/>
                  </a:lnTo>
                  <a:lnTo>
                    <a:pt x="20654" y="113818"/>
                  </a:lnTo>
                  <a:lnTo>
                    <a:pt x="44642" y="76090"/>
                  </a:lnTo>
                  <a:lnTo>
                    <a:pt x="76111" y="44626"/>
                  </a:lnTo>
                  <a:lnTo>
                    <a:pt x="113840" y="20645"/>
                  </a:lnTo>
                  <a:lnTo>
                    <a:pt x="156610" y="5364"/>
                  </a:lnTo>
                  <a:lnTo>
                    <a:pt x="203200" y="0"/>
                  </a:lnTo>
                  <a:lnTo>
                    <a:pt x="1854200" y="0"/>
                  </a:lnTo>
                  <a:lnTo>
                    <a:pt x="1900805" y="5364"/>
                  </a:lnTo>
                  <a:lnTo>
                    <a:pt x="1943581" y="20645"/>
                  </a:lnTo>
                  <a:lnTo>
                    <a:pt x="1981309" y="44626"/>
                  </a:lnTo>
                  <a:lnTo>
                    <a:pt x="2012773" y="76090"/>
                  </a:lnTo>
                  <a:lnTo>
                    <a:pt x="2036754" y="113818"/>
                  </a:lnTo>
                  <a:lnTo>
                    <a:pt x="2052035" y="156594"/>
                  </a:lnTo>
                  <a:lnTo>
                    <a:pt x="2057400" y="203200"/>
                  </a:lnTo>
                  <a:lnTo>
                    <a:pt x="2057400" y="1016000"/>
                  </a:lnTo>
                  <a:lnTo>
                    <a:pt x="2052035" y="1062605"/>
                  </a:lnTo>
                  <a:lnTo>
                    <a:pt x="2036754" y="1105381"/>
                  </a:lnTo>
                  <a:lnTo>
                    <a:pt x="2012773" y="1143109"/>
                  </a:lnTo>
                  <a:lnTo>
                    <a:pt x="1981309" y="1174573"/>
                  </a:lnTo>
                  <a:lnTo>
                    <a:pt x="1943581" y="1198554"/>
                  </a:lnTo>
                  <a:lnTo>
                    <a:pt x="1900805" y="1213835"/>
                  </a:lnTo>
                  <a:lnTo>
                    <a:pt x="1854200" y="1219200"/>
                  </a:lnTo>
                  <a:lnTo>
                    <a:pt x="203200" y="1219200"/>
                  </a:lnTo>
                  <a:lnTo>
                    <a:pt x="156610" y="1213835"/>
                  </a:lnTo>
                  <a:lnTo>
                    <a:pt x="113840" y="1198554"/>
                  </a:lnTo>
                  <a:lnTo>
                    <a:pt x="76111" y="1174573"/>
                  </a:lnTo>
                  <a:lnTo>
                    <a:pt x="44642" y="1143109"/>
                  </a:lnTo>
                  <a:lnTo>
                    <a:pt x="20654" y="1105381"/>
                  </a:lnTo>
                  <a:lnTo>
                    <a:pt x="5367" y="1062605"/>
                  </a:lnTo>
                  <a:lnTo>
                    <a:pt x="0" y="1016000"/>
                  </a:lnTo>
                  <a:lnTo>
                    <a:pt x="0" y="2032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76" name="Google Shape;176;p15"/>
          <p:cNvSpPr txBox="1"/>
          <p:nvPr/>
        </p:nvSpPr>
        <p:spPr>
          <a:xfrm>
            <a:off x="1845970" y="2820416"/>
            <a:ext cx="1720214" cy="45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82550" marR="5080" indent="-70485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CLASSIFICATION OF OPERATORS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77" name="Google Shape;177;p15"/>
          <p:cNvGrpSpPr/>
          <p:nvPr/>
        </p:nvGrpSpPr>
        <p:grpSpPr>
          <a:xfrm>
            <a:off x="3848860" y="192405"/>
            <a:ext cx="6932677" cy="4306823"/>
            <a:chOff x="2211323" y="0"/>
            <a:chExt cx="6932677" cy="4306823"/>
          </a:xfrm>
        </p:grpSpPr>
        <p:sp>
          <p:nvSpPr>
            <p:cNvPr id="178" name="Google Shape;178;p15"/>
            <p:cNvSpPr/>
            <p:nvPr/>
          </p:nvSpPr>
          <p:spPr>
            <a:xfrm>
              <a:off x="2211323" y="1793748"/>
              <a:ext cx="685800" cy="1257300"/>
            </a:xfrm>
            <a:custGeom>
              <a:avLst/>
              <a:gdLst/>
              <a:ahLst/>
              <a:cxnLst/>
              <a:rect l="l" t="t" r="r" b="b"/>
              <a:pathLst>
                <a:path w="685800" h="1257300" extrusionOk="0">
                  <a:moveTo>
                    <a:pt x="0" y="1257300"/>
                  </a:moveTo>
                  <a:lnTo>
                    <a:pt x="342900" y="1257300"/>
                  </a:lnTo>
                  <a:lnTo>
                    <a:pt x="342900" y="0"/>
                  </a:lnTo>
                  <a:lnTo>
                    <a:pt x="685800" y="0"/>
                  </a:lnTo>
                </a:path>
              </a:pathLst>
            </a:custGeom>
            <a:noFill/>
            <a:ln w="39600" cap="flat" cmpd="sng">
              <a:solidFill>
                <a:srgbClr val="FF690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2211323" y="3049523"/>
              <a:ext cx="685800" cy="1257300"/>
            </a:xfrm>
            <a:custGeom>
              <a:avLst/>
              <a:gdLst/>
              <a:ahLst/>
              <a:cxnLst/>
              <a:rect l="l" t="t" r="r" b="b"/>
              <a:pathLst>
                <a:path w="685800" h="1257300" extrusionOk="0">
                  <a:moveTo>
                    <a:pt x="0" y="0"/>
                  </a:moveTo>
                  <a:lnTo>
                    <a:pt x="342900" y="0"/>
                  </a:lnTo>
                  <a:lnTo>
                    <a:pt x="342900" y="1257300"/>
                  </a:lnTo>
                  <a:lnTo>
                    <a:pt x="685800" y="1257300"/>
                  </a:lnTo>
                </a:path>
              </a:pathLst>
            </a:custGeom>
            <a:noFill/>
            <a:ln w="39600" cap="flat" cmpd="sng">
              <a:solidFill>
                <a:srgbClr val="FD85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pic>
          <p:nvPicPr>
            <p:cNvPr id="180" name="Google Shape;180;p1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382000" y="0"/>
              <a:ext cx="762000" cy="8382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499253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88194" y="177640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>
            <a:spLocks noGrp="1"/>
          </p:cNvSpPr>
          <p:nvPr>
            <p:ph type="title"/>
          </p:nvPr>
        </p:nvSpPr>
        <p:spPr>
          <a:xfrm>
            <a:off x="2487340" y="251774"/>
            <a:ext cx="7217319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Unary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941300" y="1188286"/>
            <a:ext cx="10555482" cy="5242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700" rIns="0" bIns="0" anchor="t" anchorCtr="0">
            <a:spAutoFit/>
          </a:bodyPr>
          <a:lstStyle/>
          <a:p>
            <a:pPr marL="355600" indent="-342900">
              <a:buClr>
                <a:srgbClr val="FD8537"/>
              </a:buClr>
              <a:buSzPts val="165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Unary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 operates on only one operand.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31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    For example, in the expression -3,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980"/>
              </a:spcBef>
              <a:buClr>
                <a:srgbClr val="FD8537"/>
              </a:buClr>
              <a:buSzPts val="2400"/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5"/>
              </a:spcBef>
              <a:buClr>
                <a:srgbClr val="FD8537"/>
              </a:buClr>
              <a:buSzPts val="165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operand can be present towards the right of unary operator, as in -3 or towards the left of unary operator, as in the expression a++.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690"/>
              </a:spcBef>
              <a:buClr>
                <a:srgbClr val="FD8537"/>
              </a:buClr>
              <a:buSzPts val="2400"/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55600" indent="-342900">
              <a:buClr>
                <a:srgbClr val="FD8537"/>
              </a:buClr>
              <a:buSzPts val="165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Examples of unary operators are: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254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1. &amp; (address-of operator)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26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.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sizeof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24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3. ! (logical negation)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26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4. ~ (bitwise negation)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>
              <a:spcBef>
                <a:spcPts val="244"/>
              </a:spcBef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5. ++ (increment operator)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26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6. -- (decrement operator) etc.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81466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6274" y="148034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>
            <a:spLocks noGrp="1"/>
          </p:cNvSpPr>
          <p:nvPr>
            <p:ph type="title"/>
          </p:nvPr>
        </p:nvSpPr>
        <p:spPr>
          <a:xfrm>
            <a:off x="2964371" y="148268"/>
            <a:ext cx="6734434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Binary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482885" y="1170254"/>
            <a:ext cx="9649479" cy="5120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5080" algn="just">
              <a:buClr>
                <a:srgbClr val="FD8537"/>
              </a:buClr>
              <a:buSzPts val="19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Binary	operator operates on two operands. It requires an operand towards its left and right.</a:t>
            </a:r>
          </a:p>
          <a:p>
            <a:pPr marL="12700" marR="5080" algn="just">
              <a:buClr>
                <a:srgbClr val="FD8537"/>
              </a:buClr>
              <a:buSzPts val="1950"/>
            </a:pPr>
            <a:endParaRPr sz="28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5"/>
              </a:spcBef>
              <a:buClr>
                <a:srgbClr val="FD8537"/>
              </a:buClr>
              <a:buSzPts val="19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For example, in expression 2-3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1255"/>
              </a:spcBef>
              <a:buClr>
                <a:srgbClr val="FD8537"/>
              </a:buClr>
              <a:buSzPts val="2800"/>
            </a:pPr>
            <a:endParaRPr sz="28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buClr>
                <a:srgbClr val="FD8537"/>
              </a:buClr>
              <a:buSzPts val="19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Examples of binary operators are: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53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1. *	(multiplication operator),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50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2. /	(division operator),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50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3. &lt;&lt; (left shift operator),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>
              <a:spcBef>
                <a:spcPts val="505"/>
              </a:spcBef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Noto Sans Symbols"/>
              </a:rPr>
              <a:t>4.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== (equality operator),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50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5. &amp;&amp; (logical AND),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50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6. &amp; (bitwise AND) etc.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478815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6274" y="242507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>
            <a:spLocks noGrp="1"/>
          </p:cNvSpPr>
          <p:nvPr>
            <p:ph type="title"/>
          </p:nvPr>
        </p:nvSpPr>
        <p:spPr>
          <a:xfrm>
            <a:off x="2984919" y="390775"/>
            <a:ext cx="6528951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Ternary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207" name="Google Shape;207;p19"/>
          <p:cNvSpPr txBox="1">
            <a:spLocks noGrp="1"/>
          </p:cNvSpPr>
          <p:nvPr>
            <p:ph type="body" idx="1"/>
          </p:nvPr>
        </p:nvSpPr>
        <p:spPr>
          <a:xfrm>
            <a:off x="339047" y="1323213"/>
            <a:ext cx="11763910" cy="402415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63500" rIns="0" bIns="0" rtlCol="0" anchor="t" anchorCtr="0">
            <a:spAutoFit/>
          </a:bodyPr>
          <a:lstStyle/>
          <a:p>
            <a:pPr marL="15875" indent="0" algn="just">
              <a:lnSpc>
                <a:spcPct val="100000"/>
              </a:lnSpc>
              <a:buClr>
                <a:srgbClr val="FD8537"/>
              </a:buClr>
              <a:buSzPts val="1950"/>
            </a:pPr>
            <a:r>
              <a:rPr lang="en-US" sz="2400" dirty="0"/>
              <a:t>Ternary operator operates on three operands.</a:t>
            </a:r>
            <a:endParaRPr sz="2400" dirty="0"/>
          </a:p>
          <a:p>
            <a:pPr marL="3175" indent="0" algn="just">
              <a:lnSpc>
                <a:spcPct val="100000"/>
              </a:lnSpc>
              <a:buClr>
                <a:srgbClr val="FD8537"/>
              </a:buClr>
              <a:buSzPts val="2800"/>
            </a:pPr>
            <a:endParaRPr sz="2400" dirty="0"/>
          </a:p>
          <a:p>
            <a:pPr marL="3175" indent="0" algn="just">
              <a:lnSpc>
                <a:spcPct val="100000"/>
              </a:lnSpc>
              <a:spcBef>
                <a:spcPts val="615"/>
              </a:spcBef>
              <a:buClr>
                <a:srgbClr val="FD8537"/>
              </a:buClr>
              <a:buSzPts val="2800"/>
            </a:pPr>
            <a:endParaRPr sz="2400" dirty="0"/>
          </a:p>
          <a:p>
            <a:pPr marL="15875" marR="5080" indent="0" algn="just">
              <a:lnSpc>
                <a:spcPct val="80000"/>
              </a:lnSpc>
              <a:buClr>
                <a:srgbClr val="FD8537"/>
              </a:buClr>
              <a:buSzPts val="1950"/>
            </a:pPr>
            <a:r>
              <a:rPr lang="en-US" sz="2400" dirty="0"/>
              <a:t>Conditional operator (i.e. </a:t>
            </a:r>
            <a:r>
              <a:rPr lang="en-US" sz="2400" b="1" dirty="0">
                <a:sym typeface="Cambria"/>
              </a:rPr>
              <a:t>?:</a:t>
            </a:r>
            <a:r>
              <a:rPr lang="en-US" sz="2400" dirty="0"/>
              <a:t>) is the only ternary operator available in </a:t>
            </a:r>
            <a:r>
              <a:rPr lang="en-US" sz="2400" dirty="0" err="1"/>
              <a:t>Cpp</a:t>
            </a:r>
            <a:r>
              <a:rPr lang="en-US" sz="2400" dirty="0"/>
              <a:t>.</a:t>
            </a:r>
          </a:p>
          <a:p>
            <a:pPr marL="15875" marR="5080" indent="0" algn="just">
              <a:lnSpc>
                <a:spcPct val="80000"/>
              </a:lnSpc>
              <a:buClr>
                <a:srgbClr val="FD8537"/>
              </a:buClr>
              <a:buSzPts val="1950"/>
            </a:pPr>
            <a:endParaRPr lang="en-US" sz="2400" dirty="0"/>
          </a:p>
          <a:p>
            <a:pPr marL="15875" marR="5080" indent="0" algn="just">
              <a:lnSpc>
                <a:spcPct val="80000"/>
              </a:lnSpc>
              <a:buClr>
                <a:srgbClr val="FD8537"/>
              </a:buClr>
              <a:buSzPts val="1950"/>
            </a:pPr>
            <a:endParaRPr lang="en-US" sz="2400" dirty="0"/>
          </a:p>
          <a:p>
            <a:pPr marL="15875" marR="5080" indent="0" algn="just">
              <a:lnSpc>
                <a:spcPct val="80000"/>
              </a:lnSpc>
              <a:buClr>
                <a:srgbClr val="FD8537"/>
              </a:buClr>
              <a:buSzPts val="1950"/>
            </a:pPr>
            <a:r>
              <a:rPr lang="en-US" sz="2400" dirty="0"/>
              <a:t>                                </a:t>
            </a:r>
            <a:r>
              <a:rPr lang="en-US" sz="2400" b="1" dirty="0">
                <a:solidFill>
                  <a:srgbClr val="FF0000"/>
                </a:solidFill>
              </a:rPr>
              <a:t>Expression1 ? Expression2 : Expression3;</a:t>
            </a:r>
          </a:p>
          <a:p>
            <a:pPr marL="15875" marR="5080" indent="0" algn="just">
              <a:lnSpc>
                <a:spcPct val="80000"/>
              </a:lnSpc>
              <a:buClr>
                <a:srgbClr val="FD8537"/>
              </a:buClr>
              <a:buSzPts val="1950"/>
            </a:pPr>
            <a:endParaRPr lang="en-US" sz="2400" dirty="0"/>
          </a:p>
          <a:p>
            <a:pPr marL="15875" marR="5080" indent="0" algn="just">
              <a:lnSpc>
                <a:spcPct val="80000"/>
              </a:lnSpc>
              <a:buClr>
                <a:srgbClr val="FD8537"/>
              </a:buClr>
              <a:buSzPts val="1950"/>
            </a:pPr>
            <a:r>
              <a:rPr lang="en-US" sz="2400" dirty="0"/>
              <a:t>If Expression1 became true then Expression2 will be executed otherwise Expression3 will be executed.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178785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0" y="129012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3486785" y="429552"/>
            <a:ext cx="6419215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 Precedence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750014" y="1653140"/>
            <a:ext cx="11013896" cy="330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algn="just"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Each operator in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Cpp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has a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precedence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associated with it.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algn="just">
              <a:spcBef>
                <a:spcPts val="1260"/>
              </a:spcBef>
              <a:buClr>
                <a:srgbClr val="FD8537"/>
              </a:buClr>
              <a:buSzPts val="2200"/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marR="5080" algn="just"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 a compound expression, if the operators involved are of different  precedence,  the  operator  of  higher  precedence  is evaluated  first.  For  example,  in  an  expression 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b=2+3*5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, The precedence order is 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*  &gt;  +  &gt;  = 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algn="just">
              <a:spcBef>
                <a:spcPts val="1270"/>
              </a:spcBef>
              <a:buClr>
                <a:srgbClr val="FD8537"/>
              </a:buClr>
              <a:buSzPts val="2200"/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algn="just"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To determine which of these operators will operate first, the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associativity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of these operators is to be considered.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535963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87650" y="159966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>
            <a:spLocks noGrp="1"/>
          </p:cNvSpPr>
          <p:nvPr>
            <p:ph type="title"/>
          </p:nvPr>
        </p:nvSpPr>
        <p:spPr>
          <a:xfrm>
            <a:off x="1923350" y="234100"/>
            <a:ext cx="7590520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Associativity of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460624" y="1555452"/>
            <a:ext cx="11270751" cy="4042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/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algn="just">
              <a:lnSpc>
                <a:spcPct val="107954"/>
              </a:lnSpc>
              <a:spcBef>
                <a:spcPts val="75"/>
              </a:spcBef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An operator can be either left-to-right associative or right-to-left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associative.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algn="just">
              <a:spcBef>
                <a:spcPts val="720"/>
              </a:spcBef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marR="5080" algn="just">
              <a:lnSpc>
                <a:spcPct val="95909"/>
              </a:lnSpc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If operators are left-to-right associative, they are applied in left-to-right order  i.e.  the  operator which  appears towards left will be evaluated first.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algn="just">
              <a:spcBef>
                <a:spcPts val="229"/>
              </a:spcBef>
              <a:buClr>
                <a:srgbClr val="FD8537"/>
              </a:buClr>
              <a:buSzPts val="2200"/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algn="just">
              <a:lnSpc>
                <a:spcPct val="107954"/>
              </a:lnSpc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If they are right-to-left associative, they will be applied in the right-to-left order.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287020" algn="just">
              <a:lnSpc>
                <a:spcPct val="107954"/>
              </a:lnSpc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marR="8255" algn="just">
              <a:lnSpc>
                <a:spcPct val="80000"/>
              </a:lnSpc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 multiplication  and  the  division  operators  are  left-to- right  associative. </a:t>
            </a:r>
          </a:p>
          <a:p>
            <a:pPr marL="12700" marR="8255" algn="just">
              <a:lnSpc>
                <a:spcPct val="80000"/>
              </a:lnSpc>
              <a:buClr>
                <a:srgbClr val="FD8537"/>
              </a:buClr>
              <a:buSzPts val="1500"/>
            </a:pPr>
            <a:endParaRPr lang="en-US"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marR="8255" algn="just">
              <a:lnSpc>
                <a:spcPct val="80000"/>
              </a:lnSpc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Hence,  in  expression  2*3/5,  *  evaluated first then / from left to right.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147664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>
            <a:spLocks noGrp="1"/>
          </p:cNvSpPr>
          <p:nvPr>
            <p:ph type="title"/>
          </p:nvPr>
        </p:nvSpPr>
        <p:spPr>
          <a:xfrm>
            <a:off x="2657554" y="-13056"/>
            <a:ext cx="8376919" cy="78533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07175" rIns="0" bIns="0" rtlCol="0" anchor="t" anchorCtr="0">
            <a:spAutoFit/>
          </a:bodyPr>
          <a:lstStyle/>
          <a:p>
            <a:pPr marL="1651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Arithmetic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9144000" y="4190950"/>
            <a:ext cx="1143000" cy="821055"/>
          </a:xfrm>
          <a:custGeom>
            <a:avLst/>
            <a:gdLst/>
            <a:ahLst/>
            <a:cxnLst/>
            <a:rect l="l" t="t" r="r" b="b"/>
            <a:pathLst>
              <a:path w="1143000" h="821054" extrusionOk="0">
                <a:moveTo>
                  <a:pt x="1143000" y="0"/>
                </a:moveTo>
                <a:lnTo>
                  <a:pt x="0" y="0"/>
                </a:lnTo>
                <a:lnTo>
                  <a:pt x="0" y="820470"/>
                </a:lnTo>
                <a:lnTo>
                  <a:pt x="1143000" y="82047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/>
          </a:p>
        </p:txBody>
      </p:sp>
      <p:graphicFrame>
        <p:nvGraphicFramePr>
          <p:cNvPr id="220" name="Google Shape;220;p21"/>
          <p:cNvGraphicFramePr/>
          <p:nvPr>
            <p:extLst>
              <p:ext uri="{D42A27DB-BD31-4B8C-83A1-F6EECF244321}">
                <p14:modId xmlns:p14="http://schemas.microsoft.com/office/powerpoint/2010/main" val="694609026"/>
              </p:ext>
            </p:extLst>
          </p:nvPr>
        </p:nvGraphicFramePr>
        <p:xfrm>
          <a:off x="516204" y="1931542"/>
          <a:ext cx="11309351" cy="442166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816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577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5613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5177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7293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99264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43997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216386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S.No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2285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636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Operator</a:t>
                      </a:r>
                      <a:endParaRPr sz="18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2285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Name of Operator</a:t>
                      </a:r>
                      <a:endParaRPr sz="18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2285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19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Category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2285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ary</a:t>
                      </a: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 of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  <a:p>
                      <a:pPr marL="0" marR="1905" lvl="0" indent="0" algn="ctr" rtl="0">
                        <a:lnSpc>
                          <a:spcPct val="10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Operators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2285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79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Precedence</a:t>
                      </a:r>
                      <a:endParaRPr sz="18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2285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Associativiy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2285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96407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1.</a:t>
                      </a:r>
                      <a:endParaRPr sz="18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+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9525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++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--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0640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 plus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21615" marR="172720" lvl="0" indent="0" algn="ctr" rtl="0">
                        <a:lnSpc>
                          <a:spcPct val="114999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 minus Increment</a:t>
                      </a:r>
                    </a:p>
                    <a:p>
                      <a:pPr marL="221615" marR="172720" lvl="0" indent="0" algn="ctr" rtl="0">
                        <a:lnSpc>
                          <a:spcPct val="114999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Decrement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735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4318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51435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(Highest)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R→L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40335" marR="121920" lvl="0" indent="0" algn="ctr" rtl="0">
                        <a:lnSpc>
                          <a:spcPct val="114300"/>
                        </a:lnSpc>
                        <a:spcBef>
                          <a:spcPts val="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(Right-to- left)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29023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2.</a:t>
                      </a:r>
                      <a:endParaRPr sz="18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1015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*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635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/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698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%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Multiplication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4064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Division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4064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Modulus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Multiplicative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4318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6514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5461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(</a:t>
                      </a:r>
                      <a:r>
                        <a:rPr lang="en-US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Intermediate</a:t>
                      </a: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)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16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3334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(Left-to-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079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right)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79849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3.</a:t>
                      </a:r>
                      <a:endParaRPr sz="18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10150" marB="0"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+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9525" marR="0" lvl="0" indent="0" algn="ctr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00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Addition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39370" marR="0" lvl="0" indent="0" algn="ctr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Subtraction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193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Additive</a:t>
                      </a:r>
                      <a:r>
                        <a:rPr lang="en-US" sz="1800" b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384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Level-III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335280" marR="0" lvl="0" indent="0" algn="l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(Lowest)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16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22" name="Google Shape;222;p21"/>
          <p:cNvSpPr txBox="1"/>
          <p:nvPr/>
        </p:nvSpPr>
        <p:spPr>
          <a:xfrm>
            <a:off x="789254" y="915932"/>
            <a:ext cx="9878746" cy="79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50" rIns="0" bIns="0" anchor="t" anchorCtr="0">
            <a:spAutoFit/>
          </a:bodyPr>
          <a:lstStyle/>
          <a:p>
            <a:pPr marL="12700" marR="5080" algn="just">
              <a:lnSpc>
                <a:spcPct val="96250"/>
              </a:lnSpc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 arithmetic  operations  like  addition,  subtraction, multiplication, division etc. can be performed by using arithmetic operators.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223" name="Google Shape;22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0" y="94608"/>
            <a:ext cx="762000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3617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77919" y="93250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>
            <a:spLocks noGrp="1"/>
          </p:cNvSpPr>
          <p:nvPr>
            <p:ph type="title"/>
          </p:nvPr>
        </p:nvSpPr>
        <p:spPr>
          <a:xfrm>
            <a:off x="3771118" y="154808"/>
            <a:ext cx="5594985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Relational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745065" y="1018159"/>
            <a:ext cx="1062842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algn="just"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Relational   operators   are   used   to   compare   two quantities (i.e. their operands). 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aphicFrame>
        <p:nvGraphicFramePr>
          <p:cNvPr id="244" name="Google Shape;244;p23"/>
          <p:cNvGraphicFramePr/>
          <p:nvPr>
            <p:extLst>
              <p:ext uri="{D42A27DB-BD31-4B8C-83A1-F6EECF244321}">
                <p14:modId xmlns:p14="http://schemas.microsoft.com/office/powerpoint/2010/main" val="937743686"/>
              </p:ext>
            </p:extLst>
          </p:nvPr>
        </p:nvGraphicFramePr>
        <p:xfrm>
          <a:off x="472611" y="1969533"/>
          <a:ext cx="11352946" cy="457510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7330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28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0158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077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82494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63744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74660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62298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S.No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9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97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Name of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420369" marR="0" lvl="0" indent="0" algn="l" rtl="0">
                        <a:lnSpc>
                          <a:spcPct val="100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17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Category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923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ary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of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369570" marR="72390" lvl="0" indent="-283845" algn="ctr" rtl="0">
                        <a:lnSpc>
                          <a:spcPct val="11430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Precedence amongst relational class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Associativity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86400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&lt;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&gt;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&lt;=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&gt;=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Less than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Greater than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49225" marR="142240" lvl="0" indent="1904" algn="ctr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Less than or equal to</a:t>
                      </a:r>
                    </a:p>
                    <a:p>
                      <a:pPr marL="149225" marR="142240" lvl="0" indent="1904" algn="ctr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Greater than or equal to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Relational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33985" marR="0" lvl="0" indent="0" algn="l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65723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2.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==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!=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Equal to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4445" marR="0" lvl="0" indent="0" algn="ctr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Not equal to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17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Equality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33985" marR="0" lvl="0" indent="0" algn="l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250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 txBox="1">
            <a:spLocks noGrp="1"/>
          </p:cNvSpPr>
          <p:nvPr>
            <p:ph type="title"/>
          </p:nvPr>
        </p:nvSpPr>
        <p:spPr>
          <a:xfrm>
            <a:off x="3926521" y="191747"/>
            <a:ext cx="4726305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Logical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aphicFrame>
        <p:nvGraphicFramePr>
          <p:cNvPr id="254" name="Google Shape;254;p24"/>
          <p:cNvGraphicFramePr/>
          <p:nvPr>
            <p:extLst>
              <p:ext uri="{D42A27DB-BD31-4B8C-83A1-F6EECF244321}">
                <p14:modId xmlns:p14="http://schemas.microsoft.com/office/powerpoint/2010/main" val="2004609252"/>
              </p:ext>
            </p:extLst>
          </p:nvPr>
        </p:nvGraphicFramePr>
        <p:xfrm>
          <a:off x="750013" y="1898648"/>
          <a:ext cx="11075542" cy="35180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229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404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828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8209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58209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52375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6412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132228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S.No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25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Name of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307340" marR="0" lvl="0" indent="0" algn="l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Category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ary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of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88900" marR="83185" lvl="0" indent="0" algn="ctr" rtl="0">
                        <a:lnSpc>
                          <a:spcPct val="114999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 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Precede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04139" marR="93980" lvl="0" indent="2539" algn="ctr" rtl="0">
                        <a:lnSpc>
                          <a:spcPct val="114999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nce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amongst logical class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vity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02009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!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 NOT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R→L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91919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2.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&amp;&amp;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 AND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60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13029" marR="0" lvl="0" indent="0" algn="l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91919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3.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||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 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60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13029" marR="0" lvl="0" indent="0" algn="l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59" name="Google Shape;259;p24"/>
          <p:cNvSpPr txBox="1"/>
          <p:nvPr/>
        </p:nvSpPr>
        <p:spPr>
          <a:xfrm>
            <a:off x="1633591" y="1044257"/>
            <a:ext cx="9406266" cy="3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Logical operators are used to logically relate the expressions.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03848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>
            <a:spLocks noGrp="1"/>
          </p:cNvSpPr>
          <p:nvPr>
            <p:ph type="title"/>
          </p:nvPr>
        </p:nvSpPr>
        <p:spPr>
          <a:xfrm>
            <a:off x="4222678" y="215292"/>
            <a:ext cx="7058346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Bitwise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698641" y="1228290"/>
            <a:ext cx="11024172" cy="125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just"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These operators do not consider operand as one entity and operate on the individual bits of operands.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1265"/>
              </a:spcBef>
            </a:pP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aphicFrame>
        <p:nvGraphicFramePr>
          <p:cNvPr id="274" name="Google Shape;274;p25"/>
          <p:cNvGraphicFramePr/>
          <p:nvPr>
            <p:extLst>
              <p:ext uri="{D42A27DB-BD31-4B8C-83A1-F6EECF244321}">
                <p14:modId xmlns:p14="http://schemas.microsoft.com/office/powerpoint/2010/main" val="2417625655"/>
              </p:ext>
            </p:extLst>
          </p:nvPr>
        </p:nvGraphicFramePr>
        <p:xfrm>
          <a:off x="616449" y="2270589"/>
          <a:ext cx="10870059" cy="419185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281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880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9967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58305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82807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75990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05378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S.No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2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Name of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80035" marR="0" lvl="0" indent="0" algn="l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Category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ary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of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Precedence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amongst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class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Associativity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4445" marR="0" lvl="0" indent="0" algn="ctr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6949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~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NOT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R→L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67382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2.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&lt;&lt;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&gt;&gt;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16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Left Shift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1135" marR="0" lvl="0" indent="0" algn="l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Right Shift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Shift</a:t>
                      </a: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67382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3.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&amp;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AND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749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</a:t>
                      </a: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67382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4.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^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X-OR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749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</a:t>
                      </a: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Level-IV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67382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5.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|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749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</a:t>
                      </a: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Level-V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490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>
            <a:spLocks noGrp="1"/>
          </p:cNvSpPr>
          <p:nvPr>
            <p:ph type="title"/>
          </p:nvPr>
        </p:nvSpPr>
        <p:spPr>
          <a:xfrm>
            <a:off x="3293143" y="130171"/>
            <a:ext cx="7361158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Assignment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aphicFrame>
        <p:nvGraphicFramePr>
          <p:cNvPr id="283" name="Google Shape;283;p26"/>
          <p:cNvGraphicFramePr/>
          <p:nvPr>
            <p:extLst>
              <p:ext uri="{D42A27DB-BD31-4B8C-83A1-F6EECF244321}">
                <p14:modId xmlns:p14="http://schemas.microsoft.com/office/powerpoint/2010/main" val="4168321338"/>
              </p:ext>
            </p:extLst>
          </p:nvPr>
        </p:nvGraphicFramePr>
        <p:xfrm>
          <a:off x="609599" y="2087239"/>
          <a:ext cx="10972801" cy="436672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569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2429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4256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3292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04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56778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56778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646953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S.No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43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Name of 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Category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ary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of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508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Precedence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Associativity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1977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*=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/=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%=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+=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&amp;=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|=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^=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&lt;&lt;=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&gt;&gt;=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Simple assignment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21615" marR="209550" lvl="0" indent="-9525" algn="ctr" rtl="0">
                        <a:lnSpc>
                          <a:spcPct val="114999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 product Assign quotient Assign modulus Assign </a:t>
                      </a:r>
                    </a:p>
                    <a:p>
                      <a:pPr marL="221615" marR="209550" lvl="0" indent="-9525" algn="ctr" rtl="0">
                        <a:lnSpc>
                          <a:spcPct val="114999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sum Assign </a:t>
                      </a:r>
                    </a:p>
                    <a:p>
                      <a:pPr marL="221615" marR="209550" lvl="0" indent="-9525" algn="ctr" rtl="0">
                        <a:lnSpc>
                          <a:spcPct val="114999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differenceAssign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bitwise AND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18110" marR="113029" lvl="0" indent="1904" algn="ctr" rtl="0">
                        <a:lnSpc>
                          <a:spcPct val="114799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 bitwise OR </a:t>
                      </a:r>
                    </a:p>
                    <a:p>
                      <a:pPr marL="118110" marR="113029" lvl="0" indent="1904" algn="ctr" rtl="0">
                        <a:lnSpc>
                          <a:spcPct val="114799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 bitwise XOR Assign left shift </a:t>
                      </a:r>
                    </a:p>
                    <a:p>
                      <a:pPr marL="118110" marR="113029" lvl="0" indent="1904" algn="ctr" rtl="0">
                        <a:lnSpc>
                          <a:spcPct val="114799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 right shift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Assignment Shorthand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assignment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operators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81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543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6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R→L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88" name="Google Shape;288;p26"/>
          <p:cNvSpPr txBox="1"/>
          <p:nvPr/>
        </p:nvSpPr>
        <p:spPr>
          <a:xfrm>
            <a:off x="1799466" y="1106346"/>
            <a:ext cx="109728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algn="just"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 variable can	be assigned a value by using assignment operator.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244700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70212" y="160302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>
            <a:spLocks noGrp="1"/>
          </p:cNvSpPr>
          <p:nvPr>
            <p:ph type="title"/>
          </p:nvPr>
        </p:nvSpPr>
        <p:spPr>
          <a:xfrm>
            <a:off x="3128816" y="234764"/>
            <a:ext cx="7158184" cy="6892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05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/>
              <a:t>Conditional Operator</a:t>
            </a:r>
            <a:endParaRPr sz="4400" dirty="0"/>
          </a:p>
        </p:txBody>
      </p:sp>
      <p:sp>
        <p:nvSpPr>
          <p:cNvPr id="317" name="Google Shape;317;p29"/>
          <p:cNvSpPr txBox="1"/>
          <p:nvPr/>
        </p:nvSpPr>
        <p:spPr>
          <a:xfrm>
            <a:off x="1459787" y="1158804"/>
            <a:ext cx="9272425" cy="412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>
              <a:lnSpc>
                <a:spcPct val="107954"/>
              </a:lnSpc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Conditional operator is the only ternary operator available in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Cpp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318" name="Google Shape;318;p29"/>
          <p:cNvSpPr txBox="1"/>
          <p:nvPr/>
        </p:nvSpPr>
        <p:spPr>
          <a:xfrm>
            <a:off x="861237" y="2512690"/>
            <a:ext cx="11164186" cy="220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8725" rIns="0" bIns="0" anchor="t" anchorCtr="0">
            <a:spAutoFit/>
          </a:bodyPr>
          <a:lstStyle/>
          <a:p>
            <a:pPr marL="12700" marR="762000" algn="just">
              <a:lnSpc>
                <a:spcPct val="80000"/>
              </a:lnSpc>
              <a:spcBef>
                <a:spcPts val="620"/>
              </a:spcBef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general form of conditional operator is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E1?E2:E3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, where E1, E2 and E3 are sub-expressions.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algn="just">
              <a:spcBef>
                <a:spcPts val="75"/>
              </a:spcBef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sub-expression E1 must be of scalar type 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marR="5080" algn="just">
              <a:lnSpc>
                <a:spcPct val="80000"/>
              </a:lnSpc>
              <a:spcBef>
                <a:spcPts val="600"/>
              </a:spcBef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sub-expression E1 is evaluated first. If it evaluates to a non-zero value (i.e. true), then E2 is evaluated and E3 is ignored.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algn="just">
              <a:lnSpc>
                <a:spcPct val="107954"/>
              </a:lnSpc>
              <a:spcBef>
                <a:spcPts val="75"/>
              </a:spcBef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If E1 evaluates to zero (i.e. false), then E3 is evaluated and E2 is ignored.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63801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0" y="106552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8"/>
          <p:cNvSpPr txBox="1">
            <a:spLocks noGrp="1"/>
          </p:cNvSpPr>
          <p:nvPr>
            <p:ph type="title"/>
          </p:nvPr>
        </p:nvSpPr>
        <p:spPr>
          <a:xfrm>
            <a:off x="1201479" y="254820"/>
            <a:ext cx="9387477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Miscellaneous Operator</a:t>
            </a:r>
          </a:p>
        </p:txBody>
      </p:sp>
      <p:sp>
        <p:nvSpPr>
          <p:cNvPr id="310" name="Google Shape;310;p28"/>
          <p:cNvSpPr txBox="1"/>
          <p:nvPr/>
        </p:nvSpPr>
        <p:spPr>
          <a:xfrm>
            <a:off x="276447" y="944752"/>
            <a:ext cx="11915553" cy="5265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/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Other operators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available in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Cpp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are: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60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Function call operator (i.e.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()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60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Array subscript operator (i.e.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[]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60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Member select operator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652145" lvl="1" indent="-273685">
              <a:spcBef>
                <a:spcPts val="520"/>
              </a:spcBef>
              <a:buClr>
                <a:srgbClr val="FD8537"/>
              </a:buClr>
              <a:buSzPts val="1650"/>
              <a:buFont typeface="Quattrocento Sans"/>
              <a:buChar char="⚫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Direct member access operator (i.e.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.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dot operator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or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652780"/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period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))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652145" lvl="1" indent="-273685">
              <a:spcBef>
                <a:spcPts val="505"/>
              </a:spcBef>
              <a:buClr>
                <a:srgbClr val="FD8537"/>
              </a:buClr>
              <a:buSzPts val="1650"/>
              <a:buFont typeface="Quattrocento Sans"/>
              <a:buChar char="⚫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Indirect member access operator (i.e.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-&gt;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arrow operator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))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59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Indirection operator (i.e.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*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60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Conditional operator (i.e. ?:)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60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Comma operator (i.e. ,)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60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sizeof operator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60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Address-of operator (i.e. &amp;)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3420830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>
            <a:spLocks noGrp="1"/>
          </p:cNvSpPr>
          <p:nvPr>
            <p:ph type="title"/>
          </p:nvPr>
        </p:nvSpPr>
        <p:spPr>
          <a:xfrm>
            <a:off x="2136444" y="313385"/>
            <a:ext cx="6062334" cy="6937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6500" rIns="0" bIns="0" rtlCol="0" anchor="t" anchorCtr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Sizeof Operator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334" name="Google Shape;334;p31"/>
          <p:cNvSpPr txBox="1"/>
          <p:nvPr/>
        </p:nvSpPr>
        <p:spPr>
          <a:xfrm>
            <a:off x="791111" y="1089531"/>
            <a:ext cx="10120044" cy="809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algn="just">
              <a:lnSpc>
                <a:spcPct val="108000"/>
              </a:lnSpc>
              <a:buClr>
                <a:srgbClr val="FD8537"/>
              </a:buClr>
              <a:buSzPts val="14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sizeof operator is used to determine the size in bytes that a value or a data object will take in memory.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335" name="Google Shape;335;p31"/>
          <p:cNvSpPr txBox="1"/>
          <p:nvPr/>
        </p:nvSpPr>
        <p:spPr>
          <a:xfrm>
            <a:off x="704055" y="2111685"/>
            <a:ext cx="11070129" cy="2616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925" rIns="0" bIns="0" anchor="t" anchorCtr="0">
            <a:spAutoFit/>
          </a:bodyPr>
          <a:lstStyle/>
          <a:p>
            <a:pPr marL="12700" algn="just">
              <a:spcBef>
                <a:spcPts val="125"/>
              </a:spcBef>
              <a:buClr>
                <a:srgbClr val="FD8537"/>
              </a:buClr>
              <a:buSzPts val="14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general form of sizeof operator is: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 algn="just">
              <a:spcBef>
                <a:spcPts val="5"/>
              </a:spcBef>
              <a:buClr>
                <a:srgbClr val="FD8537"/>
              </a:buClr>
              <a:buSzPts val="1450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sizeof expression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or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sizeof (expression)</a:t>
            </a:r>
          </a:p>
          <a:p>
            <a:pPr marL="378460" lvl="1" algn="just">
              <a:spcBef>
                <a:spcPts val="5"/>
              </a:spcBef>
              <a:buClr>
                <a:srgbClr val="FD8537"/>
              </a:buClr>
              <a:buSzPts val="1450"/>
            </a:pPr>
            <a:endParaRPr sz="2400" dirty="0">
              <a:solidFill>
                <a:srgbClr val="FF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 algn="just">
              <a:buClr>
                <a:srgbClr val="FD8537"/>
              </a:buClr>
              <a:buSzPts val="14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For example: sizeof 2, sizeof(a), sizeof(2+3)</a:t>
            </a:r>
          </a:p>
          <a:p>
            <a:pPr marL="378460" lvl="1" algn="just">
              <a:buClr>
                <a:srgbClr val="FD8537"/>
              </a:buClr>
              <a:buSzPts val="1450"/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marR="5080" lvl="1" algn="just">
              <a:lnSpc>
                <a:spcPct val="80000"/>
              </a:lnSpc>
              <a:spcBef>
                <a:spcPts val="434"/>
              </a:spcBef>
              <a:buClr>
                <a:srgbClr val="FD8537"/>
              </a:buClr>
              <a:buSzPts val="1450"/>
            </a:pP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sizeof(type-name)	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For	example:	sizeof(int),	sizeof(int*), sizeof(char)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algn="just">
              <a:spcBef>
                <a:spcPts val="120"/>
              </a:spcBef>
              <a:buClr>
                <a:srgbClr val="FD8537"/>
              </a:buClr>
              <a:buSzPts val="14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type of result of evaluation of sizeof operator is int.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337" name="Google Shape;33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0275" y="126695"/>
            <a:ext cx="762000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51918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>
            <a:spLocks noGrp="1"/>
          </p:cNvSpPr>
          <p:nvPr>
            <p:ph type="title"/>
          </p:nvPr>
        </p:nvSpPr>
        <p:spPr>
          <a:xfrm>
            <a:off x="2060245" y="392633"/>
            <a:ext cx="7299512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Address-of Operator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350" name="Google Shape;350;p32"/>
          <p:cNvSpPr txBox="1"/>
          <p:nvPr/>
        </p:nvSpPr>
        <p:spPr>
          <a:xfrm>
            <a:off x="840052" y="1540382"/>
            <a:ext cx="9739897" cy="434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just">
              <a:lnSpc>
                <a:spcPct val="114090"/>
              </a:lnSpc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address-of operator is used to find address i.e. l-value of a data object.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351" name="Google Shape;351;p32"/>
          <p:cNvSpPr txBox="1"/>
          <p:nvPr/>
        </p:nvSpPr>
        <p:spPr>
          <a:xfrm>
            <a:off x="840052" y="2693842"/>
            <a:ext cx="10731081" cy="17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algn="just">
              <a:lnSpc>
                <a:spcPct val="114090"/>
              </a:lnSpc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following	are the	important points about address-of operator: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algn="just">
              <a:lnSpc>
                <a:spcPct val="114090"/>
              </a:lnSpc>
              <a:spcBef>
                <a:spcPts val="335"/>
              </a:spcBef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1.  The address-of operator must appear towards the left side of its operand.</a:t>
            </a:r>
          </a:p>
          <a:p>
            <a:pPr marL="12700" algn="just">
              <a:lnSpc>
                <a:spcPct val="114090"/>
              </a:lnSpc>
              <a:spcBef>
                <a:spcPts val="335"/>
              </a:spcBef>
              <a:buClr>
                <a:srgbClr val="FD8537"/>
              </a:buClr>
              <a:buSzPts val="1500"/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algn="just">
              <a:spcBef>
                <a:spcPts val="335"/>
              </a:spcBef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2.  The syntax of using address-of operator is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&amp; operand.</a:t>
            </a:r>
            <a:endParaRPr sz="2400" dirty="0">
              <a:solidFill>
                <a:srgbClr val="FF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352" name="Google Shape;352;p32"/>
          <p:cNvSpPr/>
          <p:nvPr/>
        </p:nvSpPr>
        <p:spPr>
          <a:xfrm>
            <a:off x="10439400" y="1974850"/>
            <a:ext cx="0" cy="1135380"/>
          </a:xfrm>
          <a:custGeom>
            <a:avLst/>
            <a:gdLst/>
            <a:ahLst/>
            <a:cxnLst/>
            <a:rect l="l" t="t" r="r" b="b"/>
            <a:pathLst>
              <a:path w="120000" h="1135380" extrusionOk="0">
                <a:moveTo>
                  <a:pt x="0" y="0"/>
                </a:moveTo>
                <a:lnTo>
                  <a:pt x="0" y="1135126"/>
                </a:lnTo>
              </a:path>
            </a:pathLst>
          </a:custGeom>
          <a:noFill/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/>
          </a:p>
        </p:txBody>
      </p:sp>
      <p:pic>
        <p:nvPicPr>
          <p:cNvPr id="2" name="Google Shape;337;p31">
            <a:extLst>
              <a:ext uri="{FF2B5EF4-FFF2-40B4-BE49-F238E27FC236}">
                <a16:creationId xmlns:a16="http://schemas.microsoft.com/office/drawing/2014/main" xmlns="" id="{9B9D4FF8-87CB-4068-4E0F-54E5688787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1371" y="244365"/>
            <a:ext cx="762000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47210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/>
          <p:nvPr/>
        </p:nvSpPr>
        <p:spPr>
          <a:xfrm>
            <a:off x="9680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 extrusionOk="0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/>
          </a:p>
        </p:txBody>
      </p:sp>
      <p:sp>
        <p:nvSpPr>
          <p:cNvPr id="365" name="Google Shape;365;p33"/>
          <p:cNvSpPr txBox="1">
            <a:spLocks noGrp="1"/>
          </p:cNvSpPr>
          <p:nvPr>
            <p:ph type="title"/>
          </p:nvPr>
        </p:nvSpPr>
        <p:spPr>
          <a:xfrm>
            <a:off x="2060245" y="362203"/>
            <a:ext cx="7727315" cy="3911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COMBINED PRECEDENCE OF ALL OPERATOR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aphicFrame>
        <p:nvGraphicFramePr>
          <p:cNvPr id="368" name="Google Shape;368;p33"/>
          <p:cNvGraphicFramePr/>
          <p:nvPr>
            <p:extLst>
              <p:ext uri="{D42A27DB-BD31-4B8C-83A1-F6EECF244321}">
                <p14:modId xmlns:p14="http://schemas.microsoft.com/office/powerpoint/2010/main" val="2460878475"/>
              </p:ext>
            </p:extLst>
          </p:nvPr>
        </p:nvGraphicFramePr>
        <p:xfrm>
          <a:off x="770562" y="1164904"/>
          <a:ext cx="10952250" cy="53536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721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408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794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5096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524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63357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72998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683250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S.N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0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2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Name of 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Category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ary</a:t>
                      </a: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of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Precedence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Associativity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69050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()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[]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-&gt;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Function call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27965" marR="221615" lvl="0" indent="2539" algn="ctr" rtl="0">
                        <a:lnSpc>
                          <a:spcPct val="114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Array subscript Indirect member access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Direct member</a:t>
                      </a:r>
                      <a:r>
                        <a:rPr lang="en-US" sz="16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access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54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07645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(Highest)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60575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2.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!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~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+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++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4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--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&amp;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*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sizeof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 NOT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392430" marR="386715" lvl="0" indent="0" algn="ctr" rtl="0">
                        <a:lnSpc>
                          <a:spcPct val="114999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NOT Unary plus Unary minus Increment Decrement Address-of Indirection Sizeof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R→L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83250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3.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*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/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%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Multiplication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Division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Modulus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Multiplicative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2" name="Google Shape;337;p31">
            <a:extLst>
              <a:ext uri="{FF2B5EF4-FFF2-40B4-BE49-F238E27FC236}">
                <a16:creationId xmlns:a16="http://schemas.microsoft.com/office/drawing/2014/main" xmlns="" id="{0B26DFB0-9DB2-A2E3-431F-7B605D824A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9087" y="174822"/>
            <a:ext cx="723204" cy="8390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32491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"/>
          <p:cNvSpPr/>
          <p:nvPr/>
        </p:nvSpPr>
        <p:spPr>
          <a:xfrm>
            <a:off x="9680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 extrusionOk="0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/>
          </a:p>
        </p:txBody>
      </p:sp>
      <p:graphicFrame>
        <p:nvGraphicFramePr>
          <p:cNvPr id="380" name="Google Shape;380;p34"/>
          <p:cNvGraphicFramePr/>
          <p:nvPr>
            <p:extLst>
              <p:ext uri="{D42A27DB-BD31-4B8C-83A1-F6EECF244321}">
                <p14:modId xmlns:p14="http://schemas.microsoft.com/office/powerpoint/2010/main" val="3042428407"/>
              </p:ext>
            </p:extLst>
          </p:nvPr>
        </p:nvGraphicFramePr>
        <p:xfrm>
          <a:off x="811658" y="230291"/>
          <a:ext cx="10376899" cy="639180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282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833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3042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5654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1382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41740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54708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S.No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Name of 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Category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ary</a:t>
                      </a: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of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Precedence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Associativity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4.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+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Addition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Subtraction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1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Additive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52400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Level-IV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5.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&lt;&lt;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&gt;&gt;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546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Left Shift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590550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Right Shift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Shift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Level-V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43545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6.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&lt;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&gt;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&lt;=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&gt;=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515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Less than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635" marR="119379" lvl="0" indent="377825" algn="l" rtl="0">
                        <a:lnSpc>
                          <a:spcPct val="1147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Greater than </a:t>
                      </a:r>
                    </a:p>
                    <a:p>
                      <a:pPr marL="127635" marR="119379" lvl="0" indent="377825" algn="l" rtl="0">
                        <a:lnSpc>
                          <a:spcPct val="1147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Less than or equal to Greater than or equal</a:t>
                      </a:r>
                      <a:r>
                        <a:rPr lang="en-US" sz="16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to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19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Relational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52400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Level-VI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7.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==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!=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Equal to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Not equal to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1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Equality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52400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Level-VII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8.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&amp;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AND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70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5580" marR="0" lvl="0" indent="0" algn="l" rtl="0">
                        <a:lnSpc>
                          <a:spcPct val="100000"/>
                        </a:lnSpc>
                        <a:spcBef>
                          <a:spcPts val="2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Level-VIII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9.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^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X-OR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70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5580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Level-IX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10.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|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70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5580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Level-X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11.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&amp;&amp;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 AND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33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5580" marR="0" lvl="0" indent="0" algn="l" rtl="0">
                        <a:lnSpc>
                          <a:spcPct val="100000"/>
                        </a:lnSpc>
                        <a:spcBef>
                          <a:spcPts val="2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Level-XI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12.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||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 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33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5580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Level-XII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13.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?: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Conditional 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Conditional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Ternary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Level-XIII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R→L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8821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8" name="Google Shape;388;p35"/>
          <p:cNvGraphicFramePr/>
          <p:nvPr>
            <p:extLst>
              <p:ext uri="{D42A27DB-BD31-4B8C-83A1-F6EECF244321}">
                <p14:modId xmlns:p14="http://schemas.microsoft.com/office/powerpoint/2010/main" val="4159727555"/>
              </p:ext>
            </p:extLst>
          </p:nvPr>
        </p:nvGraphicFramePr>
        <p:xfrm>
          <a:off x="1078788" y="636998"/>
          <a:ext cx="10007028" cy="52398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554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276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6554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1663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2132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51019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51019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830175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S.No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Name of 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Category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ary</a:t>
                      </a: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of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4445" marR="0" lvl="0" indent="0" algn="ctr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4445" marR="0" lvl="0" indent="0" algn="ctr" rtl="0">
                        <a:lnSpc>
                          <a:spcPct val="100000"/>
                        </a:lnSpc>
                        <a:spcBef>
                          <a:spcPts val="24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Precedence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Associativity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95085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14.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*=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/=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%=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+=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&amp;=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2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|=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^=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&lt;&lt;=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&gt;&gt;=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Simple assignment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98120" marR="189865" lvl="0" indent="-1905" algn="ctr" rtl="0">
                        <a:lnSpc>
                          <a:spcPct val="115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 product </a:t>
                      </a:r>
                    </a:p>
                    <a:p>
                      <a:pPr marL="198120" marR="189865" lvl="0" indent="-1905" algn="ctr" rtl="0">
                        <a:lnSpc>
                          <a:spcPct val="115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 quotient Assign modulus Assign </a:t>
                      </a:r>
                    </a:p>
                    <a:p>
                      <a:pPr marL="198120" marR="189865" lvl="0" indent="-1905" algn="ctr" rtl="0">
                        <a:lnSpc>
                          <a:spcPct val="115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sum Assign </a:t>
                      </a:r>
                    </a:p>
                    <a:p>
                      <a:pPr marL="198120" marR="189865" lvl="0" indent="-1905" algn="ctr" rtl="0">
                        <a:lnSpc>
                          <a:spcPct val="115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Difference</a:t>
                      </a:r>
                      <a:r>
                        <a:rPr lang="en-US" sz="16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 bitwise AND Assign bitwise OR Assign bitwise XOR Assign </a:t>
                      </a:r>
                    </a:p>
                    <a:p>
                      <a:pPr marL="198120" marR="189865" lvl="0" indent="-1905" algn="ctr" rtl="0">
                        <a:lnSpc>
                          <a:spcPct val="115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left shift Assign </a:t>
                      </a:r>
                    </a:p>
                    <a:p>
                      <a:pPr marL="198120" marR="189865" lvl="0" indent="-1905" algn="ctr" rtl="0">
                        <a:lnSpc>
                          <a:spcPct val="115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right shift Assign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Assignment &amp;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90805" marR="81915" lvl="0" indent="0" algn="ctr" rtl="0">
                        <a:lnSpc>
                          <a:spcPct val="114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Shorthand assignment operators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Level-XIV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R→L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14560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15.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,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Comma 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Comma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193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Level-XV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90195" marR="0" lvl="0" indent="0" algn="l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(Least)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26277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>
            <a:spLocks noGrp="1"/>
          </p:cNvSpPr>
          <p:nvPr>
            <p:ph type="title"/>
          </p:nvPr>
        </p:nvSpPr>
        <p:spPr>
          <a:xfrm>
            <a:off x="2060252" y="271199"/>
            <a:ext cx="7217311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Usage of Math Library 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396" name="Google Shape;396;p36"/>
          <p:cNvSpPr txBox="1"/>
          <p:nvPr/>
        </p:nvSpPr>
        <p:spPr>
          <a:xfrm>
            <a:off x="688369" y="951102"/>
            <a:ext cx="10592656" cy="4977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57200" marR="5080" algn="just">
              <a:lnSpc>
                <a:spcPct val="95909"/>
              </a:lnSpc>
              <a:spcBef>
                <a:spcPts val="5"/>
              </a:spcBef>
            </a:pPr>
            <a:endParaRPr sz="2400" b="1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marR="5080" algn="just">
              <a:lnSpc>
                <a:spcPct val="95909"/>
              </a:lnSpc>
              <a:spcBef>
                <a:spcPts val="5"/>
              </a:spcBef>
              <a:buClr>
                <a:srgbClr val="FD8537"/>
              </a:buClr>
              <a:buSzPts val="1500"/>
            </a:pP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Header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: #include&lt;cmath&gt;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marR="5080" algn="just">
              <a:lnSpc>
                <a:spcPct val="95909"/>
              </a:lnSpc>
              <a:spcBef>
                <a:spcPts val="5"/>
              </a:spcBef>
              <a:buClr>
                <a:srgbClr val="FD8537"/>
              </a:buClr>
              <a:buSzPts val="1500"/>
            </a:pP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Namespace: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std 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marR="5080" algn="just">
              <a:lnSpc>
                <a:spcPct val="95909"/>
              </a:lnSpc>
              <a:spcBef>
                <a:spcPts val="5"/>
              </a:spcBef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Provides mathematical functions for operations in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Cpp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Constants (C++20 in ): 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- std::numbers::pi = 3.141592653589793... 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- std::numbers::e = 2.718281828459045…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Type Variants: 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- float →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sinf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cosf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powf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- long double →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sinl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cosl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powl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2" name="Google Shape;337;p31">
            <a:extLst>
              <a:ext uri="{FF2B5EF4-FFF2-40B4-BE49-F238E27FC236}">
                <a16:creationId xmlns:a16="http://schemas.microsoft.com/office/drawing/2014/main" xmlns="" id="{19539A95-9943-12EA-3FCF-65497D9AEC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9087" y="174822"/>
            <a:ext cx="723204" cy="8390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2274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>
            <a:spLocks noGrp="1"/>
          </p:cNvSpPr>
          <p:nvPr>
            <p:ph type="title"/>
          </p:nvPr>
        </p:nvSpPr>
        <p:spPr>
          <a:xfrm>
            <a:off x="2060253" y="271199"/>
            <a:ext cx="6239100" cy="112082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600" cap="small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Usage of math library function</a:t>
            </a:r>
            <a:endParaRPr sz="3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403" name="Google Shape;403;p37" title="Screenshot 2025-08-28 at 9.09.1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676" y="838200"/>
            <a:ext cx="7690651" cy="583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37;p31">
            <a:extLst>
              <a:ext uri="{FF2B5EF4-FFF2-40B4-BE49-F238E27FC236}">
                <a16:creationId xmlns:a16="http://schemas.microsoft.com/office/drawing/2014/main" xmlns="" id="{6A654C2F-EA9A-BF7B-559B-914088E8D8E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29087" y="174822"/>
            <a:ext cx="723204" cy="8390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11750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0" y="0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8"/>
          <p:cNvSpPr txBox="1">
            <a:spLocks noGrp="1"/>
          </p:cNvSpPr>
          <p:nvPr>
            <p:ph type="title"/>
          </p:nvPr>
        </p:nvSpPr>
        <p:spPr>
          <a:xfrm>
            <a:off x="1633591" y="168458"/>
            <a:ext cx="8272409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600" cap="small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Usage of math </a:t>
            </a:r>
            <a:r>
              <a:rPr lang="en-US" sz="4400" cap="small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library function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410" name="Google Shape;410;p38"/>
          <p:cNvSpPr txBox="1"/>
          <p:nvPr/>
        </p:nvSpPr>
        <p:spPr>
          <a:xfrm>
            <a:off x="1227220" y="2040163"/>
            <a:ext cx="8079000" cy="35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Example Code: </a:t>
            </a:r>
            <a:endParaRPr sz="2200" b="1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#include&lt;cmath&gt;</a:t>
            </a:r>
            <a:endParaRPr sz="2200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#include using namespace std; 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int main() 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{ 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457200"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double x = 9.0; 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457200"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cout</a:t>
            </a: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&lt;&lt; "Square root: " &lt;&lt; sqrt(x) &lt;&lt; </a:t>
            </a:r>
            <a:r>
              <a:rPr lang="en-US" sz="22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endl</a:t>
            </a: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; 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457200"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cout</a:t>
            </a: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&lt;&lt; "Power: " &lt;&lt; pow(2, 3) &lt;&lt; </a:t>
            </a:r>
            <a:r>
              <a:rPr lang="en-US" sz="22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endl</a:t>
            </a: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; 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457200"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return 0; 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}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967080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BE326C5-DB83-8BD2-0004-2580A14F5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4953" y="174662"/>
            <a:ext cx="9144000" cy="7109639"/>
          </a:xfrm>
        </p:spPr>
        <p:txBody>
          <a:bodyPr>
            <a:normAutofit fontScale="92500" lnSpcReduction="20000"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Typecasting</a:t>
            </a:r>
          </a:p>
          <a:p>
            <a:pPr algn="l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dirty="0">
                <a:latin typeface="Times New Roman" panose="02020603050405020304" pitchFamily="18" charset="0"/>
              </a:rPr>
              <a:t>Typecasting in C++ is the process of converting one data type into another. It allows us to perform operations between incompatible data types by explicitly or implicitly converting them.</a:t>
            </a:r>
          </a:p>
          <a:p>
            <a:pPr algn="l"/>
            <a:endParaRPr lang="en-US" sz="200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419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Implicit Typecasting</a:t>
            </a:r>
            <a:r>
              <a:rPr lang="es-419" sz="2000" b="1" dirty="0"/>
              <a:t>:</a:t>
            </a:r>
          </a:p>
          <a:p>
            <a:pPr algn="l">
              <a:lnSpc>
                <a:spcPct val="150000"/>
              </a:lnSpc>
            </a:pPr>
            <a:r>
              <a:rPr lang="es-419" sz="2000" b="1" dirty="0">
                <a:latin typeface="Times New Roman" panose="02020603050405020304" pitchFamily="18" charset="0"/>
              </a:rPr>
              <a:t>        </a:t>
            </a:r>
            <a:r>
              <a:rPr lang="es-419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Done automatically by the compiler.</a:t>
            </a:r>
          </a:p>
          <a:p>
            <a:pPr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 Converts smaller data type → larger data type</a:t>
            </a:r>
          </a:p>
          <a:p>
            <a:pPr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 Example:   </a:t>
            </a:r>
            <a:r>
              <a:rPr lang="fr-FR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int x = 10;</a:t>
            </a:r>
          </a:p>
          <a:p>
            <a:pPr algn="l">
              <a:lnSpc>
                <a:spcPct val="150000"/>
              </a:lnSpc>
            </a:pPr>
            <a:r>
              <a:rPr lang="fr-FR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                     double y = x; </a:t>
            </a:r>
          </a:p>
          <a:p>
            <a:pPr algn="l"/>
            <a:endParaRPr lang="fr-FR" sz="20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Explicit Typecasting:</a:t>
            </a:r>
          </a:p>
          <a:p>
            <a:pPr algn="l">
              <a:lnSpc>
                <a:spcPct val="150000"/>
              </a:lnSpc>
            </a:pPr>
            <a:r>
              <a:rPr lang="fr-FR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 </a:t>
            </a:r>
            <a:r>
              <a:rPr 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Done manually by the programmer</a:t>
            </a:r>
            <a:r>
              <a:rPr lang="en-US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 </a:t>
            </a:r>
            <a:r>
              <a:rPr 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Example:   double pi = 3.14159;</a:t>
            </a:r>
          </a:p>
          <a:p>
            <a:pPr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                      int value = (int) pi; </a:t>
            </a:r>
            <a:endParaRPr lang="en-US" sz="200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i-IN" sz="2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6517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38F14E7-EFD2-9832-CB55-CD26D16B1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2760" y="328771"/>
            <a:ext cx="9144000" cy="1477328"/>
          </a:xfrm>
        </p:spPr>
        <p:txBody>
          <a:bodyPr>
            <a:normAutofit lnSpcReduction="10000"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Taking Inputs on Coding Platforms</a:t>
            </a:r>
          </a:p>
          <a:p>
            <a:endParaRPr lang="en-US" b="1" dirty="0"/>
          </a:p>
          <a:p>
            <a:pPr algn="l"/>
            <a:r>
              <a:rPr lang="en-US" dirty="0"/>
              <a:t>Single value in a single line:</a:t>
            </a:r>
          </a:p>
          <a:p>
            <a:pPr algn="l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01B57DCA-5480-B384-DB4F-82516C18378B}"/>
              </a:ext>
            </a:extLst>
          </p:cNvPr>
          <p:cNvSpPr/>
          <p:nvPr/>
        </p:nvSpPr>
        <p:spPr>
          <a:xfrm>
            <a:off x="2181546" y="2112171"/>
            <a:ext cx="7828908" cy="406259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n;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cin &gt;&gt; n;  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Input: 5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cout &lt;&lt; "You entered: " &lt;&lt; n;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ctr"/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1786084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AD48A17-6557-C8BE-0435-E9CED66D1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F250A8B-242C-0E5A-4F2F-19CAE1BB2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1513"/>
            <a:ext cx="9144000" cy="1107996"/>
          </a:xfrm>
        </p:spPr>
        <p:txBody>
          <a:bodyPr>
            <a:normAutofit fontScale="40000" lnSpcReduction="20000"/>
          </a:bodyPr>
          <a:lstStyle/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Taking Inputs on Coding Platforms</a:t>
            </a:r>
          </a:p>
          <a:p>
            <a:endParaRPr lang="en-US" b="1" dirty="0"/>
          </a:p>
          <a:p>
            <a:pPr algn="l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known values in a single line: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B18964AD-B8F9-F2C5-8DE7-705EBB0D8F74}"/>
              </a:ext>
            </a:extLst>
          </p:cNvPr>
          <p:cNvSpPr/>
          <p:nvPr/>
        </p:nvSpPr>
        <p:spPr>
          <a:xfrm>
            <a:off x="2095928" y="1787703"/>
            <a:ext cx="7828908" cy="465419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a, b, c;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cin &gt;&gt; a &gt;&gt; b &gt;&gt; c;  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Input: 10 20 30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cout &lt;&lt; "Sum = " &lt;&lt; a + b + c;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ctr"/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2595157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2525C4-C286-AF83-750A-1E766167A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5AE81F1-B900-4A71-CAB9-001CD71C6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7416" y="236305"/>
            <a:ext cx="9144000" cy="1107996"/>
          </a:xfrm>
        </p:spPr>
        <p:txBody>
          <a:bodyPr>
            <a:normAutofit fontScale="40000" lnSpcReduction="20000"/>
          </a:bodyPr>
          <a:lstStyle/>
          <a:p>
            <a:r>
              <a:rPr lang="en-US" sz="1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Taking Inputs on Coding Platforms</a:t>
            </a:r>
          </a:p>
          <a:p>
            <a:endParaRPr lang="en-US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5DE433D8-D545-C125-5A06-D005980FCD58}"/>
              </a:ext>
            </a:extLst>
          </p:cNvPr>
          <p:cNvSpPr/>
          <p:nvPr/>
        </p:nvSpPr>
        <p:spPr>
          <a:xfrm>
            <a:off x="1924691" y="2357920"/>
            <a:ext cx="7828908" cy="41815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x, y;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cin &gt;&gt; x;  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Input: 7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cin &gt;&gt; y;  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Input: 8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cout &lt;&lt; "Product = " &lt;&lt; x * y;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ctr"/>
            <a:endParaRPr lang="hi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9E876B7-7B78-15D8-0DAE-E148BD5B801C}"/>
              </a:ext>
            </a:extLst>
          </p:cNvPr>
          <p:cNvSpPr txBox="1"/>
          <p:nvPr/>
        </p:nvSpPr>
        <p:spPr>
          <a:xfrm>
            <a:off x="1171254" y="1171254"/>
            <a:ext cx="88563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known values in multiple lines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17802518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41276" y="154112"/>
            <a:ext cx="914400" cy="1219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43200" y="2514600"/>
            <a:ext cx="6410960" cy="629018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3503295" algn="l"/>
              </a:tabLst>
            </a:pPr>
            <a:r>
              <a:rPr lang="en-US" sz="4000" dirty="0"/>
              <a:t>Program Flow Control</a:t>
            </a:r>
            <a:endParaRPr sz="4000" dirty="0">
              <a:latin typeface="Cambria" panose="02040503050406030204"/>
              <a:cs typeface="Cambria" panose="02040503050406030204"/>
            </a:endParaRPr>
          </a:p>
        </p:txBody>
      </p:sp>
    </p:spTree>
    <p:extLst>
      <p:ext uri="{BB962C8B-B14F-4D97-AF65-F5344CB8AC3E}">
        <p14:creationId xmlns:p14="http://schemas.microsoft.com/office/powerpoint/2010/main" val="13832700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9739" y="2057400"/>
            <a:ext cx="11311847" cy="3091424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87020" marR="5080" indent="-274320" algn="just">
              <a:lnSpc>
                <a:spcPct val="80000"/>
              </a:lnSpc>
              <a:spcBef>
                <a:spcPts val="570"/>
              </a:spcBef>
              <a:buClr>
                <a:srgbClr val="FD8537"/>
              </a:buClr>
              <a:buSzPct val="70000"/>
              <a:buFont typeface="Wingdings" panose="05000000000000000000"/>
              <a:buChar char=""/>
              <a:tabLst>
                <a:tab pos="287020" algn="l"/>
              </a:tabLst>
            </a:pP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r>
              <a:rPr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</a:t>
            </a:r>
            <a:r>
              <a:rPr sz="2400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conditions.</a:t>
            </a:r>
            <a:r>
              <a:rPr sz="2400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z="24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r>
              <a:rPr sz="2400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specified</a:t>
            </a:r>
            <a:r>
              <a:rPr sz="24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4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</a:t>
            </a:r>
            <a:r>
              <a:rPr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Clr>
                <a:srgbClr val="FD8537"/>
              </a:buClr>
              <a:buFont typeface="Wingdings" panose="05000000000000000000"/>
              <a:buChar char=""/>
            </a:pPr>
            <a:endParaRPr sz="2000" dirty="0">
              <a:latin typeface="Cambria" panose="02040503050406030204"/>
              <a:cs typeface="Cambria" panose="02040503050406030204"/>
            </a:endParaRPr>
          </a:p>
          <a:p>
            <a:pPr marL="286385" indent="-273685">
              <a:lnSpc>
                <a:spcPts val="2360"/>
              </a:lnSpc>
              <a:buClr>
                <a:srgbClr val="FD8537"/>
              </a:buClr>
              <a:buSzPct val="70000"/>
              <a:buFont typeface="Wingdings" panose="05000000000000000000"/>
              <a:buChar char=""/>
              <a:tabLst>
                <a:tab pos="286385" algn="l"/>
              </a:tabLst>
            </a:pPr>
            <a:r>
              <a:rPr lang="en-IN" altLang="" sz="2000" spc="180" dirty="0">
                <a:latin typeface="Cambria" panose="02040503050406030204"/>
                <a:cs typeface="Cambria" panose="02040503050406030204"/>
              </a:rPr>
              <a:t>C++</a:t>
            </a:r>
            <a:r>
              <a:rPr sz="2000" spc="18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95" dirty="0">
                <a:latin typeface="Cambria" panose="02040503050406030204"/>
                <a:cs typeface="Cambria" panose="02040503050406030204"/>
              </a:rPr>
              <a:t>has</a:t>
            </a:r>
            <a:r>
              <a:rPr sz="2000" spc="20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70" dirty="0">
                <a:latin typeface="Cambria" panose="02040503050406030204"/>
                <a:cs typeface="Cambria" panose="02040503050406030204"/>
              </a:rPr>
              <a:t>the</a:t>
            </a:r>
            <a:r>
              <a:rPr sz="2000" spc="20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latin typeface="Cambria" panose="02040503050406030204"/>
                <a:cs typeface="Cambria" panose="02040503050406030204"/>
              </a:rPr>
              <a:t>following</a:t>
            </a:r>
            <a:r>
              <a:rPr sz="2000" spc="18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45" dirty="0">
                <a:latin typeface="Cambria" panose="02040503050406030204"/>
                <a:cs typeface="Cambria" panose="02040503050406030204"/>
              </a:rPr>
              <a:t>conditional</a:t>
            </a:r>
            <a:r>
              <a:rPr sz="2000" spc="19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55" dirty="0">
                <a:latin typeface="Cambria" panose="02040503050406030204"/>
                <a:cs typeface="Cambria" panose="02040503050406030204"/>
              </a:rPr>
              <a:t>statements:</a:t>
            </a:r>
            <a:endParaRPr sz="2000" dirty="0">
              <a:latin typeface="Cambria" panose="02040503050406030204"/>
              <a:cs typeface="Cambria" panose="02040503050406030204"/>
            </a:endParaRPr>
          </a:p>
          <a:p>
            <a:pPr marL="298450" indent="-285750">
              <a:lnSpc>
                <a:spcPts val="2975"/>
              </a:lnSpc>
              <a:buClr>
                <a:srgbClr val="FD8537"/>
              </a:buClr>
              <a:buSzPct val="70000"/>
              <a:buFont typeface="Wingdings" panose="05000000000000000000"/>
              <a:buChar char=""/>
              <a:tabLst>
                <a:tab pos="298450" algn="l"/>
                <a:tab pos="707390" algn="l"/>
                <a:tab pos="939165" algn="l"/>
                <a:tab pos="1311275" algn="l"/>
                <a:tab pos="2262505" algn="l"/>
                <a:tab pos="2549525" algn="l"/>
                <a:tab pos="3311525" algn="l"/>
                <a:tab pos="3670935" algn="l"/>
                <a:tab pos="4332605" algn="l"/>
                <a:tab pos="4704715" algn="l"/>
                <a:tab pos="5119370" algn="l"/>
                <a:tab pos="6366510" algn="l"/>
                <a:tab pos="6677025" algn="l"/>
                <a:tab pos="6964045" algn="l"/>
              </a:tabLst>
            </a:pP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298450" indent="-285750">
              <a:lnSpc>
                <a:spcPts val="2915"/>
              </a:lnSpc>
              <a:buClr>
                <a:srgbClr val="FD8537"/>
              </a:buClr>
              <a:buSzPct val="70000"/>
              <a:buFont typeface="Wingdings" panose="05000000000000000000"/>
              <a:buChar char=""/>
              <a:tabLst>
                <a:tab pos="298450" algn="l"/>
              </a:tabLst>
            </a:pPr>
            <a:r>
              <a:rPr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sz="24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ts val="3015"/>
              </a:lnSpc>
              <a:buClr>
                <a:srgbClr val="FD8537"/>
              </a:buClr>
              <a:buSzPct val="70000"/>
              <a:buFont typeface="Wingdings" panose="05000000000000000000"/>
              <a:buChar char=""/>
              <a:tabLst>
                <a:tab pos="298450" algn="l"/>
              </a:tabLst>
            </a:pPr>
            <a:r>
              <a:rPr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sz="2400" spc="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marR="7620" indent="-285750" algn="just">
              <a:lnSpc>
                <a:spcPct val="81000"/>
              </a:lnSpc>
              <a:buClr>
                <a:srgbClr val="FD8537"/>
              </a:buClr>
              <a:buSzPct val="70000"/>
              <a:buFont typeface="Wingdings" panose="05000000000000000000"/>
              <a:buChar char=""/>
              <a:tabLst>
                <a:tab pos="299085" algn="l"/>
              </a:tabLst>
            </a:pPr>
            <a:r>
              <a:rPr sz="24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8468" y="173244"/>
            <a:ext cx="762000" cy="838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19DA089-FBEE-AB64-3CAA-A26ED4A92AF5}"/>
              </a:ext>
            </a:extLst>
          </p:cNvPr>
          <p:cNvSpPr txBox="1"/>
          <p:nvPr/>
        </p:nvSpPr>
        <p:spPr>
          <a:xfrm>
            <a:off x="1900719" y="626724"/>
            <a:ext cx="77878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</a:t>
            </a:r>
            <a:endParaRPr lang="hi-IN" sz="4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7132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8742" y="184935"/>
            <a:ext cx="762000" cy="838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22069" y="49599"/>
            <a:ext cx="8376919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b="1" cap="small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‘If’</a:t>
            </a:r>
            <a:r>
              <a:rPr b="1" cap="small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4372" y="2286856"/>
            <a:ext cx="5473556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b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2400" b="1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2069" y="3420624"/>
            <a:ext cx="2443480" cy="7073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200" b="1" spc="85" dirty="0">
                <a:latin typeface="Cambria" panose="02040503050406030204"/>
                <a:cs typeface="Cambria" panose="02040503050406030204"/>
              </a:rPr>
              <a:t>if(expression)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75995">
              <a:spcBef>
                <a:spcPts val="75"/>
              </a:spcBef>
            </a:pPr>
            <a:r>
              <a:rPr sz="2200" b="1" spc="12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64328" y="3420624"/>
            <a:ext cx="1762125" cy="7073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200" b="1" spc="-140" dirty="0">
                <a:latin typeface="Cambria" panose="02040503050406030204"/>
                <a:cs typeface="Cambria" panose="02040503050406030204"/>
              </a:rPr>
              <a:t>//</a:t>
            </a:r>
            <a:r>
              <a:rPr sz="2200" spc="-140" dirty="0">
                <a:latin typeface="Wingdings" panose="05000000000000000000"/>
                <a:cs typeface="Wingdings" panose="05000000000000000000"/>
              </a:rPr>
              <a:t></a:t>
            </a:r>
            <a:r>
              <a:rPr sz="2200" b="1" spc="-140" dirty="0">
                <a:latin typeface="Cambria" panose="02040503050406030204"/>
                <a:cs typeface="Cambria" panose="02040503050406030204"/>
              </a:rPr>
              <a:t>if</a:t>
            </a:r>
            <a:r>
              <a:rPr sz="2200" b="1" spc="5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130" dirty="0">
                <a:latin typeface="Cambria" panose="02040503050406030204"/>
                <a:cs typeface="Cambria" panose="02040503050406030204"/>
              </a:rPr>
              <a:t>header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2700">
              <a:spcBef>
                <a:spcPts val="75"/>
              </a:spcBef>
            </a:pPr>
            <a:r>
              <a:rPr sz="2200" b="1" spc="-130" dirty="0">
                <a:latin typeface="Cambria" panose="02040503050406030204"/>
                <a:cs typeface="Cambria" panose="02040503050406030204"/>
              </a:rPr>
              <a:t>//</a:t>
            </a:r>
            <a:r>
              <a:rPr sz="2200" spc="-130" dirty="0">
                <a:latin typeface="Wingdings" panose="05000000000000000000"/>
                <a:cs typeface="Wingdings" panose="05000000000000000000"/>
              </a:rPr>
              <a:t></a:t>
            </a:r>
            <a:r>
              <a:rPr sz="2200" b="1" spc="-130" dirty="0">
                <a:latin typeface="Cambria" panose="02040503050406030204"/>
                <a:cs typeface="Cambria" panose="02040503050406030204"/>
              </a:rPr>
              <a:t>if</a:t>
            </a:r>
            <a:r>
              <a:rPr sz="2200" b="1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120" dirty="0">
                <a:latin typeface="Cambria" panose="02040503050406030204"/>
                <a:cs typeface="Cambria" panose="02040503050406030204"/>
              </a:rPr>
              <a:t>body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ED58789-7B1E-97C0-72D3-C2F03C2A9960}"/>
              </a:ext>
            </a:extLst>
          </p:cNvPr>
          <p:cNvSpPr txBox="1"/>
          <p:nvPr/>
        </p:nvSpPr>
        <p:spPr>
          <a:xfrm>
            <a:off x="919481" y="1219201"/>
            <a:ext cx="9570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specify a block of code to be executed, if a specified condition is true.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980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0"/>
            <a:ext cx="762000" cy="838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654023"/>
            <a:ext cx="10515600" cy="747769"/>
          </a:xfrm>
          <a:prstGeom prst="rect">
            <a:avLst/>
          </a:prstGeom>
        </p:spPr>
        <p:txBody>
          <a:bodyPr vert="horz" wrap="square" lIns="0" tIns="69977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cap="small" spc="-10" dirty="0"/>
              <a:t>‘If’</a:t>
            </a:r>
            <a:r>
              <a:rPr cap="small" spc="-235" dirty="0"/>
              <a:t> </a:t>
            </a:r>
            <a:r>
              <a:rPr cap="small" spc="-25" dirty="0"/>
              <a:t>Statement</a:t>
            </a:r>
            <a:r>
              <a:rPr cap="small" spc="-70" dirty="0"/>
              <a:t> </a:t>
            </a:r>
            <a:r>
              <a:rPr cap="small" spc="-50" dirty="0"/>
              <a:t>(Cont..)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1200" y="1385824"/>
            <a:ext cx="7696200" cy="425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058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3823" y="90431"/>
            <a:ext cx="5748670" cy="747769"/>
          </a:xfrm>
          <a:prstGeom prst="rect">
            <a:avLst/>
          </a:prstGeom>
        </p:spPr>
        <p:txBody>
          <a:bodyPr vert="horz" wrap="square" lIns="0" tIns="69977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‘If</a:t>
            </a:r>
            <a:r>
              <a:rPr b="1" cap="small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Else’</a:t>
            </a:r>
            <a:r>
              <a:rPr b="1" cap="small" spc="-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0243" y="1307087"/>
            <a:ext cx="9415830" cy="290335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algn="just">
              <a:lnSpc>
                <a:spcPts val="2380"/>
              </a:lnSpc>
              <a:spcBef>
                <a:spcPts val="400"/>
              </a:spcBef>
              <a:buClr>
                <a:srgbClr val="FD8537"/>
              </a:buClr>
              <a:buSzPct val="68000"/>
              <a:tabLst>
                <a:tab pos="287020" algn="l"/>
              </a:tabLst>
            </a:pP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sz="24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sz="24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</a:t>
            </a:r>
            <a:r>
              <a:rPr sz="24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400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4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sz="2400"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sz="24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particular</a:t>
            </a:r>
            <a:r>
              <a:rPr sz="2400" spc="4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sz="2400" spc="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2400" spc="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sz="2400" spc="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performed,</a:t>
            </a:r>
            <a:r>
              <a:rPr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95"/>
              </a:spcBef>
              <a:buClr>
                <a:srgbClr val="FD8537"/>
              </a:buClr>
              <a:buFont typeface="Wingdings" panose="05000000000000000000"/>
              <a:buChar char="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510"/>
              </a:lnSpc>
              <a:buClr>
                <a:srgbClr val="FD8537"/>
              </a:buClr>
              <a:buSzPct val="68000"/>
              <a:tabLst>
                <a:tab pos="28638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sz="2400" spc="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2400" spc="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decision,</a:t>
            </a:r>
            <a:r>
              <a:rPr sz="2400" spc="4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spc="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</a:t>
            </a:r>
            <a:r>
              <a:rPr sz="2400" spc="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sz="24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z="2400" spc="4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020">
              <a:lnSpc>
                <a:spcPts val="2510"/>
              </a:lnSpc>
            </a:pPr>
            <a:r>
              <a:rPr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705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buClr>
                <a:srgbClr val="FD8537"/>
              </a:buClr>
              <a:buSzPct val="68000"/>
              <a:tabLst>
                <a:tab pos="286385" algn="l"/>
              </a:tabLst>
            </a:pPr>
            <a:r>
              <a:rPr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sz="2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if-else</a:t>
            </a:r>
            <a:r>
              <a:rPr sz="24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2400"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68323" y="4617779"/>
            <a:ext cx="2434590" cy="1793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4845" marR="5080" indent="-652780">
              <a:lnSpc>
                <a:spcPct val="121000"/>
              </a:lnSpc>
              <a:spcBef>
                <a:spcPts val="95"/>
              </a:spcBef>
            </a:pPr>
            <a:r>
              <a:rPr sz="2400" b="1" spc="90" dirty="0">
                <a:latin typeface="Cambria" panose="02040503050406030204"/>
                <a:cs typeface="Cambria" panose="02040503050406030204"/>
              </a:rPr>
              <a:t>if(expression) </a:t>
            </a:r>
            <a:r>
              <a:rPr sz="2400" b="1" spc="100" dirty="0">
                <a:latin typeface="Cambria" panose="02040503050406030204"/>
                <a:cs typeface="Cambria" panose="02040503050406030204"/>
              </a:rPr>
              <a:t>statement1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24765">
              <a:spcBef>
                <a:spcPts val="605"/>
              </a:spcBef>
            </a:pPr>
            <a:r>
              <a:rPr sz="2400" b="1" spc="65" dirty="0">
                <a:latin typeface="Cambria" panose="02040503050406030204"/>
                <a:cs typeface="Cambria" panose="02040503050406030204"/>
              </a:rPr>
              <a:t>else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664845">
              <a:spcBef>
                <a:spcPts val="600"/>
              </a:spcBef>
            </a:pPr>
            <a:r>
              <a:rPr sz="2400" b="1" spc="105" dirty="0">
                <a:latin typeface="Cambria" panose="02040503050406030204"/>
                <a:cs typeface="Cambria" panose="02040503050406030204"/>
              </a:rPr>
              <a:t>statement2</a:t>
            </a:r>
            <a:endParaRPr sz="24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9066" y="4617778"/>
            <a:ext cx="2634615" cy="179387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4605">
              <a:spcBef>
                <a:spcPts val="695"/>
              </a:spcBef>
            </a:pPr>
            <a:r>
              <a:rPr sz="2400" b="1" spc="-135" dirty="0">
                <a:latin typeface="Cambria" panose="02040503050406030204"/>
                <a:cs typeface="Cambria" panose="02040503050406030204"/>
              </a:rPr>
              <a:t>//</a:t>
            </a:r>
            <a:r>
              <a:rPr sz="2400" spc="-135" dirty="0">
                <a:latin typeface="Wingdings" panose="05000000000000000000"/>
                <a:cs typeface="Wingdings" panose="05000000000000000000"/>
              </a:rPr>
              <a:t></a:t>
            </a:r>
            <a:r>
              <a:rPr sz="2400" b="1" spc="-135" dirty="0">
                <a:latin typeface="Cambria" panose="02040503050406030204"/>
                <a:cs typeface="Cambria" panose="02040503050406030204"/>
              </a:rPr>
              <a:t>if-</a:t>
            </a:r>
            <a:r>
              <a:rPr sz="2400" b="1" spc="85" dirty="0">
                <a:latin typeface="Cambria" panose="02040503050406030204"/>
                <a:cs typeface="Cambria" panose="02040503050406030204"/>
              </a:rPr>
              <a:t>else</a:t>
            </a:r>
            <a:r>
              <a:rPr sz="2400" b="1" spc="140" dirty="0"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125" dirty="0">
                <a:latin typeface="Cambria" panose="02040503050406030204"/>
                <a:cs typeface="Cambria" panose="02040503050406030204"/>
              </a:rPr>
              <a:t>header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12700">
              <a:spcBef>
                <a:spcPts val="600"/>
              </a:spcBef>
            </a:pPr>
            <a:r>
              <a:rPr sz="2400" b="1" spc="-140" dirty="0">
                <a:latin typeface="Cambria" panose="02040503050406030204"/>
                <a:cs typeface="Cambria" panose="02040503050406030204"/>
              </a:rPr>
              <a:t>//</a:t>
            </a:r>
            <a:r>
              <a:rPr sz="2400" spc="-140" dirty="0">
                <a:latin typeface="Wingdings" panose="05000000000000000000"/>
                <a:cs typeface="Wingdings" panose="05000000000000000000"/>
              </a:rPr>
              <a:t></a:t>
            </a:r>
            <a:r>
              <a:rPr sz="2400" b="1" spc="-140" dirty="0">
                <a:latin typeface="Cambria" panose="02040503050406030204"/>
                <a:cs typeface="Cambria" panose="02040503050406030204"/>
              </a:rPr>
              <a:t>if</a:t>
            </a:r>
            <a:r>
              <a:rPr sz="2400" b="1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120" dirty="0">
                <a:latin typeface="Cambria" panose="02040503050406030204"/>
                <a:cs typeface="Cambria" panose="02040503050406030204"/>
              </a:rPr>
              <a:t>body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12700">
              <a:spcBef>
                <a:spcPts val="605"/>
              </a:spcBef>
            </a:pPr>
            <a:r>
              <a:rPr sz="2400" b="1" spc="-75" dirty="0">
                <a:latin typeface="Cambria" panose="02040503050406030204"/>
                <a:cs typeface="Cambria" panose="02040503050406030204"/>
              </a:rPr>
              <a:t>//</a:t>
            </a:r>
            <a:r>
              <a:rPr sz="2400" spc="-75" dirty="0">
                <a:latin typeface="Wingdings" panose="05000000000000000000"/>
                <a:cs typeface="Wingdings" panose="05000000000000000000"/>
              </a:rPr>
              <a:t></a:t>
            </a:r>
            <a:r>
              <a:rPr sz="2400" b="1" spc="-75" dirty="0">
                <a:latin typeface="Cambria" panose="02040503050406030204"/>
                <a:cs typeface="Cambria" panose="02040503050406030204"/>
              </a:rPr>
              <a:t>else</a:t>
            </a:r>
            <a:r>
              <a:rPr sz="2400" b="1" spc="-55" dirty="0"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130" dirty="0">
                <a:latin typeface="Cambria" panose="02040503050406030204"/>
                <a:cs typeface="Cambria" panose="02040503050406030204"/>
              </a:rPr>
              <a:t>clause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12700">
              <a:spcBef>
                <a:spcPts val="600"/>
              </a:spcBef>
            </a:pPr>
            <a:r>
              <a:rPr sz="2400" b="1" spc="-75" dirty="0">
                <a:latin typeface="Cambria" panose="02040503050406030204"/>
                <a:cs typeface="Cambria" panose="02040503050406030204"/>
              </a:rPr>
              <a:t>//</a:t>
            </a:r>
            <a:r>
              <a:rPr sz="2400" spc="-75" dirty="0">
                <a:latin typeface="Wingdings" panose="05000000000000000000"/>
                <a:cs typeface="Wingdings" panose="05000000000000000000"/>
              </a:rPr>
              <a:t></a:t>
            </a:r>
            <a:r>
              <a:rPr sz="2400" b="1" spc="-75" dirty="0">
                <a:latin typeface="Cambria" panose="02040503050406030204"/>
                <a:cs typeface="Cambria" panose="02040503050406030204"/>
              </a:rPr>
              <a:t>else</a:t>
            </a:r>
            <a:r>
              <a:rPr sz="2400" b="1" spc="-55" dirty="0"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120" dirty="0">
                <a:latin typeface="Cambria" panose="02040503050406030204"/>
                <a:cs typeface="Cambria" panose="02040503050406030204"/>
              </a:rPr>
              <a:t>body</a:t>
            </a:r>
            <a:endParaRPr sz="24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0"/>
            <a:ext cx="7620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0"/>
            <a:ext cx="762000" cy="8382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704053" y="492592"/>
            <a:ext cx="7992840" cy="6912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buClr>
                <a:srgbClr val="FD8537"/>
              </a:buClr>
              <a:buSzPct val="70000"/>
              <a:tabLst>
                <a:tab pos="286385" algn="l"/>
              </a:tabLst>
            </a:pPr>
            <a:r>
              <a:rPr sz="4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sz="4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  <a:r>
              <a:rPr sz="4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44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en-US" sz="4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4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4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4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2993" y="1735200"/>
            <a:ext cx="6505485" cy="432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5830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0"/>
            <a:ext cx="762000" cy="838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60181" y="132988"/>
            <a:ext cx="10515600" cy="747769"/>
          </a:xfrm>
          <a:prstGeom prst="rect">
            <a:avLst/>
          </a:prstGeom>
        </p:spPr>
        <p:txBody>
          <a:bodyPr vert="horz" wrap="square" lIns="0" tIns="69977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‘If</a:t>
            </a:r>
            <a:r>
              <a:rPr b="1" cap="small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Else’</a:t>
            </a:r>
            <a:r>
              <a:rPr b="1" cap="small" spc="-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b="1" cap="small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(cont…)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0181" y="1415902"/>
            <a:ext cx="75438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8344" y="838200"/>
            <a:ext cx="11185451" cy="57073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840"/>
              </a:lnSpc>
              <a:spcBef>
                <a:spcPts val="105"/>
              </a:spcBef>
              <a:buClr>
                <a:srgbClr val="FD8537"/>
              </a:buClr>
              <a:buSzPct val="71000"/>
              <a:tabLst>
                <a:tab pos="286385" algn="l"/>
              </a:tabLst>
            </a:pPr>
            <a:r>
              <a:rPr sz="2400" b="1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b="1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b="1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2400" b="1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sz="2400" b="1" spc="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b="1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2400" b="1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b="1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b="1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b="1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sz="2400" b="1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negative.</a:t>
            </a:r>
            <a:endParaRPr lang="en-US" sz="2400" b="1" spc="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020">
              <a:lnSpc>
                <a:spcPts val="1840"/>
              </a:lnSpc>
            </a:pPr>
            <a:endParaRPr sz="1700" dirty="0">
              <a:latin typeface="Cambria" panose="02040503050406030204"/>
              <a:cs typeface="Cambria" panose="02040503050406030204"/>
            </a:endParaRP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#include &lt;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iostream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&gt;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using namespace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std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;</a:t>
            </a:r>
          </a:p>
          <a:p>
            <a:pPr marL="253365"/>
            <a:endParaRPr lang="en-US" sz="1700" dirty="0">
              <a:latin typeface="Consolas" panose="020B0609020204030204" pitchFamily="49" charset="0"/>
              <a:cs typeface="Cambria" panose="02040503050406030204"/>
            </a:endParaRPr>
          </a:p>
          <a:p>
            <a:pPr marL="253365"/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main() {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num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;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&lt;&lt; "Enter a number: ";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cin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&gt;&gt;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num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;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if (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num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&gt; 0) {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   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&lt;&lt; "Number " &lt;&lt;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num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&lt;&lt; " is positive." &lt;&lt;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endl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;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}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else {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   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&lt;&lt; "Number " &lt;&lt;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num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&lt;&lt; " is negative." &lt;&lt;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endl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;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}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return 0;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}</a:t>
            </a:r>
          </a:p>
          <a:p>
            <a:pPr marL="253365"/>
            <a:endParaRPr lang="en-US" sz="1700" dirty="0">
              <a:latin typeface="Cambria" panose="02040503050406030204"/>
              <a:cs typeface="Cambria" panose="02040503050406030204"/>
            </a:endParaRPr>
          </a:p>
          <a:p>
            <a:pPr marL="253365"/>
            <a:endParaRPr sz="1700" dirty="0">
              <a:latin typeface="Cambria" panose="02040503050406030204"/>
              <a:cs typeface="Cambria" panose="02040503050406030204"/>
            </a:endParaRPr>
          </a:p>
          <a:p>
            <a:pPr marL="12700"/>
            <a:r>
              <a:rPr sz="1700" b="1" spc="204" dirty="0">
                <a:latin typeface="Cambria" panose="02040503050406030204"/>
                <a:cs typeface="Cambria" panose="02040503050406030204"/>
              </a:rPr>
              <a:t>OUTPUT</a:t>
            </a:r>
            <a:r>
              <a:rPr sz="1700" b="1" spc="100" dirty="0">
                <a:latin typeface="Cambria" panose="02040503050406030204"/>
                <a:cs typeface="Cambria" panose="02040503050406030204"/>
              </a:rPr>
              <a:t> </a:t>
            </a:r>
            <a:r>
              <a:rPr sz="1700" spc="40" dirty="0">
                <a:latin typeface="Cambria" panose="02040503050406030204"/>
                <a:cs typeface="Cambria" panose="02040503050406030204"/>
              </a:rPr>
              <a:t>–</a:t>
            </a:r>
            <a:endParaRPr sz="1700" dirty="0">
              <a:latin typeface="Cambria" panose="02040503050406030204"/>
              <a:cs typeface="Cambria" panose="02040503050406030204"/>
            </a:endParaRPr>
          </a:p>
          <a:p>
            <a:pPr marL="12700"/>
            <a:r>
              <a:rPr sz="1700" spc="100" dirty="0">
                <a:latin typeface="Cambria" panose="02040503050406030204"/>
                <a:cs typeface="Cambria" panose="02040503050406030204"/>
              </a:rPr>
              <a:t>Enter</a:t>
            </a:r>
            <a:r>
              <a:rPr sz="1700" spc="6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z="1700" spc="90" dirty="0">
                <a:latin typeface="Cambria" panose="02040503050406030204"/>
                <a:cs typeface="Cambria" panose="02040503050406030204"/>
              </a:rPr>
              <a:t>a number</a:t>
            </a:r>
            <a:r>
              <a:rPr sz="1700" spc="55" dirty="0">
                <a:latin typeface="Cambria" panose="02040503050406030204"/>
                <a:cs typeface="Cambria" panose="02040503050406030204"/>
              </a:rPr>
              <a:t>:</a:t>
            </a:r>
            <a:r>
              <a:rPr sz="1700" spc="85" dirty="0">
                <a:latin typeface="Cambria" panose="02040503050406030204"/>
                <a:cs typeface="Cambria" panose="02040503050406030204"/>
              </a:rPr>
              <a:t> </a:t>
            </a:r>
            <a:r>
              <a:rPr sz="1700" dirty="0">
                <a:latin typeface="Cambria" panose="02040503050406030204"/>
                <a:cs typeface="Cambria" panose="02040503050406030204"/>
              </a:rPr>
              <a:t>-</a:t>
            </a:r>
            <a:r>
              <a:rPr sz="1700" spc="-50" dirty="0">
                <a:latin typeface="Cambria" panose="02040503050406030204"/>
                <a:cs typeface="Cambria" panose="02040503050406030204"/>
              </a:rPr>
              <a:t>9</a:t>
            </a:r>
            <a:endParaRPr sz="1700" dirty="0">
              <a:latin typeface="Cambria" panose="02040503050406030204"/>
              <a:cs typeface="Cambria" panose="02040503050406030204"/>
            </a:endParaRPr>
          </a:p>
          <a:p>
            <a:pPr marL="12700"/>
            <a:r>
              <a:rPr sz="1700" spc="8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1700" spc="100" dirty="0">
                <a:latin typeface="Cambria" panose="02040503050406030204"/>
                <a:cs typeface="Cambria" panose="02040503050406030204"/>
              </a:rPr>
              <a:t> </a:t>
            </a:r>
            <a:r>
              <a:rPr sz="1700" dirty="0">
                <a:latin typeface="Cambria" panose="02040503050406030204"/>
                <a:cs typeface="Cambria" panose="02040503050406030204"/>
              </a:rPr>
              <a:t>-9</a:t>
            </a:r>
            <a:r>
              <a:rPr sz="1700" spc="100" dirty="0">
                <a:latin typeface="Cambria" panose="02040503050406030204"/>
                <a:cs typeface="Cambria" panose="02040503050406030204"/>
              </a:rPr>
              <a:t> </a:t>
            </a:r>
            <a:r>
              <a:rPr sz="1700" spc="50" dirty="0">
                <a:latin typeface="Cambria" panose="02040503050406030204"/>
                <a:cs typeface="Cambria" panose="02040503050406030204"/>
              </a:rPr>
              <a:t>is</a:t>
            </a:r>
            <a:r>
              <a:rPr sz="1700" spc="114" dirty="0">
                <a:latin typeface="Cambria" panose="02040503050406030204"/>
                <a:cs typeface="Cambria" panose="02040503050406030204"/>
              </a:rPr>
              <a:t> </a:t>
            </a:r>
            <a:r>
              <a:rPr sz="1700" spc="55" dirty="0">
                <a:latin typeface="Cambria" panose="02040503050406030204"/>
                <a:cs typeface="Cambria" panose="02040503050406030204"/>
              </a:rPr>
              <a:t>negative.</a:t>
            </a:r>
            <a:endParaRPr sz="17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0"/>
            <a:ext cx="7620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4180" y="104272"/>
            <a:ext cx="10515600" cy="747769"/>
          </a:xfrm>
          <a:prstGeom prst="rect">
            <a:avLst/>
          </a:prstGeom>
        </p:spPr>
        <p:txBody>
          <a:bodyPr vert="horz" wrap="square" lIns="0" tIns="69977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‘Nested</a:t>
            </a:r>
            <a:r>
              <a:rPr b="1" cap="small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b="1" cap="small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Else’</a:t>
            </a:r>
            <a:r>
              <a:rPr b="1" cap="small" spc="-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0457" y="1081527"/>
            <a:ext cx="7996555" cy="374718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30"/>
              </a:spcBef>
              <a:buClr>
                <a:srgbClr val="FD8537"/>
              </a:buClr>
              <a:buSzPct val="70000"/>
              <a:tabLst>
                <a:tab pos="287020" algn="l"/>
              </a:tabLst>
            </a:pPr>
            <a:r>
              <a:rPr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2400" spc="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0" y="0"/>
            <a:ext cx="762000" cy="838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96202" y="2060449"/>
            <a:ext cx="3426156" cy="41678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onsolas" panose="020B0609020204030204" pitchFamily="49" charset="0"/>
                <a:cs typeface="Cambria" panose="02040503050406030204"/>
              </a:rPr>
              <a:t>if(</a:t>
            </a:r>
            <a:r>
              <a:rPr spc="305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expression1</a:t>
            </a:r>
            <a:r>
              <a:rPr spc="29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60" dirty="0">
                <a:latin typeface="Consolas" panose="020B0609020204030204" pitchFamily="49" charset="0"/>
                <a:cs typeface="Cambria" panose="02040503050406030204"/>
              </a:rPr>
              <a:t>)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2700">
              <a:spcBef>
                <a:spcPts val="5"/>
              </a:spcBef>
            </a:pPr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393700"/>
            <a:r>
              <a:rPr dirty="0">
                <a:latin typeface="Consolas" panose="020B0609020204030204" pitchFamily="49" charset="0"/>
                <a:cs typeface="Cambria" panose="02040503050406030204"/>
              </a:rPr>
              <a:t>if(</a:t>
            </a:r>
            <a:r>
              <a:rPr spc="31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expression2</a:t>
            </a:r>
            <a:r>
              <a:rPr spc="29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)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521335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646430"/>
            <a:r>
              <a:rPr spc="65" dirty="0">
                <a:latin typeface="Consolas" panose="020B0609020204030204" pitchFamily="49" charset="0"/>
                <a:cs typeface="Cambria" panose="02040503050406030204"/>
              </a:rPr>
              <a:t>statement-</a:t>
            </a:r>
            <a:r>
              <a:rPr spc="-10" dirty="0">
                <a:latin typeface="Consolas" panose="020B0609020204030204" pitchFamily="49" charset="0"/>
                <a:cs typeface="Cambria" panose="02040503050406030204"/>
              </a:rPr>
              <a:t>block1;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521335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457200">
              <a:spcBef>
                <a:spcPts val="5"/>
              </a:spcBef>
            </a:pPr>
            <a:r>
              <a:rPr spc="-20" dirty="0">
                <a:latin typeface="Consolas" panose="020B0609020204030204" pitchFamily="49" charset="0"/>
                <a:cs typeface="Cambria" panose="02040503050406030204"/>
              </a:rPr>
              <a:t>else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521335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646430"/>
            <a:r>
              <a:rPr spc="65" dirty="0">
                <a:latin typeface="Consolas" panose="020B0609020204030204" pitchFamily="49" charset="0"/>
                <a:cs typeface="Cambria" panose="02040503050406030204"/>
              </a:rPr>
              <a:t>statement-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block</a:t>
            </a:r>
            <a:r>
              <a:rPr spc="204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25" dirty="0">
                <a:latin typeface="Consolas" panose="020B0609020204030204" pitchFamily="49" charset="0"/>
                <a:cs typeface="Cambria" panose="02040503050406030204"/>
              </a:rPr>
              <a:t>2;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585470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2700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2700">
              <a:spcBef>
                <a:spcPts val="5"/>
              </a:spcBef>
            </a:pPr>
            <a:r>
              <a:rPr spc="-20" dirty="0">
                <a:latin typeface="Consolas" panose="020B0609020204030204" pitchFamily="49" charset="0"/>
                <a:cs typeface="Cambria" panose="02040503050406030204"/>
              </a:rPr>
              <a:t>else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2700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265430"/>
            <a:r>
              <a:rPr spc="65" dirty="0">
                <a:latin typeface="Consolas" panose="020B0609020204030204" pitchFamily="49" charset="0"/>
                <a:cs typeface="Cambria" panose="02040503050406030204"/>
              </a:rPr>
              <a:t>statement-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block</a:t>
            </a:r>
            <a:r>
              <a:rPr spc="22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25" dirty="0">
                <a:latin typeface="Consolas" panose="020B0609020204030204" pitchFamily="49" charset="0"/>
                <a:cs typeface="Cambria" panose="02040503050406030204"/>
              </a:rPr>
              <a:t>3;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2700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77403" y="1821260"/>
            <a:ext cx="3717925" cy="472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onsolas" panose="020B0609020204030204" pitchFamily="49" charset="0"/>
                <a:cs typeface="Cambria" panose="02040503050406030204"/>
              </a:rPr>
              <a:t>if(</a:t>
            </a:r>
            <a:r>
              <a:rPr spc="32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expression1</a:t>
            </a:r>
            <a:r>
              <a:rPr spc="29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25" dirty="0">
                <a:latin typeface="Consolas" panose="020B0609020204030204" pitchFamily="49" charset="0"/>
                <a:cs typeface="Cambria" panose="02040503050406030204"/>
              </a:rPr>
              <a:t>){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436370" marR="59690" indent="-445135">
              <a:spcBef>
                <a:spcPts val="5"/>
              </a:spcBef>
            </a:pPr>
            <a:r>
              <a:rPr dirty="0">
                <a:latin typeface="Consolas" panose="020B0609020204030204" pitchFamily="49" charset="0"/>
                <a:cs typeface="Cambria" panose="02040503050406030204"/>
              </a:rPr>
              <a:t>if(</a:t>
            </a:r>
            <a:r>
              <a:rPr spc="31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expression2</a:t>
            </a:r>
            <a:r>
              <a:rPr spc="29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25" dirty="0">
                <a:latin typeface="Consolas" panose="020B0609020204030204" pitchFamily="49" charset="0"/>
                <a:cs typeface="Cambria" panose="02040503050406030204"/>
              </a:rPr>
              <a:t>){ </a:t>
            </a:r>
            <a:r>
              <a:rPr spc="65" dirty="0">
                <a:latin typeface="Consolas" panose="020B0609020204030204" pitchFamily="49" charset="0"/>
                <a:cs typeface="Cambria" panose="02040503050406030204"/>
              </a:rPr>
              <a:t>statement-</a:t>
            </a:r>
            <a:r>
              <a:rPr spc="-10" dirty="0">
                <a:latin typeface="Consolas" panose="020B0609020204030204" pitchFamily="49" charset="0"/>
                <a:cs typeface="Cambria" panose="02040503050406030204"/>
              </a:rPr>
              <a:t>block1;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991235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991235"/>
            <a:r>
              <a:rPr dirty="0">
                <a:latin typeface="Consolas" panose="020B0609020204030204" pitchFamily="49" charset="0"/>
                <a:cs typeface="Cambria" panose="02040503050406030204"/>
              </a:rPr>
              <a:t>else</a:t>
            </a:r>
            <a:r>
              <a:rPr spc="25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436370"/>
            <a:r>
              <a:rPr spc="65" dirty="0">
                <a:latin typeface="Consolas" panose="020B0609020204030204" pitchFamily="49" charset="0"/>
                <a:cs typeface="Cambria" panose="02040503050406030204"/>
              </a:rPr>
              <a:t>statement-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block</a:t>
            </a:r>
            <a:r>
              <a:rPr spc="20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25" dirty="0">
                <a:latin typeface="Consolas" panose="020B0609020204030204" pitchFamily="49" charset="0"/>
                <a:cs typeface="Cambria" panose="02040503050406030204"/>
              </a:rPr>
              <a:t>2;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927735">
              <a:spcBef>
                <a:spcPts val="5"/>
              </a:spcBef>
            </a:pPr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2700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2700"/>
            <a:r>
              <a:rPr spc="-20" dirty="0">
                <a:latin typeface="Consolas" panose="020B0609020204030204" pitchFamily="49" charset="0"/>
                <a:cs typeface="Cambria" panose="02040503050406030204"/>
              </a:rPr>
              <a:t>else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2700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991235"/>
            <a:r>
              <a:rPr dirty="0">
                <a:latin typeface="Consolas" panose="020B0609020204030204" pitchFamily="49" charset="0"/>
                <a:cs typeface="Cambria" panose="02040503050406030204"/>
              </a:rPr>
              <a:t>if(</a:t>
            </a:r>
            <a:r>
              <a:rPr spc="305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expression3</a:t>
            </a:r>
            <a:r>
              <a:rPr spc="29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35" dirty="0">
                <a:latin typeface="Consolas" panose="020B0609020204030204" pitchFamily="49" charset="0"/>
                <a:cs typeface="Cambria" panose="02040503050406030204"/>
              </a:rPr>
              <a:t>){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436370">
              <a:spcBef>
                <a:spcPts val="5"/>
              </a:spcBef>
            </a:pPr>
            <a:r>
              <a:rPr spc="65" dirty="0">
                <a:latin typeface="Consolas" panose="020B0609020204030204" pitchFamily="49" charset="0"/>
                <a:cs typeface="Cambria" panose="02040503050406030204"/>
              </a:rPr>
              <a:t>statement-</a:t>
            </a:r>
            <a:r>
              <a:rPr spc="-10" dirty="0">
                <a:latin typeface="Consolas" panose="020B0609020204030204" pitchFamily="49" charset="0"/>
                <a:cs typeface="Cambria" panose="02040503050406030204"/>
              </a:rPr>
              <a:t>block3;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991235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991235"/>
            <a:r>
              <a:rPr dirty="0">
                <a:latin typeface="Consolas" panose="020B0609020204030204" pitchFamily="49" charset="0"/>
                <a:cs typeface="Cambria" panose="02040503050406030204"/>
              </a:rPr>
              <a:t>else</a:t>
            </a:r>
            <a:r>
              <a:rPr spc="25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436370"/>
            <a:r>
              <a:rPr spc="65" dirty="0">
                <a:latin typeface="Consolas" panose="020B0609020204030204" pitchFamily="49" charset="0"/>
                <a:cs typeface="Cambria" panose="02040503050406030204"/>
              </a:rPr>
              <a:t>statement-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block</a:t>
            </a:r>
            <a:r>
              <a:rPr spc="195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25" dirty="0">
                <a:latin typeface="Consolas" panose="020B0609020204030204" pitchFamily="49" charset="0"/>
                <a:cs typeface="Cambria" panose="02040503050406030204"/>
              </a:rPr>
              <a:t>4;</a:t>
            </a:r>
            <a:r>
              <a:rPr lang="en-US" dirty="0">
                <a:latin typeface="Consolas" panose="020B0609020204030204" pitchFamily="49" charset="0"/>
                <a:cs typeface="Cambria" panose="02040503050406030204"/>
              </a:rPr>
              <a:t>} 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24870" y="1745640"/>
            <a:ext cx="15875" cy="4797425"/>
          </a:xfrm>
          <a:custGeom>
            <a:avLst/>
            <a:gdLst/>
            <a:ahLst/>
            <a:cxnLst/>
            <a:rect l="l" t="t" r="r" b="b"/>
            <a:pathLst>
              <a:path w="15875" h="4797425">
                <a:moveTo>
                  <a:pt x="0" y="0"/>
                </a:moveTo>
                <a:lnTo>
                  <a:pt x="15748" y="4797187"/>
                </a:lnTo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75870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2326" y="152401"/>
            <a:ext cx="762000" cy="8382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65544" y="152401"/>
            <a:ext cx="91404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buClr>
                <a:srgbClr val="FD8537"/>
              </a:buClr>
              <a:buSzPct val="69000"/>
              <a:tabLst>
                <a:tab pos="286385" algn="l"/>
              </a:tabLst>
            </a:pPr>
            <a:r>
              <a:rPr sz="4000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sz="4000" b="1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  <a:r>
              <a:rPr sz="4000" b="1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000" b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</a:t>
            </a:r>
            <a:r>
              <a:rPr lang="en-US" sz="40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40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sz="4000" b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4000" b="1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sz="4000" b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4000" b="1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2109" y="933179"/>
            <a:ext cx="6120384" cy="528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5670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1061" y="189707"/>
            <a:ext cx="762000" cy="838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418" y="97374"/>
            <a:ext cx="10515600" cy="747769"/>
          </a:xfrm>
          <a:prstGeom prst="rect">
            <a:avLst/>
          </a:prstGeom>
        </p:spPr>
        <p:txBody>
          <a:bodyPr vert="horz" wrap="square" lIns="0" tIns="69977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4400" cap="small" dirty="0"/>
              <a:t>‘If</a:t>
            </a:r>
            <a:r>
              <a:rPr sz="4400" cap="small" spc="50" dirty="0"/>
              <a:t> </a:t>
            </a:r>
            <a:r>
              <a:rPr sz="4400" cap="small" dirty="0"/>
              <a:t>Else</a:t>
            </a:r>
            <a:r>
              <a:rPr sz="4400" cap="small" spc="125" dirty="0"/>
              <a:t> </a:t>
            </a:r>
            <a:r>
              <a:rPr sz="4400" cap="small" spc="-50" dirty="0"/>
              <a:t>Ladder’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10000" y="1219200"/>
            <a:ext cx="2983230" cy="509306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spcBef>
                <a:spcPts val="415"/>
              </a:spcBef>
            </a:pP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if</a:t>
            </a:r>
            <a:r>
              <a:rPr sz="2000" spc="-35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(test</a:t>
            </a:r>
            <a:r>
              <a:rPr sz="2000" spc="-3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expression1)</a:t>
            </a:r>
            <a:r>
              <a:rPr sz="2000" spc="-4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spc="-50" dirty="0">
                <a:latin typeface="Consolas" panose="020B0609020204030204" pitchFamily="49" charset="0"/>
                <a:cs typeface="Times New Roman" panose="02020603050405020304"/>
              </a:rPr>
              <a:t>{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241300">
              <a:spcBef>
                <a:spcPts val="310"/>
              </a:spcBef>
            </a:pP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//</a:t>
            </a:r>
            <a:r>
              <a:rPr sz="2000" spc="-2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spc="-10" dirty="0">
                <a:latin typeface="Consolas" panose="020B0609020204030204" pitchFamily="49" charset="0"/>
                <a:cs typeface="Times New Roman" panose="02020603050405020304"/>
              </a:rPr>
              <a:t>statement(s)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12700">
              <a:spcBef>
                <a:spcPts val="315"/>
              </a:spcBef>
            </a:pPr>
            <a:r>
              <a:rPr sz="2000" spc="-50" dirty="0">
                <a:latin typeface="Consolas" panose="020B0609020204030204" pitchFamily="49" charset="0"/>
                <a:cs typeface="Times New Roman" panose="02020603050405020304"/>
              </a:rPr>
              <a:t>}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12700">
              <a:spcBef>
                <a:spcPts val="315"/>
              </a:spcBef>
            </a:pP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else</a:t>
            </a:r>
            <a:r>
              <a:rPr sz="2000" spc="-35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if(test</a:t>
            </a:r>
            <a:r>
              <a:rPr sz="2000" spc="-35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expression2)</a:t>
            </a:r>
            <a:r>
              <a:rPr sz="2000" spc="-4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spc="-50" dirty="0">
                <a:latin typeface="Consolas" panose="020B0609020204030204" pitchFamily="49" charset="0"/>
                <a:cs typeface="Times New Roman" panose="02020603050405020304"/>
              </a:rPr>
              <a:t>{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241300">
              <a:spcBef>
                <a:spcPts val="310"/>
              </a:spcBef>
            </a:pP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//</a:t>
            </a:r>
            <a:r>
              <a:rPr sz="2000" spc="-2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spc="-10" dirty="0">
                <a:latin typeface="Consolas" panose="020B0609020204030204" pitchFamily="49" charset="0"/>
                <a:cs typeface="Times New Roman" panose="02020603050405020304"/>
              </a:rPr>
              <a:t>statement(s)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12700">
              <a:spcBef>
                <a:spcPts val="315"/>
              </a:spcBef>
            </a:pPr>
            <a:r>
              <a:rPr sz="2000" spc="-50" dirty="0">
                <a:latin typeface="Consolas" panose="020B0609020204030204" pitchFamily="49" charset="0"/>
                <a:cs typeface="Times New Roman" panose="02020603050405020304"/>
              </a:rPr>
              <a:t>}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12700">
              <a:spcBef>
                <a:spcPts val="315"/>
              </a:spcBef>
            </a:pP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else</a:t>
            </a:r>
            <a:r>
              <a:rPr sz="2000" spc="-3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if</a:t>
            </a:r>
            <a:r>
              <a:rPr sz="2000" spc="-25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(test</a:t>
            </a:r>
            <a:r>
              <a:rPr sz="2000" spc="-3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expression3)</a:t>
            </a:r>
            <a:r>
              <a:rPr sz="2000" spc="-35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spc="-50" dirty="0">
                <a:latin typeface="Consolas" panose="020B0609020204030204" pitchFamily="49" charset="0"/>
                <a:cs typeface="Times New Roman" panose="02020603050405020304"/>
              </a:rPr>
              <a:t>{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241300">
              <a:spcBef>
                <a:spcPts val="310"/>
              </a:spcBef>
            </a:pP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//</a:t>
            </a:r>
            <a:r>
              <a:rPr sz="2000" spc="-2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spc="-10" dirty="0">
                <a:latin typeface="Consolas" panose="020B0609020204030204" pitchFamily="49" charset="0"/>
                <a:cs typeface="Times New Roman" panose="02020603050405020304"/>
              </a:rPr>
              <a:t>statement(s)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12700">
              <a:spcBef>
                <a:spcPts val="315"/>
              </a:spcBef>
            </a:pPr>
            <a:r>
              <a:rPr sz="2000" spc="-50" dirty="0">
                <a:latin typeface="Consolas" panose="020B0609020204030204" pitchFamily="49" charset="0"/>
                <a:cs typeface="Times New Roman" panose="02020603050405020304"/>
              </a:rPr>
              <a:t>}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12700">
              <a:spcBef>
                <a:spcPts val="315"/>
              </a:spcBef>
            </a:pP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else</a:t>
            </a:r>
            <a:r>
              <a:rPr sz="2000" spc="-1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spc="-50" dirty="0">
                <a:latin typeface="Consolas" panose="020B0609020204030204" pitchFamily="49" charset="0"/>
                <a:cs typeface="Times New Roman" panose="02020603050405020304"/>
              </a:rPr>
              <a:t>{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241300">
              <a:spcBef>
                <a:spcPts val="310"/>
              </a:spcBef>
            </a:pP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//</a:t>
            </a:r>
            <a:r>
              <a:rPr sz="2000" spc="-2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spc="-10" dirty="0">
                <a:latin typeface="Consolas" panose="020B0609020204030204" pitchFamily="49" charset="0"/>
                <a:cs typeface="Times New Roman" panose="02020603050405020304"/>
              </a:rPr>
              <a:t>statement(s)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12700">
              <a:spcBef>
                <a:spcPts val="315"/>
              </a:spcBef>
            </a:pPr>
            <a:r>
              <a:rPr sz="2000" spc="-50" dirty="0">
                <a:latin typeface="Consolas" panose="020B0609020204030204" pitchFamily="49" charset="0"/>
                <a:cs typeface="Times New Roman" panose="02020603050405020304"/>
              </a:rPr>
              <a:t>}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5138775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1181" y="134160"/>
            <a:ext cx="762000" cy="8382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187" y="1294682"/>
            <a:ext cx="5638800" cy="5257800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xmlns="" id="{1B554E43-D99E-FEE1-D679-35E1C1A15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4" y="12973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US" b="1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  <a:r>
              <a:rPr lang="en-US" b="1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b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b="1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b="1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ladder</a:t>
            </a:r>
            <a:r>
              <a:rPr lang="en-US" b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hi-IN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8142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4856" y="145746"/>
            <a:ext cx="762000" cy="838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77500" y="101555"/>
            <a:ext cx="62370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5785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Statement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67673" y="983946"/>
            <a:ext cx="5600700" cy="56476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000" spc="-10" dirty="0">
                <a:latin typeface="Consolas" panose="020B0609020204030204" pitchFamily="49" charset="0"/>
                <a:cs typeface="Cambria" panose="02040503050406030204"/>
              </a:rPr>
              <a:t>switch(expression)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12700">
              <a:lnSpc>
                <a:spcPts val="2595"/>
              </a:lnSpc>
            </a:pPr>
            <a:r>
              <a:rPr sz="2000" spc="-50" dirty="0">
                <a:latin typeface="Consolas" panose="020B0609020204030204" pitchFamily="49" charset="0"/>
                <a:cs typeface="Cambria" panose="02040503050406030204"/>
              </a:rPr>
              <a:t>{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347980">
              <a:lnSpc>
                <a:spcPts val="2595"/>
              </a:lnSpc>
            </a:pPr>
            <a:r>
              <a:rPr sz="2000" spc="55" dirty="0">
                <a:latin typeface="Consolas" panose="020B0609020204030204" pitchFamily="49" charset="0"/>
                <a:cs typeface="Cambria" panose="02040503050406030204"/>
              </a:rPr>
              <a:t>case</a:t>
            </a:r>
            <a:r>
              <a:rPr sz="2000" spc="15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95" dirty="0">
                <a:latin typeface="Consolas" panose="020B0609020204030204" pitchFamily="49" charset="0"/>
                <a:cs typeface="Cambria" panose="02040503050406030204"/>
              </a:rPr>
              <a:t>value_1: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686435">
              <a:lnSpc>
                <a:spcPts val="2595"/>
              </a:lnSpc>
            </a:pPr>
            <a:r>
              <a:rPr sz="2000" spc="-110" dirty="0">
                <a:latin typeface="Consolas" panose="020B0609020204030204" pitchFamily="49" charset="0"/>
                <a:cs typeface="Cambria" panose="02040503050406030204"/>
              </a:rPr>
              <a:t>/*</a:t>
            </a:r>
            <a:r>
              <a:rPr sz="2000" spc="65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60" dirty="0">
                <a:latin typeface="Consolas" panose="020B0609020204030204" pitchFamily="49" charset="0"/>
                <a:cs typeface="Cambria" panose="02040503050406030204"/>
              </a:rPr>
              <a:t>Statement/s</a:t>
            </a:r>
            <a:r>
              <a:rPr sz="2000" spc="8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-100" dirty="0">
                <a:latin typeface="Consolas" panose="020B0609020204030204" pitchFamily="49" charset="0"/>
                <a:cs typeface="Cambria" panose="02040503050406030204"/>
              </a:rPr>
              <a:t>*/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686435">
              <a:lnSpc>
                <a:spcPts val="2735"/>
              </a:lnSpc>
            </a:pPr>
            <a:r>
              <a:rPr sz="2000" spc="55" dirty="0">
                <a:latin typeface="Consolas" panose="020B0609020204030204" pitchFamily="49" charset="0"/>
                <a:cs typeface="Cambria" panose="02040503050406030204"/>
              </a:rPr>
              <a:t>break;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347980">
              <a:lnSpc>
                <a:spcPts val="2735"/>
              </a:lnSpc>
              <a:spcBef>
                <a:spcPts val="2305"/>
              </a:spcBef>
            </a:pPr>
            <a:r>
              <a:rPr sz="2000" spc="55" dirty="0">
                <a:latin typeface="Consolas" panose="020B0609020204030204" pitchFamily="49" charset="0"/>
                <a:cs typeface="Cambria" panose="02040503050406030204"/>
              </a:rPr>
              <a:t>case</a:t>
            </a:r>
            <a:r>
              <a:rPr sz="2000" spc="15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95" dirty="0">
                <a:latin typeface="Consolas" panose="020B0609020204030204" pitchFamily="49" charset="0"/>
                <a:cs typeface="Cambria" panose="02040503050406030204"/>
              </a:rPr>
              <a:t>value_2: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686435">
              <a:lnSpc>
                <a:spcPts val="2595"/>
              </a:lnSpc>
            </a:pPr>
            <a:r>
              <a:rPr sz="2000" spc="-110" dirty="0">
                <a:latin typeface="Consolas" panose="020B0609020204030204" pitchFamily="49" charset="0"/>
                <a:cs typeface="Cambria" panose="02040503050406030204"/>
              </a:rPr>
              <a:t>/*</a:t>
            </a:r>
            <a:r>
              <a:rPr sz="2000" spc="65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60" dirty="0">
                <a:latin typeface="Consolas" panose="020B0609020204030204" pitchFamily="49" charset="0"/>
                <a:cs typeface="Cambria" panose="02040503050406030204"/>
              </a:rPr>
              <a:t>Statement/s</a:t>
            </a:r>
            <a:r>
              <a:rPr sz="2000" spc="8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-100" dirty="0">
                <a:latin typeface="Consolas" panose="020B0609020204030204" pitchFamily="49" charset="0"/>
                <a:cs typeface="Cambria" panose="02040503050406030204"/>
              </a:rPr>
              <a:t>*/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686435">
              <a:lnSpc>
                <a:spcPts val="2735"/>
              </a:lnSpc>
            </a:pPr>
            <a:r>
              <a:rPr sz="2000" spc="55" dirty="0">
                <a:latin typeface="Consolas" panose="020B0609020204030204" pitchFamily="49" charset="0"/>
                <a:cs typeface="Cambria" panose="02040503050406030204"/>
              </a:rPr>
              <a:t>break;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347980">
              <a:lnSpc>
                <a:spcPts val="2735"/>
              </a:lnSpc>
              <a:spcBef>
                <a:spcPts val="2305"/>
              </a:spcBef>
            </a:pPr>
            <a:r>
              <a:rPr sz="2000" spc="55" dirty="0">
                <a:latin typeface="Consolas" panose="020B0609020204030204" pitchFamily="49" charset="0"/>
                <a:cs typeface="Cambria" panose="02040503050406030204"/>
              </a:rPr>
              <a:t>case</a:t>
            </a:r>
            <a:r>
              <a:rPr sz="2000" spc="15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105" dirty="0">
                <a:latin typeface="Consolas" panose="020B0609020204030204" pitchFamily="49" charset="0"/>
                <a:cs typeface="Cambria" panose="02040503050406030204"/>
              </a:rPr>
              <a:t>value_n: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686435">
              <a:lnSpc>
                <a:spcPts val="2595"/>
              </a:lnSpc>
            </a:pPr>
            <a:r>
              <a:rPr sz="2000" spc="-110" dirty="0">
                <a:latin typeface="Consolas" panose="020B0609020204030204" pitchFamily="49" charset="0"/>
                <a:cs typeface="Cambria" panose="02040503050406030204"/>
              </a:rPr>
              <a:t>/*</a:t>
            </a:r>
            <a:r>
              <a:rPr sz="2000" spc="65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60" dirty="0">
                <a:latin typeface="Consolas" panose="020B0609020204030204" pitchFamily="49" charset="0"/>
                <a:cs typeface="Cambria" panose="02040503050406030204"/>
              </a:rPr>
              <a:t>Statement/s</a:t>
            </a:r>
            <a:r>
              <a:rPr sz="2000" spc="8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-100" dirty="0">
                <a:latin typeface="Consolas" panose="020B0609020204030204" pitchFamily="49" charset="0"/>
                <a:cs typeface="Cambria" panose="02040503050406030204"/>
              </a:rPr>
              <a:t>*/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686435">
              <a:lnSpc>
                <a:spcPts val="2735"/>
              </a:lnSpc>
            </a:pPr>
            <a:r>
              <a:rPr sz="2000" spc="55" dirty="0">
                <a:latin typeface="Consolas" panose="020B0609020204030204" pitchFamily="49" charset="0"/>
                <a:cs typeface="Cambria" panose="02040503050406030204"/>
              </a:rPr>
              <a:t>break;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347980">
              <a:lnSpc>
                <a:spcPts val="2735"/>
              </a:lnSpc>
              <a:spcBef>
                <a:spcPts val="2310"/>
              </a:spcBef>
            </a:pPr>
            <a:r>
              <a:rPr sz="2000" spc="75" dirty="0">
                <a:latin typeface="Consolas" panose="020B0609020204030204" pitchFamily="49" charset="0"/>
                <a:cs typeface="Cambria" panose="02040503050406030204"/>
              </a:rPr>
              <a:t>default: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686435">
              <a:lnSpc>
                <a:spcPts val="2595"/>
              </a:lnSpc>
            </a:pPr>
            <a:r>
              <a:rPr sz="2000" spc="-110" dirty="0">
                <a:latin typeface="Consolas" panose="020B0609020204030204" pitchFamily="49" charset="0"/>
                <a:cs typeface="Cambria" panose="02040503050406030204"/>
              </a:rPr>
              <a:t>/*</a:t>
            </a:r>
            <a:r>
              <a:rPr sz="2000" spc="65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60" dirty="0">
                <a:latin typeface="Consolas" panose="020B0609020204030204" pitchFamily="49" charset="0"/>
                <a:cs typeface="Cambria" panose="02040503050406030204"/>
              </a:rPr>
              <a:t>Statement/s</a:t>
            </a:r>
            <a:r>
              <a:rPr sz="2000" spc="8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-100" dirty="0">
                <a:latin typeface="Consolas" panose="020B0609020204030204" pitchFamily="49" charset="0"/>
                <a:cs typeface="Cambria" panose="02040503050406030204"/>
              </a:rPr>
              <a:t>*/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12700">
              <a:lnSpc>
                <a:spcPts val="2735"/>
              </a:lnSpc>
            </a:pPr>
            <a:r>
              <a:rPr sz="2000"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7BCE3F21-F0E4-DA66-184F-85FE6FDE259D}"/>
              </a:ext>
            </a:extLst>
          </p:cNvPr>
          <p:cNvSpPr txBox="1"/>
          <p:nvPr/>
        </p:nvSpPr>
        <p:spPr>
          <a:xfrm>
            <a:off x="457200" y="1259175"/>
            <a:ext cx="466769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switch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branching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becomes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spc="-2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</a:t>
            </a:r>
            <a:r>
              <a:rPr lang="es-419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spc="5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difficult</a:t>
            </a:r>
            <a:r>
              <a:rPr lang="es-419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complicated to use if and if-else constructs.</a:t>
            </a:r>
          </a:p>
          <a:p>
            <a:endParaRPr lang="es-419" dirty="0">
              <a:latin typeface="Cambria" panose="02040503050406030204"/>
              <a:cs typeface="Cambria" panose="02040503050406030204"/>
            </a:endParaRPr>
          </a:p>
          <a:p>
            <a:endParaRPr lang="es-419" dirty="0"/>
          </a:p>
          <a:p>
            <a:endParaRPr lang="es-419" dirty="0"/>
          </a:p>
          <a:p>
            <a:endParaRPr lang="es-419" dirty="0"/>
          </a:p>
          <a:p>
            <a:endParaRPr lang="es-419" dirty="0"/>
          </a:p>
          <a:p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12339869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0"/>
            <a:ext cx="762000" cy="8382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1200" y="1066800"/>
            <a:ext cx="8229600" cy="5562600"/>
          </a:xfrm>
          <a:prstGeom prst="rect">
            <a:avLst/>
          </a:prstGeom>
        </p:spPr>
      </p:pic>
      <p:sp>
        <p:nvSpPr>
          <p:cNvPr id="12" name="Title 16">
            <a:extLst>
              <a:ext uri="{FF2B5EF4-FFF2-40B4-BE49-F238E27FC236}">
                <a16:creationId xmlns:a16="http://schemas.microsoft.com/office/drawing/2014/main" xmlns="" id="{454DF80B-3445-C559-0A31-C123AF5F6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4" y="129731"/>
            <a:ext cx="10515600" cy="1041524"/>
          </a:xfrm>
        </p:spPr>
        <p:txBody>
          <a:bodyPr>
            <a:normAutofit/>
          </a:bodyPr>
          <a:lstStyle/>
          <a:p>
            <a:pPr algn="ctr"/>
            <a:r>
              <a:rPr lang="en-US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US" b="1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  <a:r>
              <a:rPr lang="en-US" b="1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b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en-US" b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hi-IN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5093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6028" y="136587"/>
            <a:ext cx="762000" cy="838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2767" y="136587"/>
            <a:ext cx="10515600" cy="565026"/>
          </a:xfrm>
          <a:prstGeom prst="rect">
            <a:avLst/>
          </a:prstGeom>
        </p:spPr>
        <p:txBody>
          <a:bodyPr vert="horz" wrap="square" lIns="0" tIns="132842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cap="small" dirty="0"/>
              <a:t>C</a:t>
            </a:r>
            <a:r>
              <a:rPr lang="en-US" sz="2800" cap="small" dirty="0"/>
              <a:t>++</a:t>
            </a:r>
            <a:r>
              <a:rPr sz="2800" cap="small" spc="-65" dirty="0"/>
              <a:t> </a:t>
            </a:r>
            <a:r>
              <a:rPr sz="2800" cap="small" dirty="0"/>
              <a:t>program</a:t>
            </a:r>
            <a:r>
              <a:rPr sz="2800" cap="small" spc="35" dirty="0"/>
              <a:t> </a:t>
            </a:r>
            <a:r>
              <a:rPr sz="2800" cap="small" dirty="0"/>
              <a:t>to</a:t>
            </a:r>
            <a:r>
              <a:rPr sz="2800" cap="small" spc="55" dirty="0"/>
              <a:t> </a:t>
            </a:r>
            <a:r>
              <a:rPr sz="2800" cap="small" dirty="0"/>
              <a:t>print</a:t>
            </a:r>
            <a:r>
              <a:rPr sz="2800" cap="small" spc="45" dirty="0"/>
              <a:t> </a:t>
            </a:r>
            <a:r>
              <a:rPr sz="2800" cap="small" dirty="0"/>
              <a:t>name</a:t>
            </a:r>
            <a:r>
              <a:rPr sz="2800" cap="small" spc="65" dirty="0"/>
              <a:t> </a:t>
            </a:r>
            <a:r>
              <a:rPr sz="2800" cap="small" dirty="0"/>
              <a:t>of</a:t>
            </a:r>
            <a:r>
              <a:rPr sz="2800" cap="small" spc="-60" dirty="0"/>
              <a:t> </a:t>
            </a:r>
            <a:r>
              <a:rPr sz="2800" cap="small" dirty="0"/>
              <a:t>the</a:t>
            </a:r>
            <a:r>
              <a:rPr sz="2800" cap="small" spc="70" dirty="0"/>
              <a:t> </a:t>
            </a:r>
            <a:r>
              <a:rPr sz="2800" cap="small" spc="-30" dirty="0"/>
              <a:t>day</a:t>
            </a:r>
            <a:r>
              <a:rPr sz="2800" cap="small" spc="-5" dirty="0"/>
              <a:t> </a:t>
            </a:r>
            <a:r>
              <a:rPr sz="2800" cap="small" dirty="0"/>
              <a:t>of</a:t>
            </a:r>
            <a:r>
              <a:rPr sz="2800" cap="small" spc="-55" dirty="0"/>
              <a:t> </a:t>
            </a:r>
            <a:r>
              <a:rPr sz="2800" cap="small" spc="-45" dirty="0"/>
              <a:t>week.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1010938" y="849304"/>
            <a:ext cx="8376919" cy="6008696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#include &lt;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iostream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&gt;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using namespace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std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main() {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day;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"Enter a number (1-7): ";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cin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&gt;&gt; day;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switch (day) {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    case 1: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"Sunday"; break;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    case 2: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"Monday"; break;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    case 3: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"Tuesday"; break;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    case 4: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"Wednesday"; break;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    case 5: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"Thursday"; break;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    case 6: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"Friday"; break;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    case 7: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"Saturday"; break;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    default: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"Invalid input! Please enter number between 1 and 7.";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}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return 0;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sz="1600" dirty="0">
              <a:latin typeface="Consolas" panose="020B0609020204030204" pitchFamily="49" charset="0"/>
              <a:cs typeface="Cambria" panose="0204050305040603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0469" y="4298398"/>
            <a:ext cx="355701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541" y="145746"/>
            <a:ext cx="8376919" cy="492443"/>
          </a:xfrm>
        </p:spPr>
        <p:txBody>
          <a:bodyPr/>
          <a:lstStyle/>
          <a:p>
            <a:r>
              <a:rPr lang="en-US" cap="small" spc="290" dirty="0">
                <a:latin typeface="Cambria" panose="02040503050406030204"/>
                <a:cs typeface="Cambria" panose="02040503050406030204"/>
              </a:rPr>
              <a:t>How</a:t>
            </a:r>
            <a:r>
              <a:rPr lang="en-US" cap="small" spc="36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cap="small" spc="350" dirty="0">
                <a:latin typeface="Cambria" panose="02040503050406030204"/>
                <a:cs typeface="Cambria" panose="02040503050406030204"/>
              </a:rPr>
              <a:t>break</a:t>
            </a:r>
            <a:r>
              <a:rPr lang="en-US" cap="small" spc="37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cap="small" spc="320" dirty="0">
                <a:latin typeface="Cambria" panose="02040503050406030204"/>
                <a:cs typeface="Cambria" panose="02040503050406030204"/>
              </a:rPr>
              <a:t>statement</a:t>
            </a:r>
            <a:r>
              <a:rPr lang="en-US" cap="small" spc="34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cap="small" spc="245" dirty="0">
                <a:latin typeface="Cambria" panose="02040503050406030204"/>
                <a:cs typeface="Cambria" panose="02040503050406030204"/>
              </a:rPr>
              <a:t>works?</a:t>
            </a:r>
            <a:endParaRPr lang="en-US" dirty="0"/>
          </a:p>
        </p:txBody>
      </p:sp>
      <p:pic>
        <p:nvPicPr>
          <p:cNvPr id="5" name="object 4"/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2819400" y="1143001"/>
            <a:ext cx="6172200" cy="5029199"/>
          </a:xfrm>
          <a:prstGeom prst="rect">
            <a:avLst/>
          </a:prstGeom>
        </p:spPr>
      </p:pic>
      <p:pic>
        <p:nvPicPr>
          <p:cNvPr id="3" name="object 2">
            <a:extLst>
              <a:ext uri="{FF2B5EF4-FFF2-40B4-BE49-F238E27FC236}">
                <a16:creationId xmlns:a16="http://schemas.microsoft.com/office/drawing/2014/main" xmlns="" id="{38703B9E-4F99-44A7-6870-4571F8E3AC4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76028" y="136587"/>
            <a:ext cx="7620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163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321" y="164898"/>
            <a:ext cx="9556679" cy="567463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/>
              <a:t>C</a:t>
            </a:r>
            <a:r>
              <a:rPr lang="en-US" sz="1800" dirty="0"/>
              <a:t>++</a:t>
            </a:r>
            <a:r>
              <a:rPr sz="1800" spc="-15" dirty="0"/>
              <a:t> </a:t>
            </a:r>
            <a:r>
              <a:rPr sz="1800" dirty="0"/>
              <a:t>PROGRAM</a:t>
            </a:r>
            <a:r>
              <a:rPr sz="1800" spc="125" dirty="0"/>
              <a:t> </a:t>
            </a:r>
            <a:r>
              <a:rPr sz="1800" dirty="0"/>
              <a:t>TO</a:t>
            </a:r>
            <a:r>
              <a:rPr sz="1800" spc="120" dirty="0"/>
              <a:t> </a:t>
            </a:r>
            <a:r>
              <a:rPr sz="1800" dirty="0"/>
              <a:t>CHECK</a:t>
            </a:r>
            <a:r>
              <a:rPr sz="1800" spc="95" dirty="0"/>
              <a:t> </a:t>
            </a:r>
            <a:r>
              <a:rPr sz="1800" dirty="0"/>
              <a:t>VOWEL</a:t>
            </a:r>
            <a:r>
              <a:rPr sz="1800" spc="50" dirty="0"/>
              <a:t> </a:t>
            </a:r>
            <a:r>
              <a:rPr sz="1800" dirty="0"/>
              <a:t>OR</a:t>
            </a:r>
            <a:r>
              <a:rPr sz="1800" spc="145" dirty="0"/>
              <a:t> </a:t>
            </a:r>
            <a:r>
              <a:rPr sz="1800" dirty="0"/>
              <a:t>CONSONANT</a:t>
            </a:r>
            <a:r>
              <a:rPr sz="1800" spc="105" dirty="0"/>
              <a:t> </a:t>
            </a:r>
            <a:r>
              <a:rPr sz="1800" dirty="0"/>
              <a:t>USING</a:t>
            </a:r>
            <a:r>
              <a:rPr sz="1800" spc="145" dirty="0"/>
              <a:t> </a:t>
            </a:r>
            <a:r>
              <a:rPr sz="1800" dirty="0"/>
              <a:t>SWITCH</a:t>
            </a:r>
            <a:r>
              <a:rPr sz="1800" spc="150" dirty="0"/>
              <a:t> </a:t>
            </a:r>
            <a:r>
              <a:rPr sz="1800" spc="-20" dirty="0"/>
              <a:t>CASE</a:t>
            </a:r>
            <a:r>
              <a:rPr lang="en-US" sz="1800" spc="-20" dirty="0"/>
              <a:t> (break statement using in each case)</a:t>
            </a:r>
            <a:endParaRPr sz="1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0"/>
            <a:ext cx="762000" cy="838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20014" y="769177"/>
            <a:ext cx="8229600" cy="60862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#include &lt;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iostream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&gt;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using namespace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std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;</a:t>
            </a:r>
          </a:p>
          <a:p>
            <a:pPr marL="12700">
              <a:spcBef>
                <a:spcPts val="100"/>
              </a:spcBef>
            </a:pPr>
            <a:r>
              <a:rPr lang="en-US" dirty="0" err="1">
                <a:latin typeface="Consolas" panose="020B0609020204030204"/>
                <a:cs typeface="Consolas" panose="020B0609020204030204"/>
              </a:rPr>
              <a:t>int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main() {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char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ch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"Enter any alphabet: ";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cin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&gt;&gt;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ch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switch(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ch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) {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'a':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'e':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i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'o':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'u':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'A':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'E':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'I':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'O':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'U':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default: 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"Consonant";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}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return 0;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}</a:t>
            </a:r>
            <a:endParaRPr dirty="0">
              <a:latin typeface="Consolas" panose="020B0609020204030204"/>
              <a:cs typeface="Consolas" panose="020B060902020403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54737" y="2859087"/>
            <a:ext cx="2743199" cy="1975485"/>
            <a:chOff x="4724400" y="3581400"/>
            <a:chExt cx="4026535" cy="197548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4400" y="4724400"/>
              <a:ext cx="4026407" cy="8321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4400" y="3581400"/>
              <a:ext cx="4026407" cy="7833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21940" y="296842"/>
            <a:ext cx="727899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419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Switch Vs </a:t>
            </a:r>
            <a:r>
              <a:rPr lang="es-419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Else-If</a:t>
            </a:r>
            <a:r>
              <a:rPr lang="es-419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Ladder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607438"/>
              </p:ext>
            </p:extLst>
          </p:nvPr>
        </p:nvGraphicFramePr>
        <p:xfrm>
          <a:off x="1943100" y="1964218"/>
          <a:ext cx="8305800" cy="3938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spc="185" dirty="0">
                          <a:latin typeface="Cambria" panose="02040503050406030204"/>
                          <a:cs typeface="Cambria" panose="02040503050406030204"/>
                        </a:rPr>
                        <a:t>S.</a:t>
                      </a:r>
                      <a:r>
                        <a:rPr sz="2000" b="1" spc="16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spc="120" dirty="0">
                          <a:latin typeface="Cambria" panose="02040503050406030204"/>
                          <a:cs typeface="Cambria" panose="02040503050406030204"/>
                        </a:rPr>
                        <a:t>No.</a:t>
                      </a:r>
                      <a:endParaRPr sz="2000" dirty="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spc="155" dirty="0">
                          <a:latin typeface="Cambria" panose="02040503050406030204"/>
                          <a:cs typeface="Cambria" panose="02040503050406030204"/>
                        </a:rPr>
                        <a:t>Switch</a:t>
                      </a:r>
                      <a:endParaRPr sz="2000" dirty="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Else-If Ladder</a:t>
                      </a:r>
                      <a:endParaRPr sz="20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000" b="1" spc="-50" dirty="0">
                          <a:latin typeface="Cambria" panose="02040503050406030204"/>
                          <a:cs typeface="Cambria" panose="02040503050406030204"/>
                        </a:rPr>
                        <a:t>1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85725" algn="just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2000" spc="125" dirty="0">
                          <a:latin typeface="Cambria" panose="02040503050406030204"/>
                          <a:cs typeface="Cambria" panose="02040503050406030204"/>
                        </a:rPr>
                        <a:t>It</a:t>
                      </a:r>
                      <a:r>
                        <a:rPr sz="2000" spc="395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50" dirty="0">
                          <a:latin typeface="Cambria" panose="02040503050406030204"/>
                          <a:cs typeface="Cambria" panose="02040503050406030204"/>
                        </a:rPr>
                        <a:t>executes</a:t>
                      </a:r>
                      <a:r>
                        <a:rPr sz="2000" spc="405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65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000" spc="415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40" dirty="0">
                          <a:latin typeface="Cambria" panose="02040503050406030204"/>
                          <a:cs typeface="Cambria" panose="02040503050406030204"/>
                        </a:rPr>
                        <a:t>different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cases</a:t>
                      </a:r>
                      <a:r>
                        <a:rPr sz="2000" spc="190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on</a:t>
                      </a:r>
                      <a:r>
                        <a:rPr sz="2000" spc="200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70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000" spc="204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55" dirty="0">
                          <a:latin typeface="Cambria" panose="02040503050406030204"/>
                          <a:cs typeface="Cambria" panose="02040503050406030204"/>
                        </a:rPr>
                        <a:t>basis</a:t>
                      </a:r>
                      <a:r>
                        <a:rPr sz="2000" spc="190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of</a:t>
                      </a:r>
                      <a:r>
                        <a:rPr sz="2000" spc="204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45" dirty="0">
                          <a:latin typeface="Cambria" panose="02040503050406030204"/>
                          <a:cs typeface="Cambria" panose="02040503050406030204"/>
                        </a:rPr>
                        <a:t>the </a:t>
                      </a:r>
                      <a:r>
                        <a:rPr sz="2000" spc="80" dirty="0">
                          <a:latin typeface="Cambria" panose="02040503050406030204"/>
                          <a:cs typeface="Cambria" panose="02040503050406030204"/>
                        </a:rPr>
                        <a:t>value</a:t>
                      </a:r>
                      <a:r>
                        <a:rPr sz="2000" spc="375" dirty="0">
                          <a:latin typeface="Cambria" panose="02040503050406030204"/>
                          <a:cs typeface="Cambria" panose="02040503050406030204"/>
                        </a:rPr>
                        <a:t>   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of</a:t>
                      </a:r>
                      <a:r>
                        <a:rPr sz="2000" spc="375" dirty="0">
                          <a:latin typeface="Cambria" panose="02040503050406030204"/>
                          <a:cs typeface="Cambria" panose="02040503050406030204"/>
                        </a:rPr>
                        <a:t>    </a:t>
                      </a:r>
                      <a:r>
                        <a:rPr sz="2000" spc="70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000" spc="375" dirty="0">
                          <a:latin typeface="Cambria" panose="02040503050406030204"/>
                          <a:cs typeface="Cambria" panose="02040503050406030204"/>
                        </a:rPr>
                        <a:t>    </a:t>
                      </a:r>
                      <a:r>
                        <a:rPr sz="2000" spc="40" dirty="0">
                          <a:latin typeface="Cambria" panose="02040503050406030204"/>
                          <a:cs typeface="Cambria" panose="02040503050406030204"/>
                        </a:rPr>
                        <a:t>switch </a:t>
                      </a:r>
                      <a:r>
                        <a:rPr sz="2000" spc="60" dirty="0">
                          <a:latin typeface="Cambria" panose="02040503050406030204"/>
                          <a:cs typeface="Cambria" panose="02040503050406030204"/>
                        </a:rPr>
                        <a:t>variable.</a:t>
                      </a:r>
                      <a:endParaRPr sz="2000" dirty="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83820" algn="just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2000" spc="125" dirty="0">
                          <a:latin typeface="Cambria" panose="02040503050406030204"/>
                          <a:cs typeface="Cambria" panose="02040503050406030204"/>
                        </a:rPr>
                        <a:t>It</a:t>
                      </a:r>
                      <a:r>
                        <a:rPr sz="2000" spc="315" dirty="0">
                          <a:latin typeface="Cambria" panose="02040503050406030204"/>
                          <a:cs typeface="Cambria" panose="02040503050406030204"/>
                        </a:rPr>
                        <a:t>   </a:t>
                      </a:r>
                      <a:r>
                        <a:rPr sz="2000" spc="55" dirty="0">
                          <a:latin typeface="Cambria" panose="02040503050406030204"/>
                          <a:cs typeface="Cambria" panose="02040503050406030204"/>
                        </a:rPr>
                        <a:t>executes</a:t>
                      </a:r>
                      <a:r>
                        <a:rPr sz="2000" spc="315" dirty="0">
                          <a:latin typeface="Cambria" panose="02040503050406030204"/>
                          <a:cs typeface="Cambria" panose="02040503050406030204"/>
                        </a:rPr>
                        <a:t>   </a:t>
                      </a:r>
                      <a:r>
                        <a:rPr sz="2000" spc="70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000" spc="325" dirty="0">
                          <a:latin typeface="Cambria" panose="02040503050406030204"/>
                          <a:cs typeface="Cambria" panose="02040503050406030204"/>
                        </a:rPr>
                        <a:t>   </a:t>
                      </a:r>
                      <a:r>
                        <a:rPr sz="2000" spc="45" dirty="0">
                          <a:latin typeface="Cambria" panose="02040503050406030204"/>
                          <a:cs typeface="Cambria" panose="02040503050406030204"/>
                        </a:rPr>
                        <a:t>different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blocks</a:t>
                      </a:r>
                      <a:r>
                        <a:rPr sz="2000" spc="30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based</a:t>
                      </a:r>
                      <a:r>
                        <a:rPr sz="2000" spc="31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on</a:t>
                      </a:r>
                      <a:r>
                        <a:rPr sz="2000" spc="30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70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000" spc="31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condition specified.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282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000" b="1" spc="-50" dirty="0">
                          <a:latin typeface="Cambria" panose="02040503050406030204"/>
                          <a:cs typeface="Cambria" panose="02040503050406030204"/>
                        </a:rPr>
                        <a:t>2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86995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2000" spc="125" dirty="0">
                          <a:latin typeface="Cambria" panose="02040503050406030204"/>
                          <a:cs typeface="Cambria" panose="02040503050406030204"/>
                        </a:rPr>
                        <a:t>It</a:t>
                      </a:r>
                      <a:r>
                        <a:rPr sz="2000" spc="2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65" dirty="0">
                          <a:latin typeface="Cambria" panose="02040503050406030204"/>
                          <a:cs typeface="Cambria" panose="02040503050406030204"/>
                        </a:rPr>
                        <a:t>can</a:t>
                      </a:r>
                      <a:r>
                        <a:rPr sz="2000" spc="254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only</a:t>
                      </a:r>
                      <a:r>
                        <a:rPr sz="2000" spc="26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75" dirty="0">
                          <a:latin typeface="Cambria" panose="02040503050406030204"/>
                          <a:cs typeface="Cambria" panose="02040503050406030204"/>
                        </a:rPr>
                        <a:t>evaluate</a:t>
                      </a:r>
                      <a:r>
                        <a:rPr sz="2000" spc="26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70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000" spc="26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55" dirty="0">
                          <a:latin typeface="Cambria" panose="02040503050406030204"/>
                          <a:cs typeface="Cambria" panose="02040503050406030204"/>
                        </a:rPr>
                        <a:t>int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or</a:t>
                      </a:r>
                      <a:r>
                        <a:rPr sz="2000" spc="17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70" dirty="0">
                          <a:latin typeface="Cambria" panose="02040503050406030204"/>
                          <a:cs typeface="Cambria" panose="02040503050406030204"/>
                        </a:rPr>
                        <a:t>char</a:t>
                      </a:r>
                      <a:r>
                        <a:rPr sz="2000" spc="17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type</a:t>
                      </a:r>
                      <a:r>
                        <a:rPr sz="2000" spc="15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40" dirty="0">
                          <a:latin typeface="Cambria" panose="02040503050406030204"/>
                          <a:cs typeface="Cambria" panose="02040503050406030204"/>
                        </a:rPr>
                        <a:t>expressions.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9375">
                        <a:lnSpc>
                          <a:spcPct val="100000"/>
                        </a:lnSpc>
                        <a:spcBef>
                          <a:spcPts val="1030"/>
                        </a:spcBef>
                        <a:tabLst>
                          <a:tab pos="438150" algn="l"/>
                          <a:tab pos="986790" algn="l"/>
                          <a:tab pos="2133600" algn="l"/>
                          <a:tab pos="2706370" algn="l"/>
                          <a:tab pos="3355975" algn="l"/>
                        </a:tabLst>
                      </a:pPr>
                      <a:r>
                        <a:rPr sz="2000" spc="100" dirty="0">
                          <a:latin typeface="Cambria" panose="02040503050406030204"/>
                          <a:cs typeface="Cambria" panose="02040503050406030204"/>
                        </a:rPr>
                        <a:t>It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	</a:t>
                      </a:r>
                      <a:r>
                        <a:rPr sz="2000" spc="40" dirty="0">
                          <a:latin typeface="Cambria" panose="02040503050406030204"/>
                          <a:cs typeface="Cambria" panose="02040503050406030204"/>
                        </a:rPr>
                        <a:t>can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	</a:t>
                      </a:r>
                      <a:r>
                        <a:rPr sz="2000" spc="70" dirty="0">
                          <a:latin typeface="Cambria" panose="02040503050406030204"/>
                          <a:cs typeface="Cambria" panose="02040503050406030204"/>
                        </a:rPr>
                        <a:t>evaluate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	</a:t>
                      </a:r>
                      <a:r>
                        <a:rPr sz="2000" spc="60" dirty="0">
                          <a:latin typeface="Cambria" panose="02040503050406030204"/>
                          <a:cs typeface="Cambria" panose="02040503050406030204"/>
                        </a:rPr>
                        <a:t>any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	</a:t>
                      </a:r>
                      <a:r>
                        <a:rPr sz="2000" spc="-20" dirty="0">
                          <a:latin typeface="Cambria" panose="02040503050406030204"/>
                          <a:cs typeface="Cambria" panose="02040503050406030204"/>
                        </a:rPr>
                        <a:t>type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	</a:t>
                      </a:r>
                      <a:r>
                        <a:rPr sz="2000" spc="-25" dirty="0">
                          <a:latin typeface="Cambria" panose="02040503050406030204"/>
                          <a:cs typeface="Cambria" panose="02040503050406030204"/>
                        </a:rPr>
                        <a:t>of </a:t>
                      </a:r>
                      <a:r>
                        <a:rPr sz="2000" spc="40" dirty="0">
                          <a:latin typeface="Cambria" panose="02040503050406030204"/>
                          <a:cs typeface="Cambria" panose="02040503050406030204"/>
                        </a:rPr>
                        <a:t>expression.</a:t>
                      </a:r>
                      <a:endParaRPr sz="2000" dirty="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000" b="1" spc="-50" dirty="0">
                          <a:latin typeface="Cambria" panose="02040503050406030204"/>
                          <a:cs typeface="Cambria" panose="02040503050406030204"/>
                        </a:rPr>
                        <a:t>3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83820" algn="just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2000" spc="95" dirty="0">
                          <a:latin typeface="Cambria" panose="02040503050406030204"/>
                          <a:cs typeface="Cambria" panose="02040503050406030204"/>
                        </a:rPr>
                        <a:t>Faster</a:t>
                      </a:r>
                      <a:r>
                        <a:rPr sz="2000" spc="125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85" dirty="0">
                          <a:latin typeface="Cambria" panose="02040503050406030204"/>
                          <a:cs typeface="Cambria" panose="02040503050406030204"/>
                        </a:rPr>
                        <a:t>and</a:t>
                      </a:r>
                      <a:r>
                        <a:rPr sz="2000" spc="130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55" dirty="0">
                          <a:latin typeface="Cambria" panose="02040503050406030204"/>
                          <a:cs typeface="Cambria" panose="02040503050406030204"/>
                        </a:rPr>
                        <a:t>easier</a:t>
                      </a:r>
                      <a:r>
                        <a:rPr sz="2000" spc="135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to</a:t>
                      </a:r>
                      <a:r>
                        <a:rPr sz="2000" spc="135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40" dirty="0">
                          <a:latin typeface="Cambria" panose="02040503050406030204"/>
                          <a:cs typeface="Cambria" panose="02040503050406030204"/>
                        </a:rPr>
                        <a:t>read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for</a:t>
                      </a:r>
                      <a:r>
                        <a:rPr sz="2000" spc="360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65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000" spc="365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65" dirty="0">
                          <a:latin typeface="Cambria" panose="02040503050406030204"/>
                          <a:cs typeface="Cambria" panose="02040503050406030204"/>
                        </a:rPr>
                        <a:t>large</a:t>
                      </a:r>
                      <a:r>
                        <a:rPr sz="2000" spc="370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65" dirty="0">
                          <a:latin typeface="Cambria" panose="02040503050406030204"/>
                          <a:cs typeface="Cambria" panose="02040503050406030204"/>
                        </a:rPr>
                        <a:t>number</a:t>
                      </a:r>
                      <a:r>
                        <a:rPr sz="2000" spc="360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-25" dirty="0">
                          <a:latin typeface="Cambria" panose="02040503050406030204"/>
                          <a:cs typeface="Cambria" panose="02040503050406030204"/>
                        </a:rPr>
                        <a:t>of </a:t>
                      </a:r>
                      <a:r>
                        <a:rPr sz="2000" spc="35" dirty="0">
                          <a:latin typeface="Cambria" panose="02040503050406030204"/>
                          <a:cs typeface="Cambria" panose="02040503050406030204"/>
                        </a:rPr>
                        <a:t>conditions.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85090">
                        <a:lnSpc>
                          <a:spcPct val="100000"/>
                        </a:lnSpc>
                        <a:spcBef>
                          <a:spcPts val="2230"/>
                        </a:spcBef>
                      </a:pPr>
                      <a:r>
                        <a:rPr sz="2000" spc="125" dirty="0">
                          <a:latin typeface="Cambria" panose="02040503050406030204"/>
                          <a:cs typeface="Cambria" panose="02040503050406030204"/>
                        </a:rPr>
                        <a:t>It</a:t>
                      </a:r>
                      <a:r>
                        <a:rPr sz="2000" spc="37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65" dirty="0">
                          <a:latin typeface="Cambria" panose="02040503050406030204"/>
                          <a:cs typeface="Cambria" panose="02040503050406030204"/>
                        </a:rPr>
                        <a:t>can</a:t>
                      </a:r>
                      <a:r>
                        <a:rPr sz="2000" spc="38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65" dirty="0">
                          <a:latin typeface="Cambria" panose="02040503050406030204"/>
                          <a:cs typeface="Cambria" panose="02040503050406030204"/>
                        </a:rPr>
                        <a:t>get</a:t>
                      </a:r>
                      <a:r>
                        <a:rPr sz="2000" spc="37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50" dirty="0">
                          <a:latin typeface="Cambria" panose="02040503050406030204"/>
                          <a:cs typeface="Cambria" panose="02040503050406030204"/>
                        </a:rPr>
                        <a:t>messy</a:t>
                      </a:r>
                      <a:r>
                        <a:rPr sz="2000" spc="39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55" dirty="0">
                          <a:latin typeface="Cambria" panose="02040503050406030204"/>
                          <a:cs typeface="Cambria" panose="02040503050406030204"/>
                        </a:rPr>
                        <a:t>when</a:t>
                      </a:r>
                      <a:r>
                        <a:rPr sz="2000" spc="39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45" dirty="0">
                          <a:latin typeface="Cambria" panose="02040503050406030204"/>
                          <a:cs typeface="Cambria" panose="02040503050406030204"/>
                        </a:rPr>
                        <a:t>there </a:t>
                      </a:r>
                      <a:r>
                        <a:rPr sz="2000" spc="60" dirty="0">
                          <a:latin typeface="Cambria" panose="02040503050406030204"/>
                          <a:cs typeface="Cambria" panose="02040503050406030204"/>
                        </a:rPr>
                        <a:t>are</a:t>
                      </a:r>
                      <a:r>
                        <a:rPr sz="2000" spc="18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lots</a:t>
                      </a:r>
                      <a:r>
                        <a:rPr sz="2000" spc="15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of</a:t>
                      </a:r>
                      <a:r>
                        <a:rPr sz="2000" spc="17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35" dirty="0">
                          <a:latin typeface="Cambria" panose="02040503050406030204"/>
                          <a:cs typeface="Cambria" panose="02040503050406030204"/>
                        </a:rPr>
                        <a:t>conditions.</a:t>
                      </a:r>
                      <a:endParaRPr sz="2000" dirty="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2832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12" name="object 2">
            <a:extLst>
              <a:ext uri="{FF2B5EF4-FFF2-40B4-BE49-F238E27FC236}">
                <a16:creationId xmlns:a16="http://schemas.microsoft.com/office/drawing/2014/main" xmlns="" id="{57BEF806-13B6-4D70-D062-D089EC4F4B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6028" y="136587"/>
            <a:ext cx="7620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017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541" y="145746"/>
            <a:ext cx="8376919" cy="492443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7401" y="1371600"/>
            <a:ext cx="8079079" cy="2185214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 err="1"/>
              <a:t>Geeksforgeeks</a:t>
            </a:r>
            <a:r>
              <a:rPr lang="en-US" sz="1800" dirty="0"/>
              <a:t>  </a:t>
            </a:r>
            <a:r>
              <a:rPr lang="en-US" sz="1800" dirty="0">
                <a:hlinkClick r:id="rId2"/>
              </a:rPr>
              <a:t>https://www.geeksforgeeks.org/cpp/c-c-if-else-statement-with-examples/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W3Schools  </a:t>
            </a:r>
            <a:r>
              <a:rPr lang="en-US" sz="1800" dirty="0">
                <a:hlinkClick r:id="rId3"/>
              </a:rPr>
              <a:t>https://www.w3schools.com/cpp/cpp_conditions.asp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Tutorialspoint.com </a:t>
            </a:r>
            <a:r>
              <a:rPr lang="en-US" sz="1800" dirty="0">
                <a:hlinkClick r:id="rId4"/>
              </a:rPr>
              <a:t>https://www.tutorialspoint.com/cplusplus/cpp_conditional_operator.htm</a:t>
            </a:r>
            <a:endParaRPr lang="en-US" sz="1800" dirty="0"/>
          </a:p>
          <a:p>
            <a:pPr marL="342900" indent="-342900">
              <a:buAutoNum type="arabicPeriod"/>
            </a:pPr>
            <a:endParaRPr lang="en-US" sz="1600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xmlns="" id="{00594188-4492-5861-2D37-AF40BEE3196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76028" y="136587"/>
            <a:ext cx="7620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5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930</TotalTime>
  <Words>3913</Words>
  <Application>Microsoft Office PowerPoint</Application>
  <PresentationFormat>Widescreen</PresentationFormat>
  <Paragraphs>1040</Paragraphs>
  <Slides>64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6" baseType="lpstr">
      <vt:lpstr>Arial</vt:lpstr>
      <vt:lpstr>Calibri</vt:lpstr>
      <vt:lpstr>Calibri Light</vt:lpstr>
      <vt:lpstr>Cambria</vt:lpstr>
      <vt:lpstr>Consolas</vt:lpstr>
      <vt:lpstr>Mangal</vt:lpstr>
      <vt:lpstr>Noto Sans Symbols</vt:lpstr>
      <vt:lpstr>Quattrocento Sans</vt:lpstr>
      <vt:lpstr>Tahoma</vt:lpstr>
      <vt:lpstr>Times New Roman</vt:lpstr>
      <vt:lpstr>Wingdings</vt:lpstr>
      <vt:lpstr>Office Theme</vt:lpstr>
      <vt:lpstr>UNIT - 2</vt:lpstr>
      <vt:lpstr>Tokens</vt:lpstr>
      <vt:lpstr>Keywords</vt:lpstr>
      <vt:lpstr>PowerPoint Presentation</vt:lpstr>
      <vt:lpstr>Identifiers</vt:lpstr>
      <vt:lpstr>PowerPoint Presentation</vt:lpstr>
      <vt:lpstr>PowerPoint Presentation</vt:lpstr>
      <vt:lpstr>Constants</vt:lpstr>
      <vt:lpstr>Punctuators</vt:lpstr>
      <vt:lpstr>Operators</vt:lpstr>
      <vt:lpstr>Variables</vt:lpstr>
      <vt:lpstr>PowerPoint Presentation</vt:lpstr>
      <vt:lpstr>PowerPoint Presentation</vt:lpstr>
      <vt:lpstr>PowerPoint Presentation</vt:lpstr>
      <vt:lpstr>PowerPoint Presentation</vt:lpstr>
      <vt:lpstr>Scope and Lifetime of Variables</vt:lpstr>
      <vt:lpstr>Data Types in C++</vt:lpstr>
      <vt:lpstr>PowerPoint Presentation</vt:lpstr>
      <vt:lpstr>PowerPoint Presentation</vt:lpstr>
      <vt:lpstr>Operators</vt:lpstr>
      <vt:lpstr>PowerPoint Presentation</vt:lpstr>
      <vt:lpstr>Unary Operators</vt:lpstr>
      <vt:lpstr>Binary Operators</vt:lpstr>
      <vt:lpstr>Ternary Operators</vt:lpstr>
      <vt:lpstr>Operator Precedence</vt:lpstr>
      <vt:lpstr>Associativity of Operators</vt:lpstr>
      <vt:lpstr>Arithmetic Operators</vt:lpstr>
      <vt:lpstr>Relational Operators</vt:lpstr>
      <vt:lpstr>Logical Operators</vt:lpstr>
      <vt:lpstr>Bitwise Operators</vt:lpstr>
      <vt:lpstr>Assignment Operators</vt:lpstr>
      <vt:lpstr>Conditional Operator</vt:lpstr>
      <vt:lpstr>Miscellaneous Operator</vt:lpstr>
      <vt:lpstr>Sizeof Operator</vt:lpstr>
      <vt:lpstr>Address-of Operator</vt:lpstr>
      <vt:lpstr>COMBINED PRECEDENCE OF ALL OPERATOR</vt:lpstr>
      <vt:lpstr>PowerPoint Presentation</vt:lpstr>
      <vt:lpstr>PowerPoint Presentation</vt:lpstr>
      <vt:lpstr>Usage of Math Library </vt:lpstr>
      <vt:lpstr>Usage of math library function</vt:lpstr>
      <vt:lpstr>Usage of math library function</vt:lpstr>
      <vt:lpstr>PowerPoint Presentation</vt:lpstr>
      <vt:lpstr>PowerPoint Presentation</vt:lpstr>
      <vt:lpstr>PowerPoint Presentation</vt:lpstr>
      <vt:lpstr>PowerPoint Presentation</vt:lpstr>
      <vt:lpstr>Program Flow Control</vt:lpstr>
      <vt:lpstr>PowerPoint Presentation</vt:lpstr>
      <vt:lpstr>‘If’ Statement</vt:lpstr>
      <vt:lpstr>‘If’ Statement (Cont..)</vt:lpstr>
      <vt:lpstr>‘If Else’ Statement</vt:lpstr>
      <vt:lpstr>PowerPoint Presentation</vt:lpstr>
      <vt:lpstr>‘If Else’ Statement (cont…)</vt:lpstr>
      <vt:lpstr>PowerPoint Presentation</vt:lpstr>
      <vt:lpstr>‘Nested If Else’ Statement</vt:lpstr>
      <vt:lpstr>PowerPoint Presentation</vt:lpstr>
      <vt:lpstr>‘If Else Ladder’</vt:lpstr>
      <vt:lpstr>Flow chart of if else ladder statement</vt:lpstr>
      <vt:lpstr>Switch Statement</vt:lpstr>
      <vt:lpstr>Flow chart of Switch statement</vt:lpstr>
      <vt:lpstr>C++ program to print name of the day of week.</vt:lpstr>
      <vt:lpstr>How break statement works?</vt:lpstr>
      <vt:lpstr>C++ PROGRAM TO CHECK VOWEL OR CONSONANT USING SWITCH CASE (break statement using in each case)</vt:lpstr>
      <vt:lpstr>Switch Vs Else-If Ladder</vt:lpstr>
      <vt:lpstr>Reference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- 2</dc:title>
  <dc:creator>Akshita Sharma</dc:creator>
  <cp:lastModifiedBy>Microsoft account</cp:lastModifiedBy>
  <cp:revision>6</cp:revision>
  <dcterms:created xsi:type="dcterms:W3CDTF">2025-08-27T03:40:39Z</dcterms:created>
  <dcterms:modified xsi:type="dcterms:W3CDTF">2025-09-16T04:31:19Z</dcterms:modified>
</cp:coreProperties>
</file>